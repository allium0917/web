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5"/>
  </p:notesMasterIdLst>
  <p:sldIdLst>
    <p:sldId id="283" r:id="rId2"/>
    <p:sldId id="278" r:id="rId3"/>
    <p:sldId id="279" r:id="rId4"/>
    <p:sldId id="424" r:id="rId5"/>
    <p:sldId id="280" r:id="rId6"/>
    <p:sldId id="425" r:id="rId7"/>
    <p:sldId id="426" r:id="rId8"/>
    <p:sldId id="284" r:id="rId9"/>
    <p:sldId id="285" r:id="rId10"/>
    <p:sldId id="427" r:id="rId11"/>
    <p:sldId id="428" r:id="rId12"/>
    <p:sldId id="429" r:id="rId13"/>
    <p:sldId id="286" r:id="rId14"/>
    <p:sldId id="430" r:id="rId15"/>
    <p:sldId id="431" r:id="rId16"/>
    <p:sldId id="433" r:id="rId17"/>
    <p:sldId id="434" r:id="rId18"/>
    <p:sldId id="435" r:id="rId19"/>
    <p:sldId id="436" r:id="rId20"/>
    <p:sldId id="287" r:id="rId21"/>
    <p:sldId id="439" r:id="rId22"/>
    <p:sldId id="437" r:id="rId23"/>
    <p:sldId id="440" r:id="rId24"/>
    <p:sldId id="441" r:id="rId25"/>
    <p:sldId id="438" r:id="rId26"/>
    <p:sldId id="442" r:id="rId27"/>
    <p:sldId id="443" r:id="rId28"/>
    <p:sldId id="288" r:id="rId29"/>
    <p:sldId id="444" r:id="rId30"/>
    <p:sldId id="289" r:id="rId31"/>
    <p:sldId id="445" r:id="rId32"/>
    <p:sldId id="446" r:id="rId33"/>
    <p:sldId id="447" r:id="rId34"/>
    <p:sldId id="290" r:id="rId35"/>
    <p:sldId id="450" r:id="rId36"/>
    <p:sldId id="451" r:id="rId37"/>
    <p:sldId id="452" r:id="rId38"/>
    <p:sldId id="453" r:id="rId39"/>
    <p:sldId id="454" r:id="rId40"/>
    <p:sldId id="456" r:id="rId41"/>
    <p:sldId id="457" r:id="rId42"/>
    <p:sldId id="448" r:id="rId43"/>
    <p:sldId id="449" r:id="rId44"/>
    <p:sldId id="455" r:id="rId45"/>
    <p:sldId id="291" r:id="rId46"/>
    <p:sldId id="458" r:id="rId47"/>
    <p:sldId id="292" r:id="rId48"/>
    <p:sldId id="459" r:id="rId49"/>
    <p:sldId id="460" r:id="rId50"/>
    <p:sldId id="461" r:id="rId51"/>
    <p:sldId id="462" r:id="rId52"/>
    <p:sldId id="293" r:id="rId53"/>
    <p:sldId id="463" r:id="rId54"/>
    <p:sldId id="464" r:id="rId55"/>
    <p:sldId id="465" r:id="rId56"/>
    <p:sldId id="466" r:id="rId57"/>
    <p:sldId id="472" r:id="rId58"/>
    <p:sldId id="467" r:id="rId59"/>
    <p:sldId id="468" r:id="rId60"/>
    <p:sldId id="469" r:id="rId61"/>
    <p:sldId id="470" r:id="rId62"/>
    <p:sldId id="471" r:id="rId63"/>
    <p:sldId id="294" r:id="rId64"/>
    <p:sldId id="473" r:id="rId65"/>
    <p:sldId id="474" r:id="rId66"/>
    <p:sldId id="475" r:id="rId67"/>
    <p:sldId id="295" r:id="rId68"/>
    <p:sldId id="476" r:id="rId69"/>
    <p:sldId id="479" r:id="rId70"/>
    <p:sldId id="477" r:id="rId71"/>
    <p:sldId id="478" r:id="rId72"/>
    <p:sldId id="480" r:id="rId73"/>
    <p:sldId id="481" r:id="rId74"/>
    <p:sldId id="482" r:id="rId75"/>
    <p:sldId id="483" r:id="rId76"/>
    <p:sldId id="484" r:id="rId77"/>
    <p:sldId id="485" r:id="rId78"/>
    <p:sldId id="486" r:id="rId79"/>
    <p:sldId id="487" r:id="rId80"/>
    <p:sldId id="488" r:id="rId81"/>
    <p:sldId id="489" r:id="rId82"/>
    <p:sldId id="490" r:id="rId83"/>
    <p:sldId id="491" r:id="rId8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2D"/>
    <a:srgbClr val="EB666E"/>
    <a:srgbClr val="BFBFBF"/>
    <a:srgbClr val="E6E6E6"/>
    <a:srgbClr val="F1476E"/>
    <a:srgbClr val="FFE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2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7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4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microsoft.com/office/2015/10/relationships/revisionInfo" Target="revisionInfo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56957-AC5E-45B8-8C65-922BF4FC696A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0482B-7498-4800-B9B8-DAD965358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4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8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48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6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2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1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89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3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1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10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3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1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8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211418" y="1467875"/>
            <a:ext cx="6774321" cy="3833100"/>
            <a:chOff x="1211418" y="1467875"/>
            <a:chExt cx="6774321" cy="3833100"/>
          </a:xfrm>
        </p:grpSpPr>
        <p:sp>
          <p:nvSpPr>
            <p:cNvPr id="11" name="직사각형 10"/>
            <p:cNvSpPr/>
            <p:nvPr/>
          </p:nvSpPr>
          <p:spPr>
            <a:xfrm>
              <a:off x="1211418" y="1467875"/>
              <a:ext cx="6774321" cy="3833100"/>
            </a:xfrm>
            <a:prstGeom prst="rect">
              <a:avLst/>
            </a:prstGeom>
            <a:solidFill>
              <a:srgbClr val="EB6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3581" y="3902148"/>
              <a:ext cx="785529" cy="1396497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1417" y="2557554"/>
            <a:ext cx="6774321" cy="1014984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solidFill>
                  <a:schemeClr val="bg1"/>
                </a:solidFill>
              </a:rPr>
              <a:t>모두의 알고리즘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</a:t>
            </a:r>
            <a:r>
              <a:rPr lang="ko-KR" altLang="en-US" sz="3000" b="1" dirty="0" err="1">
                <a:solidFill>
                  <a:schemeClr val="bg1"/>
                </a:solidFill>
              </a:rPr>
              <a:t>파이썬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391482" y="3498107"/>
            <a:ext cx="6547104" cy="50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컴퓨팅 사고를 위한 기초 알고리즘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1391482" y="3551272"/>
            <a:ext cx="6414095" cy="40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532" y="6203550"/>
            <a:ext cx="478536" cy="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7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98094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EB666E"/>
                </a:solidFill>
              </a:rPr>
              <a:t>둘째 마당 </a:t>
            </a: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재귀 호출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2445488" y="1565721"/>
            <a:ext cx="4221126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285014" y="2603190"/>
            <a:ext cx="62076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400" b="1" dirty="0">
                <a:latin typeface="+mn-ea"/>
              </a:rPr>
              <a:t>  </a:t>
            </a:r>
            <a:r>
              <a:rPr lang="ko-KR" altLang="en-US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팩토리얼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구하기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최대공약수 구하기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하노이의 탑 옮기기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015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280213" y="3610803"/>
            <a:ext cx="4629873" cy="891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 </a:t>
            </a: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팩토리얼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구하기</a:t>
            </a:r>
          </a:p>
        </p:txBody>
      </p:sp>
    </p:spTree>
    <p:extLst>
      <p:ext uri="{BB962C8B-B14F-4D97-AF65-F5344CB8AC3E}">
        <p14:creationId xmlns:p14="http://schemas.microsoft.com/office/powerpoint/2010/main" val="134360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2800" b="1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부터 </a:t>
            </a:r>
            <a:r>
              <a:rPr lang="en-US" altLang="ko-KR" b="1" dirty="0">
                <a:latin typeface="+mn-ea"/>
              </a:rPr>
              <a:t>n</a:t>
            </a:r>
            <a:r>
              <a:rPr lang="ko-KR" altLang="en-US" b="1" dirty="0">
                <a:latin typeface="+mn-ea"/>
              </a:rPr>
              <a:t>까지 연속한 정수의 곱을 구하는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곱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</a:t>
            </a:r>
            <a:r>
              <a:rPr lang="ko-KR" altLang="en-US" dirty="0" err="1">
                <a:latin typeface="+mn-ea"/>
              </a:rPr>
              <a:t>팩토리얼</a:t>
            </a:r>
            <a:r>
              <a:rPr lang="en-US" altLang="ko-KR" dirty="0">
                <a:latin typeface="+mn-ea"/>
              </a:rPr>
              <a:t>(factorial)</a:t>
            </a:r>
            <a:r>
              <a:rPr lang="ko-KR" altLang="en-US" dirty="0">
                <a:latin typeface="+mn-ea"/>
              </a:rPr>
              <a:t> 문제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421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팩토리얼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 err="1">
                <a:solidFill>
                  <a:srgbClr val="EB666E"/>
                </a:solidFill>
              </a:rPr>
              <a:t>팩토리얼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n</a:t>
            </a:r>
            <a:r>
              <a:rPr lang="ko-KR" altLang="en-US" dirty="0"/>
              <a:t>까지 연속한 숫자를 차례로 곱한 값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계승</a:t>
            </a:r>
            <a:r>
              <a:rPr lang="en-US" altLang="ko-KR" dirty="0"/>
              <a:t>’</a:t>
            </a:r>
            <a:r>
              <a:rPr lang="ko-KR" altLang="en-US" dirty="0"/>
              <a:t>이라고도 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숫자 뒤에 느낌표</a:t>
            </a:r>
            <a:r>
              <a:rPr lang="en-US" altLang="ko-KR" dirty="0"/>
              <a:t>(!)</a:t>
            </a:r>
            <a:r>
              <a:rPr lang="ko-KR" altLang="en-US" dirty="0"/>
              <a:t>를 붙여 표기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87" y="3692965"/>
            <a:ext cx="3115437" cy="234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팩토리얼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4-1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팩토리얼을</a:t>
            </a:r>
            <a:r>
              <a:rPr lang="ko-KR" altLang="en-US" dirty="0">
                <a:latin typeface="+mn-ea"/>
              </a:rPr>
              <a:t> 구하는 알고리즘①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2917456"/>
            <a:ext cx="7088957" cy="248410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연속한 숫자의 곱을 구하는 알고리즘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숫자를 곱한 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fact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 = 1             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곱을 계산할 변수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초깃값은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 + 1):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(n+1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제외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f = f *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곱셈 연산으로 수정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p04-1-fact.py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561035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2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팩토리얼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27521" y="2298094"/>
            <a:ext cx="7088957" cy="83320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(fact(1))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1! 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(fact(5))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5! = 120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(fact(10))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10! = 3628800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502547" y="200958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057" y="3465796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4180476"/>
            <a:ext cx="7088957" cy="77431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120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3628800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76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러시아 인형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815" y="4342719"/>
            <a:ext cx="5024369" cy="16964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056" y="1821131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러시아 인형 </a:t>
            </a:r>
            <a:r>
              <a:rPr lang="en-US" altLang="ko-KR" dirty="0">
                <a:solidFill>
                  <a:srgbClr val="EB666E"/>
                </a:solidFill>
              </a:rPr>
              <a:t>‘</a:t>
            </a:r>
            <a:r>
              <a:rPr lang="ko-KR" altLang="en-US" dirty="0" err="1">
                <a:solidFill>
                  <a:srgbClr val="EB666E"/>
                </a:solidFill>
              </a:rPr>
              <a:t>마트료시카</a:t>
            </a:r>
            <a:r>
              <a:rPr lang="en-US" altLang="ko-KR" dirty="0">
                <a:solidFill>
                  <a:srgbClr val="EB666E"/>
                </a:solidFill>
              </a:rPr>
              <a:t>‘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인형 안에는 자기 자신과 똑같이 생긴</a:t>
            </a:r>
            <a:r>
              <a:rPr lang="en-US" altLang="ko-KR" dirty="0"/>
              <a:t>, </a:t>
            </a:r>
            <a:r>
              <a:rPr lang="ko-KR" altLang="en-US" dirty="0"/>
              <a:t>크기만 약간 작은 인형이 들어 있음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인형 안에서 작은 인형이 반복되어 나오다가 인형을 더 작게 만들기 힘들어지면 마지막 인형이 나오면서 반복이 끝남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마지막 인형 안에는 사탕이나 초콜릿 같은 작은 상품이 들어 있기도 함</a:t>
            </a:r>
            <a:endParaRPr lang="en-US" altLang="ko-KR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607430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4-1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러시아 인형</a:t>
            </a:r>
          </a:p>
        </p:txBody>
      </p:sp>
    </p:spTree>
    <p:extLst>
      <p:ext uri="{BB962C8B-B14F-4D97-AF65-F5344CB8AC3E}">
        <p14:creationId xmlns:p14="http://schemas.microsoft.com/office/powerpoint/2010/main" val="2386220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다시 돌아가 부르기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</a:t>
            </a:r>
            <a:r>
              <a:rPr lang="en-US" altLang="ko-KR" dirty="0"/>
              <a:t>(</a:t>
            </a:r>
            <a:r>
              <a:rPr lang="ko-KR" altLang="en-US" dirty="0"/>
              <a:t>再歸呼出</a:t>
            </a:r>
            <a:r>
              <a:rPr lang="en-US" altLang="ko-KR" dirty="0"/>
              <a:t>, recursion):</a:t>
            </a:r>
            <a:r>
              <a:rPr lang="ko-KR" altLang="en-US" dirty="0"/>
              <a:t> 어떤 함수 안에서 자기 자신을 부르는 것</a:t>
            </a:r>
            <a:endParaRPr lang="en-US" altLang="ko-KR" dirty="0"/>
          </a:p>
        </p:txBody>
      </p:sp>
      <p:sp>
        <p:nvSpPr>
          <p:cNvPr id="9" name="직사각형 8"/>
          <p:cNvSpPr/>
          <p:nvPr/>
        </p:nvSpPr>
        <p:spPr>
          <a:xfrm>
            <a:off x="1045269" y="2506564"/>
            <a:ext cx="7088957" cy="13541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hello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"hello"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hello()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hello()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함수 안에서 다시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hello()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호출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hello()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hello()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함수를 호출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5" y="4090854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“</a:t>
            </a:r>
            <a:r>
              <a:rPr lang="en-US" altLang="ko-KR" dirty="0"/>
              <a:t>hello”</a:t>
            </a:r>
            <a:r>
              <a:rPr lang="ko-KR" altLang="en-US" dirty="0"/>
              <a:t>라는 문장을 화면에 출력한 다음 자기 자신인 </a:t>
            </a:r>
            <a:r>
              <a:rPr lang="en-US" altLang="ko-KR" dirty="0"/>
              <a:t>hello()</a:t>
            </a:r>
            <a:r>
              <a:rPr lang="ko-KR" altLang="en-US" dirty="0"/>
              <a:t>를 다시 호출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“</a:t>
            </a:r>
            <a:r>
              <a:rPr lang="en-US" altLang="ko-KR" dirty="0"/>
              <a:t>hello”</a:t>
            </a:r>
            <a:r>
              <a:rPr lang="ko-KR" altLang="en-US" dirty="0"/>
              <a:t>를 출력한 후 다시 자기 자신을 호출하므로 또 다시 “</a:t>
            </a:r>
            <a:r>
              <a:rPr lang="en-US" altLang="ko-KR" dirty="0"/>
              <a:t>hello”</a:t>
            </a:r>
            <a:r>
              <a:rPr lang="ko-KR" altLang="en-US" dirty="0"/>
              <a:t>를 출력하고</a:t>
            </a:r>
            <a:r>
              <a:rPr lang="en-US" altLang="ko-KR" dirty="0"/>
              <a:t>, </a:t>
            </a:r>
            <a:r>
              <a:rPr lang="ko-KR" altLang="en-US" dirty="0"/>
              <a:t>다시 자기 자신을 호출해서 “</a:t>
            </a:r>
            <a:r>
              <a:rPr lang="en-US" altLang="ko-KR" dirty="0"/>
              <a:t>hello”</a:t>
            </a:r>
            <a:r>
              <a:rPr lang="ko-KR" altLang="en-US" dirty="0"/>
              <a:t>를 출력하는 과정을 영원히 반복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333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다시 돌아가 부르기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1887662"/>
            <a:ext cx="7088957" cy="447656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(…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줄임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…)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Traceback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(most recent call last):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File "&lt;pyshell#4&gt;", line 1, in &lt;module&gt;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hello()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File "&lt;pyshell#3&gt;", line 3, in 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hello()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File "&lt;pyshell#3&gt;", line 3, in 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hello()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File "&lt;pyshell#3&gt;", line 3, in 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hello()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[Previous line repeated 974 more times]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File "&lt;pyshell#3&gt;", line 2, in hello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print("hello")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RecursionError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maximum recursion depth exceeded while pickling an object</a:t>
            </a:r>
          </a:p>
        </p:txBody>
      </p:sp>
    </p:spTree>
    <p:extLst>
      <p:ext uri="{BB962C8B-B14F-4D97-AF65-F5344CB8AC3E}">
        <p14:creationId xmlns:p14="http://schemas.microsoft.com/office/powerpoint/2010/main" val="426550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다시 돌아가 부르기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영원히 </a:t>
            </a:r>
            <a:r>
              <a:rPr lang="en-US" altLang="ko-KR" dirty="0"/>
              <a:t>hello() </a:t>
            </a:r>
            <a:r>
              <a:rPr lang="ko-KR" altLang="en-US" dirty="0"/>
              <a:t>함수를 반복해서 호출하므로 “</a:t>
            </a:r>
            <a:r>
              <a:rPr lang="en-US" altLang="ko-KR" dirty="0"/>
              <a:t>hello”</a:t>
            </a:r>
            <a:r>
              <a:rPr lang="ko-KR" altLang="en-US" dirty="0"/>
              <a:t>를 계속 출력하다가</a:t>
            </a:r>
            <a:br>
              <a:rPr lang="en-US" altLang="ko-KR" dirty="0"/>
            </a:br>
            <a:r>
              <a:rPr lang="ko-KR" altLang="en-US" dirty="0"/>
              <a:t>함수 호출에 필요한 기억 장소를 다 써 버리고 나면 에러를 내고 정지</a:t>
            </a:r>
            <a:br>
              <a:rPr lang="en-US" altLang="ko-KR" dirty="0"/>
            </a:br>
            <a:r>
              <a:rPr lang="ko-KR" altLang="en-US" dirty="0"/>
              <a:t>→ 올바른 재귀 호출 프로그램은 아님</a:t>
            </a:r>
            <a:r>
              <a:rPr lang="en-US" altLang="ko-KR" dirty="0"/>
              <a:t>(</a:t>
            </a:r>
            <a:r>
              <a:rPr lang="ko-KR" altLang="en-US" dirty="0"/>
              <a:t>반복을 멈추려면 </a:t>
            </a:r>
            <a:r>
              <a:rPr lang="en-US" altLang="ko-KR" dirty="0"/>
              <a:t>Ctrl + C)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309" y="3518549"/>
            <a:ext cx="4261247" cy="25557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607430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4-2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hello()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함수의 재귀 호출 과정</a:t>
            </a:r>
          </a:p>
        </p:txBody>
      </p:sp>
    </p:spTree>
    <p:extLst>
      <p:ext uri="{BB962C8B-B14F-4D97-AF65-F5344CB8AC3E}">
        <p14:creationId xmlns:p14="http://schemas.microsoft.com/office/powerpoint/2010/main" val="1159615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다시 돌아가 부르기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 프로그램이 정상적으로 작동하려면 </a:t>
            </a:r>
            <a:r>
              <a:rPr lang="en-US" altLang="ko-KR" dirty="0"/>
              <a:t>‘</a:t>
            </a:r>
            <a:r>
              <a:rPr lang="ko-KR" altLang="en-US" dirty="0"/>
              <a:t>종료 조건</a:t>
            </a:r>
            <a:r>
              <a:rPr lang="en-US" altLang="ko-KR" dirty="0"/>
              <a:t>’</a:t>
            </a:r>
            <a:r>
              <a:rPr lang="ko-KR" altLang="en-US" dirty="0"/>
              <a:t>이 필요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특정 조건이 되면 더는 자신을 호출하지 않고 멈추도록 설계되어야만 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그렇지 않으면 계속 반복하다가 재귀 에러 발생</a:t>
            </a:r>
            <a:r>
              <a:rPr lang="en-US" altLang="ko-KR" dirty="0"/>
              <a:t>(</a:t>
            </a:r>
            <a:r>
              <a:rPr lang="en-US" altLang="ko-KR" dirty="0" err="1"/>
              <a:t>RecursionError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 함수가 계산 결과를 돌려줄 때는 </a:t>
            </a:r>
            <a:r>
              <a:rPr lang="en-US" altLang="ko-KR" dirty="0"/>
              <a:t>return </a:t>
            </a:r>
            <a:r>
              <a:rPr lang="ko-KR" altLang="en-US" dirty="0"/>
              <a:t>명령을 사용해서 종료 </a:t>
            </a:r>
            <a:br>
              <a:rPr lang="en-US" altLang="ko-KR" dirty="0"/>
            </a:br>
            <a:r>
              <a:rPr lang="ko-KR" altLang="en-US" dirty="0"/>
              <a:t>조건의 </a:t>
            </a:r>
            <a:r>
              <a:rPr lang="ko-KR" altLang="en-US" dirty="0" err="1"/>
              <a:t>결괏값부터</a:t>
            </a:r>
            <a:r>
              <a:rPr lang="ko-KR" altLang="en-US" dirty="0"/>
              <a:t> 돌려줌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종료 조건의 결괏값은 마지막으로 호출된 함수의 결괏값</a:t>
            </a:r>
            <a:br>
              <a:rPr lang="en-US" altLang="ko-KR" dirty="0"/>
            </a:br>
            <a:r>
              <a:rPr lang="ko-KR" altLang="en-US" dirty="0"/>
              <a:t>→ 마지막 인형 안에 상품으로 들어 있는 사탕과 비슷한 개념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5311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팩토리얼은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n</a:t>
            </a:r>
            <a:r>
              <a:rPr lang="ko-KR" altLang="en-US" dirty="0"/>
              <a:t>까지 연속한 숫자의 곱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팩토리얼을</a:t>
            </a:r>
            <a:r>
              <a:rPr lang="ko-KR" altLang="en-US" dirty="0"/>
              <a:t> 재귀 호출로 표현하면 다음과 같음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187" y="3014431"/>
            <a:ext cx="5405437" cy="221900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47055" y="5420306"/>
            <a:ext cx="8020383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1! = 1 </a:t>
            </a:r>
            <a:r>
              <a:rPr lang="ko-KR" altLang="en-US" dirty="0"/>
              <a:t>그리고 </a:t>
            </a:r>
            <a:r>
              <a:rPr lang="en-US" altLang="ko-KR" dirty="0"/>
              <a:t>n! = n×(n-1)!</a:t>
            </a:r>
            <a:r>
              <a:rPr lang="ko-KR" altLang="en-US" dirty="0"/>
              <a:t>이라는 </a:t>
            </a:r>
            <a:r>
              <a:rPr lang="ko-KR" altLang="en-US" dirty="0" err="1"/>
              <a:t>팩토리얼의</a:t>
            </a:r>
            <a:r>
              <a:rPr lang="ko-KR" altLang="en-US" dirty="0"/>
              <a:t> 성질을 이용해서 </a:t>
            </a:r>
            <a:r>
              <a:rPr lang="ko-KR" altLang="en-US" dirty="0" err="1"/>
              <a:t>팩토리얼을</a:t>
            </a:r>
            <a:r>
              <a:rPr lang="ko-KR" altLang="en-US" dirty="0"/>
              <a:t> 구하는 프로그램을 만들어 보자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4678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4-2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팩토리얼을</a:t>
            </a:r>
            <a:r>
              <a:rPr lang="ko-KR" altLang="en-US" dirty="0">
                <a:latin typeface="+mn-ea"/>
              </a:rPr>
              <a:t> 구하는 알고리즘②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2917456"/>
            <a:ext cx="7088957" cy="31724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연속한 숫자의 곱을 구하는 알고리즘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숫자를 곱한 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fact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*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fact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 - 1)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print(fact(1))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1! 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print(fact(5))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5! = 120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print(fact(10))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10! = 3628800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p04-2-fact.py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685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535811"/>
            <a:ext cx="7088957" cy="8566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120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3628800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3747945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</a:t>
            </a:r>
            <a:r>
              <a:rPr lang="en-US" altLang="ko-KR" dirty="0">
                <a:latin typeface="+mn-ea"/>
              </a:rPr>
              <a:t>1 </a:t>
            </a:r>
            <a:r>
              <a:rPr lang="ko-KR" altLang="en-US" dirty="0">
                <a:latin typeface="+mn-ea"/>
              </a:rPr>
              <a:t>이하인지 비교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이때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을 결괏값으로 돌려줌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종료 조건의 결과값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 </a:t>
            </a:r>
            <a:r>
              <a:rPr lang="ko-KR" altLang="en-US" dirty="0">
                <a:latin typeface="+mn-ea"/>
              </a:rPr>
              <a:t>이하</a:t>
            </a:r>
            <a:r>
              <a:rPr lang="en-US" altLang="ko-KR" dirty="0">
                <a:latin typeface="+mn-ea"/>
              </a:rPr>
              <a:t>(0 </a:t>
            </a:r>
            <a:r>
              <a:rPr lang="ko-KR" altLang="en-US" dirty="0">
                <a:latin typeface="+mn-ea"/>
              </a:rPr>
              <a:t>포함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는 아주 작아서 더는 계산하지 않아도 되는 ‘종료 조건’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보다 크면 </a:t>
            </a:r>
            <a:r>
              <a:rPr lang="en-US" altLang="ko-KR" dirty="0">
                <a:latin typeface="+mn-ea"/>
              </a:rPr>
              <a:t>n! = n×(n-1)!</a:t>
            </a:r>
            <a:r>
              <a:rPr lang="ko-KR" altLang="en-US" dirty="0">
                <a:latin typeface="+mn-ea"/>
              </a:rPr>
              <a:t>이므로 </a:t>
            </a:r>
            <a:r>
              <a:rPr lang="en-US" altLang="ko-KR" dirty="0">
                <a:latin typeface="+mn-ea"/>
              </a:rPr>
              <a:t>n * fact(n - 1)</a:t>
            </a:r>
            <a:r>
              <a:rPr lang="ko-KR" altLang="en-US" dirty="0">
                <a:latin typeface="+mn-ea"/>
              </a:rPr>
              <a:t>을 </a:t>
            </a:r>
            <a:r>
              <a:rPr lang="ko-KR" altLang="en-US" dirty="0" err="1">
                <a:latin typeface="+mn-ea"/>
              </a:rPr>
              <a:t>결괏값으로</a:t>
            </a:r>
            <a:r>
              <a:rPr lang="ko-KR" altLang="en-US" dirty="0">
                <a:latin typeface="+mn-ea"/>
              </a:rPr>
              <a:t> 돌려줌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 과정에서 </a:t>
            </a:r>
            <a:r>
              <a:rPr lang="en-US" altLang="ko-KR" dirty="0">
                <a:latin typeface="+mn-ea"/>
              </a:rPr>
              <a:t>n!</a:t>
            </a:r>
            <a:r>
              <a:rPr lang="ko-KR" altLang="en-US" dirty="0">
                <a:latin typeface="+mn-ea"/>
              </a:rPr>
              <a:t>을 구하기 위해서 약간 더 작은 값인 </a:t>
            </a:r>
            <a:r>
              <a:rPr lang="en-US" altLang="ko-KR" dirty="0">
                <a:latin typeface="+mn-ea"/>
              </a:rPr>
              <a:t>(n-1)!</a:t>
            </a:r>
            <a:r>
              <a:rPr lang="ko-KR" altLang="en-US" dirty="0">
                <a:latin typeface="+mn-ea"/>
              </a:rPr>
              <a:t>을 구하는 </a:t>
            </a:r>
            <a:r>
              <a:rPr lang="en-US" altLang="ko-KR" dirty="0">
                <a:latin typeface="+mn-ea"/>
              </a:rPr>
              <a:t>fact(n-1)</a:t>
            </a:r>
            <a:r>
              <a:rPr lang="ko-KR" altLang="en-US" dirty="0">
                <a:latin typeface="+mn-ea"/>
              </a:rPr>
              <a:t>이 재귀 호출됨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397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호출된 </a:t>
            </a:r>
            <a:r>
              <a:rPr lang="en-US" altLang="ko-KR" dirty="0">
                <a:latin typeface="+mn-ea"/>
              </a:rPr>
              <a:t>fact(n-1)</a:t>
            </a:r>
            <a:r>
              <a:rPr lang="ko-KR" altLang="en-US" dirty="0">
                <a:latin typeface="+mn-ea"/>
              </a:rPr>
              <a:t>은 어떻게 실행될까</a:t>
            </a:r>
            <a:r>
              <a:rPr lang="en-US" altLang="ko-KR" dirty="0">
                <a:latin typeface="+mn-ea"/>
              </a:rPr>
              <a:t>?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다시 종료 조건에 해당하는지 확인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종료 조건이 아니라면 이번에는 </a:t>
            </a:r>
            <a:r>
              <a:rPr lang="en-US" altLang="ko-KR" dirty="0">
                <a:latin typeface="+mn-ea"/>
              </a:rPr>
              <a:t>fact(n-2)</a:t>
            </a:r>
            <a:r>
              <a:rPr lang="ko-KR" altLang="en-US" dirty="0">
                <a:latin typeface="+mn-ea"/>
              </a:rPr>
              <a:t>를 호출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fact(n-3), fact(n-4)… </a:t>
            </a:r>
            <a:r>
              <a:rPr lang="ko-KR" altLang="en-US" dirty="0">
                <a:latin typeface="+mn-ea"/>
              </a:rPr>
              <a:t>이렇게 반복하다 보면 결국 </a:t>
            </a:r>
            <a:r>
              <a:rPr lang="en-US" altLang="ko-KR" dirty="0">
                <a:latin typeface="+mn-ea"/>
              </a:rPr>
              <a:t>fact(1)</a:t>
            </a:r>
            <a:r>
              <a:rPr lang="ko-KR" altLang="en-US" dirty="0">
                <a:latin typeface="+mn-ea"/>
              </a:rPr>
              <a:t>을 만나게 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따라서 재귀 호출이 영원히 반복되지 않고 결국 답을 얻게 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009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fact(4)</a:t>
            </a:r>
            <a:r>
              <a:rPr lang="ko-KR" altLang="en-US" dirty="0"/>
              <a:t>를 호출의 예</a:t>
            </a:r>
            <a:endParaRPr lang="en-US" altLang="ko-KR" dirty="0"/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fact(4)</a:t>
            </a:r>
            <a:r>
              <a:rPr lang="ko-KR" altLang="en-US" dirty="0"/>
              <a:t>는 </a:t>
            </a:r>
            <a:r>
              <a:rPr lang="en-US" altLang="ko-KR" dirty="0"/>
              <a:t>4 * fact(3)</a:t>
            </a:r>
            <a:r>
              <a:rPr lang="ko-KR" altLang="en-US" dirty="0"/>
              <a:t>이므로 </a:t>
            </a:r>
            <a:r>
              <a:rPr lang="en-US" altLang="ko-KR" dirty="0"/>
              <a:t>fact(3)</a:t>
            </a:r>
            <a:r>
              <a:rPr lang="ko-KR" altLang="en-US" dirty="0"/>
              <a:t>을 호출하고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fact(3)</a:t>
            </a:r>
            <a:r>
              <a:rPr lang="ko-KR" altLang="en-US" dirty="0"/>
              <a:t>은 </a:t>
            </a:r>
            <a:r>
              <a:rPr lang="en-US" altLang="ko-KR" dirty="0"/>
              <a:t>3 * fact(2)</a:t>
            </a:r>
            <a:r>
              <a:rPr lang="ko-KR" altLang="en-US" dirty="0"/>
              <a:t>이므로 </a:t>
            </a:r>
            <a:r>
              <a:rPr lang="en-US" altLang="ko-KR" dirty="0"/>
              <a:t>fact(2)</a:t>
            </a:r>
            <a:r>
              <a:rPr lang="ko-KR" altLang="en-US" dirty="0"/>
              <a:t>를 호출하고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fact(2)</a:t>
            </a:r>
            <a:r>
              <a:rPr lang="ko-KR" altLang="en-US" dirty="0"/>
              <a:t>는 </a:t>
            </a:r>
            <a:r>
              <a:rPr lang="en-US" altLang="ko-KR" dirty="0"/>
              <a:t>2 * fact(1)</a:t>
            </a:r>
            <a:r>
              <a:rPr lang="ko-KR" altLang="en-US" dirty="0"/>
              <a:t>이므로 </a:t>
            </a:r>
            <a:r>
              <a:rPr lang="en-US" altLang="ko-KR" dirty="0"/>
              <a:t>fact(1)</a:t>
            </a:r>
            <a:r>
              <a:rPr lang="ko-KR" altLang="en-US" dirty="0"/>
              <a:t>을 호출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fact(1)</a:t>
            </a:r>
            <a:r>
              <a:rPr lang="ko-KR" altLang="en-US" dirty="0"/>
              <a:t>은 종료 조건이므로 </a:t>
            </a:r>
            <a:r>
              <a:rPr lang="en-US" altLang="ko-KR" dirty="0"/>
              <a:t>fact() </a:t>
            </a:r>
            <a:r>
              <a:rPr lang="ko-KR" altLang="en-US" dirty="0"/>
              <a:t>함수를 더 이상 호출하지 않고 </a:t>
            </a:r>
            <a:r>
              <a:rPr lang="en-US" altLang="ko-KR" dirty="0"/>
              <a:t>1</a:t>
            </a:r>
            <a:r>
              <a:rPr lang="ko-KR" altLang="en-US" dirty="0"/>
              <a:t>을 돌려줌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fact(2)</a:t>
            </a:r>
            <a:r>
              <a:rPr lang="ko-KR" altLang="en-US" dirty="0"/>
              <a:t>는 </a:t>
            </a:r>
            <a:r>
              <a:rPr lang="en-US" altLang="ko-KR" dirty="0"/>
              <a:t>fact(1)</a:t>
            </a:r>
            <a:r>
              <a:rPr lang="ko-KR" altLang="en-US" dirty="0"/>
              <a:t>에서 돌려받은 </a:t>
            </a:r>
            <a:r>
              <a:rPr lang="ko-KR" altLang="en-US" dirty="0" err="1"/>
              <a:t>결괏값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에 </a:t>
            </a:r>
            <a:r>
              <a:rPr lang="en-US" altLang="ko-KR" dirty="0"/>
              <a:t>2</a:t>
            </a:r>
            <a:r>
              <a:rPr lang="ko-KR" altLang="en-US" dirty="0"/>
              <a:t>를 곱해 </a:t>
            </a:r>
            <a:r>
              <a:rPr lang="en-US" altLang="ko-KR" dirty="0"/>
              <a:t>2</a:t>
            </a:r>
            <a:r>
              <a:rPr lang="ko-KR" altLang="en-US" dirty="0"/>
              <a:t>를 돌려주고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fact(3)</a:t>
            </a:r>
            <a:r>
              <a:rPr lang="ko-KR" altLang="en-US" dirty="0"/>
              <a:t>은 </a:t>
            </a:r>
            <a:r>
              <a:rPr lang="en-US" altLang="ko-KR" dirty="0"/>
              <a:t>fact(2)</a:t>
            </a:r>
            <a:r>
              <a:rPr lang="ko-KR" altLang="en-US" dirty="0"/>
              <a:t>에서 돌려받은 </a:t>
            </a:r>
            <a:r>
              <a:rPr lang="ko-KR" altLang="en-US" dirty="0" err="1"/>
              <a:t>결괏값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에 </a:t>
            </a:r>
            <a:r>
              <a:rPr lang="en-US" altLang="ko-KR" dirty="0"/>
              <a:t>3</a:t>
            </a:r>
            <a:r>
              <a:rPr lang="ko-KR" altLang="en-US" dirty="0"/>
              <a:t>을 곱해 </a:t>
            </a:r>
            <a:r>
              <a:rPr lang="en-US" altLang="ko-KR" dirty="0"/>
              <a:t>6</a:t>
            </a:r>
            <a:r>
              <a:rPr lang="ko-KR" altLang="en-US" dirty="0"/>
              <a:t>을 돌려주고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fact(4)</a:t>
            </a:r>
            <a:r>
              <a:rPr lang="ko-KR" altLang="en-US" dirty="0"/>
              <a:t>는 </a:t>
            </a:r>
            <a:r>
              <a:rPr lang="en-US" altLang="ko-KR" dirty="0"/>
              <a:t>fact(3)</a:t>
            </a:r>
            <a:r>
              <a:rPr lang="ko-KR" altLang="en-US" dirty="0"/>
              <a:t>에서 돌려받은 </a:t>
            </a:r>
            <a:r>
              <a:rPr lang="ko-KR" altLang="en-US" dirty="0" err="1"/>
              <a:t>결괏값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에 </a:t>
            </a:r>
            <a:r>
              <a:rPr lang="en-US" altLang="ko-KR" dirty="0"/>
              <a:t>4</a:t>
            </a:r>
            <a:r>
              <a:rPr lang="ko-KR" altLang="en-US" dirty="0"/>
              <a:t>를 곱해 </a:t>
            </a:r>
            <a:r>
              <a:rPr lang="en-US" altLang="ko-KR" dirty="0"/>
              <a:t>24</a:t>
            </a:r>
            <a:r>
              <a:rPr lang="ko-KR" altLang="en-US" dirty="0"/>
              <a:t>를 돌려줌</a:t>
            </a:r>
            <a:r>
              <a:rPr lang="en-US" altLang="ko-KR" dirty="0"/>
              <a:t>(</a:t>
            </a:r>
            <a:r>
              <a:rPr lang="ko-KR" altLang="en-US" dirty="0"/>
              <a:t>최종 결과</a:t>
            </a:r>
            <a:r>
              <a:rPr lang="en-US" altLang="ko-KR" dirty="0"/>
              <a:t>).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9260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종이와 연필을 꺼내 여러 번 호출되는 </a:t>
            </a:r>
            <a:r>
              <a:rPr lang="en-US" altLang="ko-KR" dirty="0"/>
              <a:t>fact() </a:t>
            </a:r>
            <a:r>
              <a:rPr lang="ko-KR" altLang="en-US" dirty="0"/>
              <a:t>함수에 각각 어떤 값이 입력으로 들어가고 출력으로 반환되는지 직접 </a:t>
            </a:r>
            <a:r>
              <a:rPr lang="en-US" altLang="ko-KR" dirty="0"/>
              <a:t>4!</a:t>
            </a:r>
            <a:r>
              <a:rPr lang="ko-KR" altLang="en-US" dirty="0"/>
              <a:t>을 재귀 호출로 계산해 보자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53" y="3015733"/>
            <a:ext cx="5410582" cy="304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85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재귀 호출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함수 호출을 </a:t>
            </a:r>
            <a:r>
              <a:rPr lang="en-US" altLang="ko-KR" dirty="0">
                <a:latin typeface="+mn-ea"/>
              </a:rPr>
              <a:t>4! </a:t>
            </a:r>
            <a:r>
              <a:rPr lang="ko-KR" altLang="en-US" dirty="0">
                <a:latin typeface="+mn-ea"/>
              </a:rPr>
              <a:t>계산 수식으로 정리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37" y="2590420"/>
            <a:ext cx="4194690" cy="30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28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팩토리얼은</a:t>
            </a:r>
            <a:r>
              <a:rPr lang="ko-KR" altLang="en-US" dirty="0"/>
              <a:t> 연속한 수의 곱 → 곱셈의 횟수를 기준으로 알고리즘 분석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fact(4)</a:t>
            </a:r>
            <a:r>
              <a:rPr lang="ko-KR" altLang="en-US" dirty="0"/>
              <a:t>를 구하려면 </a:t>
            </a:r>
            <a:r>
              <a:rPr lang="en-US" altLang="ko-KR" dirty="0"/>
              <a:t>fact(1)</a:t>
            </a:r>
            <a:r>
              <a:rPr lang="ko-KR" altLang="en-US" dirty="0"/>
              <a:t>의 종료 조건으로 돌려받은 </a:t>
            </a:r>
            <a:r>
              <a:rPr lang="en-US" altLang="ko-KR" dirty="0"/>
              <a:t>1</a:t>
            </a:r>
            <a:r>
              <a:rPr lang="ko-KR" altLang="en-US" dirty="0"/>
              <a:t>을 </a:t>
            </a:r>
            <a:r>
              <a:rPr lang="en-US" altLang="ko-KR" dirty="0"/>
              <a:t>2</a:t>
            </a:r>
            <a:r>
              <a:rPr lang="ko-KR" altLang="en-US" dirty="0"/>
              <a:t>와 곱하여 돌려줌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그 값에 다시 </a:t>
            </a:r>
            <a:r>
              <a:rPr lang="en-US" altLang="ko-KR" dirty="0"/>
              <a:t>3</a:t>
            </a:r>
            <a:r>
              <a:rPr lang="ko-KR" altLang="en-US" dirty="0"/>
              <a:t>을 곱하여 돌려줌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다시 그 값에 </a:t>
            </a:r>
            <a:r>
              <a:rPr lang="en-US" altLang="ko-KR" dirty="0"/>
              <a:t>4</a:t>
            </a:r>
            <a:r>
              <a:rPr lang="ko-KR" altLang="en-US" dirty="0"/>
              <a:t>를 곱하여 돌려주므로 곱셈이 모두 세 번 필요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마찬가지로 </a:t>
            </a:r>
            <a:r>
              <a:rPr lang="en-US" altLang="ko-KR" dirty="0"/>
              <a:t>n!</a:t>
            </a:r>
            <a:r>
              <a:rPr lang="ko-KR" altLang="en-US" dirty="0"/>
              <a:t>을 구하려면 곱셈이 모두 </a:t>
            </a:r>
            <a:r>
              <a:rPr lang="en-US" altLang="ko-KR" dirty="0"/>
              <a:t>n-1</a:t>
            </a:r>
            <a:r>
              <a:rPr lang="ko-KR" altLang="en-US" dirty="0"/>
              <a:t>번 필요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따라서 </a:t>
            </a:r>
            <a:r>
              <a:rPr lang="ko-KR" altLang="en-US" dirty="0" err="1"/>
              <a:t>반복문을</a:t>
            </a:r>
            <a:r>
              <a:rPr lang="ko-KR" altLang="en-US" dirty="0"/>
              <a:t> 이용한 알고리즘</a:t>
            </a:r>
            <a:r>
              <a:rPr lang="en-US" altLang="ko-KR" dirty="0"/>
              <a:t>,</a:t>
            </a:r>
            <a:r>
              <a:rPr lang="ko-KR" altLang="en-US" dirty="0"/>
              <a:t> 재귀 호출을 이용한 알고리즘의 계산 </a:t>
            </a:r>
            <a:br>
              <a:rPr lang="en-US" altLang="ko-KR" dirty="0"/>
            </a:br>
            <a:r>
              <a:rPr lang="ko-KR" altLang="en-US" dirty="0"/>
              <a:t>복잡도는 모두 </a:t>
            </a:r>
            <a:r>
              <a:rPr lang="en-US" altLang="ko-KR" dirty="0"/>
              <a:t>O(n)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12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호출의 일반적인 형태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535811"/>
            <a:ext cx="7088957" cy="187159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</a:rPr>
              <a:t>func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입력 값</a:t>
            </a:r>
            <a:r>
              <a:rPr lang="en-US" altLang="ko-KR" sz="1400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</a:rPr>
              <a:t>if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입력 값이 충분히 작으면</a:t>
            </a:r>
            <a:r>
              <a:rPr lang="en-US" altLang="ko-KR" sz="1400" dirty="0">
                <a:solidFill>
                  <a:schemeClr val="tx1"/>
                </a:solidFill>
              </a:rPr>
              <a:t>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종료 조건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결괏값</a:t>
            </a:r>
            <a:endParaRPr lang="ko-KR" altLang="en-US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</a:rPr>
              <a:t>...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 err="1">
                <a:solidFill>
                  <a:srgbClr val="0070C0"/>
                </a:solidFill>
              </a:rPr>
              <a:t>func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더 작은 입력 값</a:t>
            </a:r>
            <a:r>
              <a:rPr lang="en-US" altLang="ko-KR" sz="1400" dirty="0">
                <a:solidFill>
                  <a:schemeClr val="tx1"/>
                </a:solidFill>
              </a:rPr>
              <a:t>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더 작은 값으로 자기 자신을 호출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</a:rPr>
              <a:t>...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결괏값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4684162"/>
            <a:ext cx="8149472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호출에는 종료 조건이 꼭 필요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종료 조건이 없으면 재귀 에러</a:t>
            </a:r>
            <a:r>
              <a:rPr lang="en-US" altLang="ko-KR" dirty="0"/>
              <a:t>(</a:t>
            </a:r>
            <a:r>
              <a:rPr lang="en-US" altLang="ko-KR" dirty="0" err="1"/>
              <a:t>RecursionError</a:t>
            </a:r>
            <a:r>
              <a:rPr lang="en-US" altLang="ko-KR" dirty="0"/>
              <a:t>)</a:t>
            </a:r>
            <a:r>
              <a:rPr lang="ko-KR" altLang="en-US" dirty="0"/>
              <a:t>나 스택 </a:t>
            </a:r>
            <a:r>
              <a:rPr lang="ko-KR" altLang="en-US" dirty="0" err="1"/>
              <a:t>오버플로</a:t>
            </a:r>
            <a:r>
              <a:rPr lang="en-US" altLang="ko-KR" dirty="0"/>
              <a:t>(Stack Overflow) </a:t>
            </a:r>
            <a:r>
              <a:rPr lang="ko-KR" altLang="en-US" dirty="0"/>
              <a:t>등 프로그램 에러가 발생해 비정상적인 동작을 할 수도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8094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4-1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의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합 구하기를 재귀 호출로 만들어 보세요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4-2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의 숫자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 중에서 최댓값 찾기를 재귀 호출로 만들어 보세요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7349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4-1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재귀 호출을 이용해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합 구하기</a:t>
            </a:r>
            <a:endParaRPr lang="en-US" altLang="ko-KR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29529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연속한 숫자의 합을 구하는 알고리즘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숫자를 더한 합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== 0: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 - 1) + n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까지의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:55)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까지의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:5050)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e04-1-sum.py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4732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2535811"/>
            <a:ext cx="7088957" cy="5640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5050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056" y="3424731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종료 조건</a:t>
            </a:r>
            <a:r>
              <a:rPr lang="en-US" altLang="ko-KR" dirty="0">
                <a:latin typeface="+mn-ea"/>
              </a:rPr>
              <a:t>: n = 0 → </a:t>
            </a:r>
            <a:r>
              <a:rPr lang="ko-KR" altLang="en-US" dirty="0" err="1">
                <a:latin typeface="+mn-ea"/>
              </a:rPr>
              <a:t>결괏값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0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재귀 호출 조건</a:t>
            </a:r>
            <a:r>
              <a:rPr lang="en-US" altLang="ko-KR" dirty="0">
                <a:latin typeface="+mn-ea"/>
              </a:rPr>
              <a:t>: n</a:t>
            </a:r>
            <a:r>
              <a:rPr lang="ko-KR" altLang="en-US" dirty="0">
                <a:latin typeface="+mn-ea"/>
              </a:rPr>
              <a:t>까지의 합 </a:t>
            </a:r>
            <a:r>
              <a:rPr lang="en-US" altLang="ko-KR" dirty="0">
                <a:latin typeface="+mn-ea"/>
              </a:rPr>
              <a:t>= n-1</a:t>
            </a:r>
            <a:r>
              <a:rPr lang="ko-KR" altLang="en-US" dirty="0">
                <a:latin typeface="+mn-ea"/>
              </a:rPr>
              <a:t>까지의 합 </a:t>
            </a:r>
            <a:r>
              <a:rPr lang="en-US" altLang="ko-KR" dirty="0">
                <a:latin typeface="+mn-ea"/>
              </a:rPr>
              <a:t>+ n</a:t>
            </a:r>
          </a:p>
        </p:txBody>
      </p:sp>
    </p:spTree>
    <p:extLst>
      <p:ext uri="{BB962C8B-B14F-4D97-AF65-F5344CB8AC3E}">
        <p14:creationId xmlns:p14="http://schemas.microsoft.com/office/powerpoint/2010/main" val="1741085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4-2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재귀 호출을 이용한 최댓값 찾기</a:t>
            </a:r>
            <a:endParaRPr lang="en-US" altLang="ko-KR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313587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최댓값 구하기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들어 있는 리스트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최댓값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find_max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앞부분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최댓값을 구하는 재귀 함수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==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a[0]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max_n_1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find_max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n - 1)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최댓값을 구함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max_n_1 &gt; a[n - 1]: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최댓값과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 값을 비교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max_n_1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a[n - 1]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e04-2-findmax.py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19734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1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322408"/>
            <a:ext cx="7088957" cy="5640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v = [17, 92, 18, 33, 58, 7, 33, 42]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find_max</a:t>
            </a:r>
            <a:r>
              <a:rPr lang="en-US" altLang="ko-KR" sz="1400" dirty="0">
                <a:solidFill>
                  <a:schemeClr val="tx1"/>
                </a:solidFill>
              </a:rPr>
              <a:t>(v, </a:t>
            </a:r>
            <a:r>
              <a:rPr lang="en-US" altLang="ko-KR" sz="1400" dirty="0" err="1">
                <a:solidFill>
                  <a:srgbClr val="0070C0"/>
                </a:solidFill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</a:rPr>
              <a:t>(v)))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함수에 리스트의 자료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갯수를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인자로 추가하여 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3292215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45269" y="4006895"/>
            <a:ext cx="7088957" cy="3456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92</a:t>
            </a:r>
          </a:p>
        </p:txBody>
      </p:sp>
      <p:sp>
        <p:nvSpPr>
          <p:cNvPr id="16" name="아래쪽 화살표 15"/>
          <p:cNvSpPr/>
          <p:nvPr/>
        </p:nvSpPr>
        <p:spPr>
          <a:xfrm rot="10800000">
            <a:off x="4502547" y="200958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451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04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팩토리얼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종료 조건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자료 값이 한 개면</a:t>
            </a:r>
            <a:r>
              <a:rPr lang="en-US" altLang="ko-KR" dirty="0">
                <a:latin typeface="+mn-ea"/>
              </a:rPr>
              <a:t>(n = 1) </a:t>
            </a:r>
            <a:r>
              <a:rPr lang="ko-KR" altLang="en-US" dirty="0">
                <a:latin typeface="+mn-ea"/>
              </a:rPr>
              <a:t>그 값이 최댓값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재귀 호출 조건</a:t>
            </a:r>
            <a:r>
              <a:rPr lang="en-US" altLang="ko-KR" dirty="0">
                <a:latin typeface="+mn-ea"/>
              </a:rPr>
              <a:t>: n</a:t>
            </a:r>
            <a:r>
              <a:rPr lang="ko-KR" altLang="en-US" dirty="0">
                <a:latin typeface="+mn-ea"/>
              </a:rPr>
              <a:t>개 자료 중 최댓값 →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개 자료 중 최댓값과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번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위치 값 중 더 큰 값</a:t>
            </a:r>
            <a:endParaRPr lang="en-US" altLang="ko-KR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561" y="3428623"/>
            <a:ext cx="4478132" cy="274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72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122715" y="3611056"/>
            <a:ext cx="4898571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최대공약수 구하기</a:t>
            </a:r>
          </a:p>
        </p:txBody>
      </p:sp>
    </p:spTree>
    <p:extLst>
      <p:ext uri="{BB962C8B-B14F-4D97-AF65-F5344CB8AC3E}">
        <p14:creationId xmlns:p14="http://schemas.microsoft.com/office/powerpoint/2010/main" val="3039222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/>
              <a:t>두 자연수 </a:t>
            </a:r>
            <a:r>
              <a:rPr lang="en-US" altLang="ko-KR" b="1" dirty="0"/>
              <a:t>a</a:t>
            </a:r>
            <a:r>
              <a:rPr lang="ko-KR" altLang="en-US" b="1" dirty="0"/>
              <a:t>와 </a:t>
            </a:r>
            <a:r>
              <a:rPr lang="en-US" altLang="ko-KR" b="1" dirty="0"/>
              <a:t>b</a:t>
            </a:r>
            <a:r>
              <a:rPr lang="ko-KR" altLang="en-US" b="1" dirty="0"/>
              <a:t>의 최대공약수를 구하는 알고리즘을 만들어 보세요</a:t>
            </a:r>
            <a:r>
              <a:rPr lang="en-US" altLang="ko-KR" b="1" dirty="0"/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최대공약수</a:t>
            </a:r>
            <a:r>
              <a:rPr lang="en-US" altLang="ko-KR" dirty="0"/>
              <a:t>: </a:t>
            </a:r>
            <a:r>
              <a:rPr lang="ko-KR" altLang="en-US" dirty="0"/>
              <a:t>두 개 이상의 정수의 공통 약수 중에서 가장 큰 값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두 자연수의 최대공약수를 찾으려면</a:t>
            </a:r>
            <a:r>
              <a:rPr lang="en-US" altLang="ko-KR" dirty="0"/>
              <a:t> </a:t>
            </a:r>
            <a:r>
              <a:rPr lang="ko-KR" altLang="en-US" dirty="0"/>
              <a:t>①두 수의 </a:t>
            </a:r>
            <a:r>
              <a:rPr lang="ko-KR" altLang="en-US" b="1" u="sng" dirty="0"/>
              <a:t>약수</a:t>
            </a:r>
            <a:r>
              <a:rPr lang="ko-KR" altLang="en-US" dirty="0"/>
              <a:t> 중에서 ②</a:t>
            </a:r>
            <a:r>
              <a:rPr lang="ko-KR" altLang="en-US" b="1" u="sng" dirty="0"/>
              <a:t>공</a:t>
            </a:r>
            <a:r>
              <a:rPr lang="ko-KR" altLang="en-US" dirty="0"/>
              <a:t>통된 것을 찾아 ③그 값 중 </a:t>
            </a:r>
            <a:r>
              <a:rPr lang="ko-KR" altLang="en-US" b="1" u="sng" dirty="0"/>
              <a:t>최댓</a:t>
            </a:r>
            <a:r>
              <a:rPr lang="ko-KR" altLang="en-US" dirty="0"/>
              <a:t>값인 것을 찾아야 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3</a:t>
            </a:r>
            <a:r>
              <a:rPr lang="ko-KR" altLang="en-US" dirty="0"/>
              <a:t>단계 중 밑줄 친 약수</a:t>
            </a:r>
            <a:r>
              <a:rPr lang="en-US" altLang="ko-KR" dirty="0"/>
              <a:t>, </a:t>
            </a:r>
            <a:r>
              <a:rPr lang="ko-KR" altLang="en-US" dirty="0"/>
              <a:t>공</a:t>
            </a:r>
            <a:r>
              <a:rPr lang="en-US" altLang="ko-KR" dirty="0"/>
              <a:t>, </a:t>
            </a:r>
            <a:r>
              <a:rPr lang="ko-KR" altLang="en-US" dirty="0"/>
              <a:t>최대라는 단어를 역순으로 읽으면 ‘최대공약수’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7081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최대공약수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최대공약수의 성질을 떠올리면서 다음 알고리즘을 생각해 보자</a:t>
            </a:r>
            <a:endParaRPr lang="en-US" altLang="ko-KR" dirty="0"/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두 수 중 더 작은 값을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에 저장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가 두 수의 공통된 약수인지 확인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공통된 약수이면 이 값을 </a:t>
            </a:r>
            <a:r>
              <a:rPr lang="ko-KR" altLang="en-US" dirty="0" err="1">
                <a:latin typeface="+mn-ea"/>
              </a:rPr>
              <a:t>결괏값으로</a:t>
            </a:r>
            <a:r>
              <a:rPr lang="ko-KR" altLang="en-US" dirty="0">
                <a:latin typeface="+mn-ea"/>
              </a:rPr>
              <a:t> 돌려주고 종료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공통된 약수가 아니면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만큼 감소시키고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번으로 돌아가 반복</a:t>
            </a:r>
            <a:br>
              <a:rPr lang="en-US" altLang="ko-KR" dirty="0">
                <a:latin typeface="+mn-ea"/>
              </a:rPr>
            </a:br>
            <a:r>
              <a:rPr lang="en-US" altLang="ko-KR" dirty="0"/>
              <a:t>(1</a:t>
            </a:r>
            <a:r>
              <a:rPr lang="ko-KR" altLang="en-US" dirty="0"/>
              <a:t>은 모든 정수의 약수이므로 </a:t>
            </a:r>
            <a:r>
              <a:rPr lang="en-US" altLang="ko-KR" dirty="0" err="1"/>
              <a:t>i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되면 </a:t>
            </a:r>
            <a:r>
              <a:rPr lang="en-US" altLang="ko-KR" dirty="0"/>
              <a:t>1</a:t>
            </a:r>
            <a:r>
              <a:rPr lang="ko-KR" altLang="en-US" dirty="0"/>
              <a:t>을 </a:t>
            </a:r>
            <a:r>
              <a:rPr lang="ko-KR" altLang="en-US" dirty="0" err="1"/>
              <a:t>결괏값으로</a:t>
            </a:r>
            <a:r>
              <a:rPr lang="ko-KR" altLang="en-US" dirty="0"/>
              <a:t> 돌려주고 종료함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8260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최대공약수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의 최대공약수를 찾는 과정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에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를 저장</a:t>
            </a:r>
            <a:r>
              <a:rPr lang="en-US" altLang="ko-KR" dirty="0">
                <a:latin typeface="+mn-ea"/>
              </a:rPr>
              <a:t>(4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6 </a:t>
            </a:r>
            <a:r>
              <a:rPr lang="ko-KR" altLang="en-US" dirty="0">
                <a:latin typeface="+mn-ea"/>
              </a:rPr>
              <a:t>중 작은 값인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가 최대공약수 후보 중 가장 큰 값</a:t>
            </a:r>
            <a:r>
              <a:rPr lang="en-US" altLang="ko-KR" dirty="0">
                <a:latin typeface="+mn-ea"/>
              </a:rPr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는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나누어떨어지지만</a:t>
            </a:r>
            <a:r>
              <a:rPr lang="en-US" altLang="ko-KR" dirty="0">
                <a:latin typeface="+mn-ea"/>
              </a:rPr>
              <a:t>, 6</a:t>
            </a:r>
            <a:r>
              <a:rPr lang="ko-KR" altLang="en-US" dirty="0">
                <a:latin typeface="+mn-ea"/>
              </a:rPr>
              <a:t>은 </a:t>
            </a:r>
            <a:r>
              <a:rPr lang="ko-KR" altLang="en-US" dirty="0" err="1">
                <a:latin typeface="+mn-ea"/>
              </a:rPr>
              <a:t>나누어떨어지지</a:t>
            </a:r>
            <a:r>
              <a:rPr lang="ko-KR" altLang="en-US" dirty="0">
                <a:latin typeface="+mn-ea"/>
              </a:rPr>
              <a:t> 않음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i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만큼 감소시켜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으로 만듦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는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나누어떨어지지</a:t>
            </a:r>
            <a:r>
              <a:rPr lang="ko-KR" altLang="en-US" dirty="0">
                <a:latin typeface="+mn-ea"/>
              </a:rPr>
              <a:t> 않음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만큼 감소시켜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로 만듦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도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나누어떨어지고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도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나누어떨어지므로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값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가 최대공약수</a:t>
            </a:r>
          </a:p>
        </p:txBody>
      </p:sp>
    </p:spTree>
    <p:extLst>
      <p:ext uri="{BB962C8B-B14F-4D97-AF65-F5344CB8AC3E}">
        <p14:creationId xmlns:p14="http://schemas.microsoft.com/office/powerpoint/2010/main" val="2324337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최대공약수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5-1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재귀 호출을 이용한 최댓값 찾기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6"/>
            <a:ext cx="7088957" cy="26603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최대공약수 구하기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a, b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최대공약수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b):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min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b)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수 중에서 최솟값을 구하는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파이썬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함수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True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 %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== 0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b %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== 0: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- 1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i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만큼 감소시킴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p05-1-gcd.py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5721854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072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최대공약수 알고리즘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045269" y="2322408"/>
            <a:ext cx="7088957" cy="111573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(1, 5))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(3, 6))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3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(60, 24))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12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(81, 27))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27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아래쪽 화살표 15"/>
          <p:cNvSpPr/>
          <p:nvPr/>
        </p:nvSpPr>
        <p:spPr>
          <a:xfrm rot="10800000">
            <a:off x="4502547" y="200958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47056" y="3723083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045269" y="4437763"/>
            <a:ext cx="7088957" cy="109435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27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451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유클리드가 발견한 최대공약수의 성질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의 최대공약수는 ‘</a:t>
            </a:r>
            <a:r>
              <a:rPr lang="en-US" altLang="ko-KR" dirty="0">
                <a:latin typeface="+mn-ea"/>
              </a:rPr>
              <a:t>b’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‘a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로 나눈 나머지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의 최대공약수와 같음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gcd</a:t>
            </a:r>
            <a:r>
              <a:rPr lang="en-US" altLang="ko-KR" dirty="0">
                <a:latin typeface="+mn-ea"/>
              </a:rPr>
              <a:t>(a, b) = </a:t>
            </a:r>
            <a:r>
              <a:rPr lang="en-US" altLang="ko-KR" dirty="0" err="1">
                <a:latin typeface="+mn-ea"/>
              </a:rPr>
              <a:t>gcd</a:t>
            </a:r>
            <a:r>
              <a:rPr lang="en-US" altLang="ko-KR" dirty="0">
                <a:latin typeface="+mn-ea"/>
              </a:rPr>
              <a:t>(b, a % b)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어떤 수와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의 최대공약수는 자기 자신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gcd</a:t>
            </a:r>
            <a:r>
              <a:rPr lang="en-US" altLang="ko-KR" dirty="0">
                <a:latin typeface="+mn-ea"/>
              </a:rPr>
              <a:t>(n, 0) = n</a:t>
            </a:r>
          </a:p>
        </p:txBody>
      </p:sp>
    </p:spTree>
    <p:extLst>
      <p:ext uri="{BB962C8B-B14F-4D97-AF65-F5344CB8AC3E}">
        <p14:creationId xmlns:p14="http://schemas.microsoft.com/office/powerpoint/2010/main" val="644380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60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24</a:t>
            </a:r>
            <a:r>
              <a:rPr lang="ko-KR" altLang="en-US" dirty="0">
                <a:latin typeface="+mn-ea"/>
              </a:rPr>
              <a:t>의 최대공약수</a:t>
            </a:r>
            <a:r>
              <a:rPr lang="en-US" altLang="ko-KR" dirty="0">
                <a:latin typeface="+mn-ea"/>
              </a:rPr>
              <a:t>, 81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27</a:t>
            </a:r>
            <a:r>
              <a:rPr lang="ko-KR" altLang="en-US" dirty="0">
                <a:latin typeface="+mn-ea"/>
              </a:rPr>
              <a:t>의 최대공약수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유클리드 방식으로 풀어 보기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어떤 두 수의 최대공약수를 구하기 위해 다시 다른 두 수의 최대공약수를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구하고 있음 →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재귀 호출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로 이 문제를 풀 수 있다는 힌트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26" y="3059957"/>
            <a:ext cx="6555582" cy="64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71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의 최대공약수를 구하기 위해서 </a:t>
            </a:r>
            <a:r>
              <a:rPr lang="en-US" altLang="ko-KR" dirty="0">
                <a:latin typeface="+mn-ea"/>
              </a:rPr>
              <a:t>(a, b)</a:t>
            </a:r>
            <a:r>
              <a:rPr lang="ko-KR" altLang="en-US" dirty="0">
                <a:latin typeface="+mn-ea"/>
              </a:rPr>
              <a:t>보다 좀 더 작은 숫자인 </a:t>
            </a:r>
            <a:r>
              <a:rPr lang="en-US" altLang="ko-KR" dirty="0">
                <a:latin typeface="+mn-ea"/>
              </a:rPr>
              <a:t>(b, a % b)</a:t>
            </a:r>
            <a:r>
              <a:rPr lang="ko-KR" altLang="en-US" dirty="0">
                <a:latin typeface="+mn-ea"/>
              </a:rPr>
              <a:t>의 최대공약수를 구하는 과정을 이용하는 전형적인 재귀 호출 문제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좀 더 작은 값으로 자기 자신을 호출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재귀 호출이 무한히 반복되지 않도록 하는 데 필요한 종료 조건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어떤 수와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의 최대공약수는 자기 자신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이라는 성질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b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이면 재귀 호출을 멈추고 결과를 돌려줌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7018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5-2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유클리드 방식을 이용해 최대공약수를 구하는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6"/>
            <a:ext cx="7088957" cy="34010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최대공약수 구하기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a, b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최대공약수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b):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b == 0: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(b, a % b)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좀 더 작은 값으로 자기 자신을 호출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5))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(3, 6))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3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(60, 24))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(81, 27))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p05-2-gcd.py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7783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45269" y="2535811"/>
            <a:ext cx="7088957" cy="109435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27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056" y="4037479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세 줄밖에 되지 않는 </a:t>
            </a:r>
            <a:r>
              <a:rPr lang="en-US" altLang="ko-KR" dirty="0" err="1">
                <a:latin typeface="+mn-ea"/>
              </a:rPr>
              <a:t>gcd</a:t>
            </a:r>
            <a:r>
              <a:rPr lang="en-US" altLang="ko-KR" dirty="0">
                <a:latin typeface="+mn-ea"/>
              </a:rPr>
              <a:t>() </a:t>
            </a:r>
            <a:r>
              <a:rPr lang="ko-KR" altLang="en-US" dirty="0">
                <a:latin typeface="+mn-ea"/>
              </a:rPr>
              <a:t>함수로 최대공약수를 구할 수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814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재귀 호출로 문제를 푸는 과정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779" y="2614357"/>
            <a:ext cx="3723513" cy="21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75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재귀 호출의 이해를 돕는 방법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/>
              <a:t>종이에 직접 함수 호출 과정을 적어 보자</a:t>
            </a:r>
            <a:r>
              <a:rPr lang="en-US" altLang="ko-KR" dirty="0"/>
              <a:t> </a:t>
            </a:r>
            <a:r>
              <a:rPr lang="ko-KR" altLang="en-US" dirty="0"/>
              <a:t>함수가 호출될 때마다 안쪽으로 들여 쓰고</a:t>
            </a:r>
            <a:r>
              <a:rPr lang="en-US" altLang="ko-KR" dirty="0"/>
              <a:t>, </a:t>
            </a:r>
            <a:r>
              <a:rPr lang="ko-KR" altLang="en-US" dirty="0"/>
              <a:t>값이 반환되면 다시 바깥쪽으로 돌아가는 식으로 과정을 적다 보면 중첩된 함수 호출을 이해하는 데 도움이 됨</a:t>
            </a:r>
            <a:br>
              <a:rPr lang="en-US" altLang="ko-KR" dirty="0"/>
            </a:br>
            <a:r>
              <a:rPr lang="en-US" altLang="ko-KR" dirty="0"/>
              <a:t>(64</a:t>
            </a:r>
            <a:r>
              <a:rPr lang="ko-KR" altLang="en-US" dirty="0"/>
              <a:t>쪽에서 본 </a:t>
            </a:r>
            <a:r>
              <a:rPr lang="en-US" altLang="ko-KR" dirty="0"/>
              <a:t>60</a:t>
            </a:r>
            <a:r>
              <a:rPr lang="ko-KR" altLang="en-US" dirty="0"/>
              <a:t>과 </a:t>
            </a:r>
            <a:r>
              <a:rPr lang="en-US" altLang="ko-KR" dirty="0"/>
              <a:t>24</a:t>
            </a:r>
            <a:r>
              <a:rPr lang="ko-KR" altLang="en-US" dirty="0"/>
              <a:t>의 최대공약수를 구하는 과정을 참조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/>
              <a:t>예제로 사용할 입력 값은 작은 것이 좋음</a:t>
            </a:r>
            <a:r>
              <a:rPr lang="en-US" altLang="ko-KR" dirty="0"/>
              <a:t>. </a:t>
            </a:r>
            <a:r>
              <a:rPr lang="ko-KR" altLang="en-US" dirty="0"/>
              <a:t>일단 종료 조건에 해당하는 값을 입력으로 넣은 다음 입력 값을 높이면서 재귀 호출 과정을 따라가 보자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/>
              <a:t>함수의 입력 값을 화면에 출력하는 것도 도움이 됨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 err="1"/>
              <a:t>gcd</a:t>
            </a:r>
            <a:r>
              <a:rPr lang="en-US" altLang="ko-KR" dirty="0"/>
              <a:t>(a, b) </a:t>
            </a:r>
            <a:r>
              <a:rPr lang="ko-KR" altLang="en-US" dirty="0"/>
              <a:t>함수에 </a:t>
            </a:r>
            <a:r>
              <a:rPr lang="en-US" altLang="ko-KR" dirty="0"/>
              <a:t>print() </a:t>
            </a:r>
            <a:r>
              <a:rPr lang="ko-KR" altLang="en-US" dirty="0"/>
              <a:t>함수를 추가한 다음 </a:t>
            </a:r>
            <a:r>
              <a:rPr lang="en-US" altLang="ko-KR" dirty="0" err="1"/>
              <a:t>gcd</a:t>
            </a:r>
            <a:r>
              <a:rPr lang="en-US" altLang="ko-KR" dirty="0"/>
              <a:t>(60, 24)</a:t>
            </a:r>
            <a:r>
              <a:rPr lang="ko-KR" altLang="en-US" dirty="0"/>
              <a:t>를 실행하면 </a:t>
            </a:r>
            <a:r>
              <a:rPr lang="en-US" altLang="ko-KR" dirty="0" err="1"/>
              <a:t>gcd</a:t>
            </a:r>
            <a:r>
              <a:rPr lang="en-US" altLang="ko-KR" dirty="0"/>
              <a:t>(a, b) </a:t>
            </a:r>
            <a:r>
              <a:rPr lang="ko-KR" altLang="en-US" dirty="0"/>
              <a:t>함수가 연속해서 실행되는 과정을 직접 확인할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6031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유클리드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45269" y="2261491"/>
            <a:ext cx="7088957" cy="133210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(a, b):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0070C0"/>
                </a:solidFill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>
                <a:solidFill>
                  <a:srgbClr val="00B050"/>
                </a:solidFill>
              </a:rPr>
              <a:t>"</a:t>
            </a:r>
            <a:r>
              <a:rPr lang="en-US" altLang="ko-KR" sz="1400" dirty="0" err="1">
                <a:solidFill>
                  <a:srgbClr val="00B050"/>
                </a:solidFill>
              </a:rPr>
              <a:t>gcd</a:t>
            </a:r>
            <a:r>
              <a:rPr lang="en-US" altLang="ko-KR" sz="1400" dirty="0">
                <a:solidFill>
                  <a:srgbClr val="00B050"/>
                </a:solidFill>
              </a:rPr>
              <a:t>: "</a:t>
            </a:r>
            <a:r>
              <a:rPr lang="en-US" altLang="ko-KR" sz="1400" dirty="0">
                <a:solidFill>
                  <a:schemeClr val="tx1"/>
                </a:solidFill>
              </a:rPr>
              <a:t>, a, b)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함수 호출을 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인자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값과 함께 화면에 표시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</a:rPr>
              <a:t>if</a:t>
            </a:r>
            <a:r>
              <a:rPr lang="en-US" altLang="ko-KR" sz="1400" dirty="0">
                <a:solidFill>
                  <a:schemeClr val="tx1"/>
                </a:solidFill>
              </a:rPr>
              <a:t> b = = 0:          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종료 조건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(b, a % b)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4086905"/>
            <a:ext cx="7088957" cy="109435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: 60 24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: 24 12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</a:rPr>
              <a:t>gcd</a:t>
            </a:r>
            <a:r>
              <a:rPr lang="en-US" altLang="ko-KR" sz="1400" dirty="0">
                <a:solidFill>
                  <a:schemeClr val="tx1"/>
                </a:solidFill>
              </a:rPr>
              <a:t>: 12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516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838576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5-1</a:t>
            </a:r>
            <a:r>
              <a:rPr lang="en-US" altLang="ko-KR" dirty="0">
                <a:latin typeface="+mn-ea"/>
              </a:rPr>
              <a:t> 0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시작해서 바로 앞의 두 수를 더한 값을 다음 값으로 추가하는 방식으로 만든 수열을 피보나치 수열이라고 합니다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0+1=1, 1+1=2, 1+2=3</a:t>
            </a:r>
            <a:r>
              <a:rPr lang="ko-KR" altLang="en-US" dirty="0">
                <a:latin typeface="+mn-ea"/>
              </a:rPr>
              <a:t>이므로 피보나치 수열은 다음과 같습니다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피보나치 수열이 </a:t>
            </a:r>
            <a:r>
              <a:rPr lang="ko-KR" altLang="en-US" dirty="0" err="1">
                <a:latin typeface="+mn-ea"/>
              </a:rPr>
              <a:t>파이썬의</a:t>
            </a:r>
            <a:r>
              <a:rPr lang="ko-KR" altLang="en-US" dirty="0">
                <a:latin typeface="+mn-ea"/>
              </a:rPr>
              <a:t> 리스트처럼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번부터 시작한다고 가정할 때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번째 피보나치 수를 구하는 알고리즘을 재귀 호출을 이용해서 구현해 보세요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힌트</a:t>
            </a:r>
            <a:r>
              <a:rPr lang="en-US" altLang="ko-KR" dirty="0">
                <a:latin typeface="+mn-ea"/>
              </a:rPr>
              <a:t>: 7</a:t>
            </a:r>
            <a:r>
              <a:rPr lang="ko-KR" altLang="en-US" dirty="0">
                <a:latin typeface="+mn-ea"/>
              </a:rPr>
              <a:t>번 값 </a:t>
            </a:r>
            <a:r>
              <a:rPr lang="en-US" altLang="ko-KR" dirty="0">
                <a:latin typeface="+mn-ea"/>
              </a:rPr>
              <a:t>= 5</a:t>
            </a:r>
            <a:r>
              <a:rPr lang="ko-KR" altLang="en-US" dirty="0">
                <a:latin typeface="+mn-ea"/>
              </a:rPr>
              <a:t>번 값 </a:t>
            </a:r>
            <a:r>
              <a:rPr lang="en-US" altLang="ko-KR" dirty="0">
                <a:latin typeface="+mn-ea"/>
              </a:rPr>
              <a:t>+ 6</a:t>
            </a:r>
            <a:r>
              <a:rPr lang="ko-KR" altLang="en-US" dirty="0">
                <a:latin typeface="+mn-ea"/>
              </a:rPr>
              <a:t>번 값</a:t>
            </a:r>
            <a:r>
              <a:rPr lang="en-US" altLang="ko-KR" dirty="0">
                <a:latin typeface="+mn-ea"/>
              </a:rPr>
              <a:t>).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47" y="3453004"/>
            <a:ext cx="3489389" cy="43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5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5-1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재귀 호출을 이용한 피보나치 수열 구하기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29164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번째 피보나치 수열 찾기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값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시작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번째 피보나치 수열 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fibo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n = 0 -&gt; 0 | n = 1 -&gt;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fibo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 - 2) +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fibo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 - 1)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fibo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(7))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fibo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e05-1-fibonacci.py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63328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05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최대공약수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535811"/>
            <a:ext cx="7088957" cy="59143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13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056" y="3587639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종료 조건</a:t>
            </a:r>
            <a:r>
              <a:rPr lang="en-US" altLang="ko-KR" dirty="0">
                <a:latin typeface="+mn-ea"/>
              </a:rPr>
              <a:t>: n = 0 → </a:t>
            </a:r>
            <a:r>
              <a:rPr lang="ko-KR" altLang="en-US" dirty="0" err="1">
                <a:latin typeface="+mn-ea"/>
              </a:rPr>
              <a:t>결괏값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0, n = 1 → </a:t>
            </a:r>
            <a:r>
              <a:rPr lang="ko-KR" altLang="en-US" dirty="0" err="1">
                <a:latin typeface="+mn-ea"/>
              </a:rPr>
              <a:t>결괏값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1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 조건</a:t>
            </a:r>
            <a:r>
              <a:rPr lang="en-US" altLang="ko-KR" dirty="0"/>
              <a:t>: n</a:t>
            </a:r>
            <a:r>
              <a:rPr lang="ko-KR" altLang="en-US" dirty="0"/>
              <a:t>번 피보나치 수 </a:t>
            </a:r>
            <a:r>
              <a:rPr lang="en-US" altLang="ko-KR" dirty="0"/>
              <a:t>= n-2</a:t>
            </a:r>
            <a:r>
              <a:rPr lang="ko-KR" altLang="en-US" dirty="0"/>
              <a:t>번 피보나치 수 </a:t>
            </a:r>
            <a:r>
              <a:rPr lang="en-US" altLang="ko-KR" dirty="0"/>
              <a:t>+ n-1</a:t>
            </a:r>
            <a:r>
              <a:rPr lang="ko-KR" altLang="en-US" dirty="0"/>
              <a:t>번 피보나치 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52055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046514" y="3611056"/>
            <a:ext cx="501831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하노이의 탑 옮기기</a:t>
            </a:r>
          </a:p>
        </p:txBody>
      </p:sp>
    </p:spTree>
    <p:extLst>
      <p:ext uri="{BB962C8B-B14F-4D97-AF65-F5344CB8AC3E}">
        <p14:creationId xmlns:p14="http://schemas.microsoft.com/office/powerpoint/2010/main" val="6531553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원반이 </a:t>
            </a:r>
            <a:r>
              <a:rPr lang="en-US" altLang="ko-KR" b="1" dirty="0">
                <a:latin typeface="+mn-ea"/>
              </a:rPr>
              <a:t>n</a:t>
            </a:r>
            <a:r>
              <a:rPr lang="ko-KR" altLang="en-US" b="1" dirty="0">
                <a:latin typeface="+mn-ea"/>
              </a:rPr>
              <a:t>개인 하노이의 탑을 옮기기 위한 원반 이동 순서를 출력하는</a:t>
            </a:r>
            <a:br>
              <a:rPr lang="en-US" altLang="ko-KR" b="1" dirty="0">
                <a:latin typeface="+mn-ea"/>
              </a:rPr>
            </a:br>
            <a:r>
              <a:rPr lang="ko-KR" altLang="en-US" b="1" dirty="0">
                <a:latin typeface="+mn-ea"/>
              </a:rPr>
              <a:t>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‘하노이의 </a:t>
            </a:r>
            <a:r>
              <a:rPr lang="ko-KR" altLang="en-US" dirty="0" err="1">
                <a:latin typeface="+mn-ea"/>
              </a:rPr>
              <a:t>탑’을</a:t>
            </a:r>
            <a:r>
              <a:rPr lang="ko-KR" altLang="en-US" dirty="0">
                <a:latin typeface="+mn-ea"/>
              </a:rPr>
              <a:t> 알아보고 재귀 호출을 이용해 이 문제를 풀어 보자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412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하노이의 탑</a:t>
            </a:r>
            <a:r>
              <a:rPr lang="en-US" altLang="ko-KR" dirty="0"/>
              <a:t>(Tower of Hanoi):</a:t>
            </a:r>
            <a:r>
              <a:rPr lang="ko-KR" altLang="en-US" dirty="0"/>
              <a:t> 간단한 원반</a:t>
            </a:r>
            <a:r>
              <a:rPr lang="en-US" altLang="ko-KR" dirty="0"/>
              <a:t>(disk) </a:t>
            </a:r>
            <a:r>
              <a:rPr lang="ko-KR" altLang="en-US" dirty="0"/>
              <a:t>옮기기 퍼즐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300" y="2723277"/>
            <a:ext cx="5121764" cy="20956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0" y="491366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출처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: https://en.wikipedia.org/wiki/Tower_of_Hanoi)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74886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12896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하노이의 탑 규칙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크기가 다른 원반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개를 출발점 기둥에서 도착점 기둥으로 전부 옮겨야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원반은 한 번에 한 개씩만 옮길 수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원반을 옮길 때는 한 기둥의 맨 위 원반을 뽑아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다른 기둥의 맨 위로만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옮길 수 있음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기둥의 중간에서 원반을 빼내거나 빼낸 원반을 다른 기둥의 중간으로 끼워 넣을 수 없음</a:t>
            </a:r>
            <a:r>
              <a:rPr lang="en-US" altLang="ko-KR" dirty="0">
                <a:latin typeface="+mn-ea"/>
              </a:rPr>
              <a:t>).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원반을 옮기는 과정에서 큰 원반을 작은 원반 위로 올릴 수 없음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8753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63" y="1630727"/>
            <a:ext cx="4299109" cy="4910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34456" y="6277319"/>
            <a:ext cx="2066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규칙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76351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59" y="1715623"/>
            <a:ext cx="3528086" cy="48386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38345" y="6277319"/>
            <a:ext cx="3263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규칙 제대로 이해하기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74052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661</a:t>
            </a:r>
            <a:r>
              <a:rPr lang="ko-KR" altLang="en-US" dirty="0"/>
              <a:t>원으로 하노이의 탑 교재를 간단히 만들어 실험할 수 있음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987" y="2723277"/>
            <a:ext cx="5641522" cy="2513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5279860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6-4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661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 하노이의 탑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-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동전 네 개와 종이 한 장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?)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만든 하노이의 탑 교재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41134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원반이 한 개일 때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1</a:t>
            </a:r>
            <a:r>
              <a:rPr lang="ko-KR" altLang="en-US" dirty="0"/>
              <a:t>번 기둥에 있는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옮기면 끝</a:t>
            </a:r>
            <a:r>
              <a:rPr lang="en-US" altLang="ko-KR" dirty="0"/>
              <a:t>(1 → 3)</a:t>
            </a:r>
            <a:endParaRPr lang="en-US" altLang="ko-KR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637" y="3045869"/>
            <a:ext cx="4810222" cy="2042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48" y="509398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6-5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옮김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5082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원반이 두 개일 때</a:t>
            </a:r>
            <a:endParaRPr lang="en-US" altLang="ko-KR" dirty="0">
              <a:solidFill>
                <a:srgbClr val="EB666E"/>
              </a:solidFill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/>
              <a:t>1</a:t>
            </a:r>
            <a:r>
              <a:rPr lang="ko-KR" altLang="en-US" dirty="0"/>
              <a:t>번 기둥의 맨 위에 있는 원반을 </a:t>
            </a:r>
            <a:r>
              <a:rPr lang="en-US" altLang="ko-KR" dirty="0"/>
              <a:t>2</a:t>
            </a:r>
            <a:r>
              <a:rPr lang="ko-KR" altLang="en-US" dirty="0"/>
              <a:t>번 기둥으로 옮김</a:t>
            </a:r>
            <a:r>
              <a:rPr lang="en-US" altLang="ko-KR" dirty="0"/>
              <a:t>(1 → 2)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76" y="2975976"/>
            <a:ext cx="4838341" cy="22565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48" y="5208508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6-6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맨 위의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58274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74" y="2650125"/>
            <a:ext cx="4791747" cy="20063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2"/>
            </a:pPr>
            <a:r>
              <a:rPr lang="en-US" altLang="ko-KR" dirty="0"/>
              <a:t>1</a:t>
            </a:r>
            <a:r>
              <a:rPr lang="ko-KR" altLang="en-US" dirty="0"/>
              <a:t>번 기둥에 남아 있는 큰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r>
              <a:rPr lang="en-US" altLang="ko-KR" dirty="0"/>
              <a:t>(1 → 3)</a:t>
            </a:r>
            <a:endParaRPr lang="en-US" altLang="ko-KR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748" y="4661968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6-7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남은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20682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033" y="2631334"/>
            <a:ext cx="4795429" cy="21850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3"/>
            </a:pPr>
            <a:r>
              <a:rPr lang="en-US" altLang="ko-KR" dirty="0"/>
              <a:t>2</a:t>
            </a:r>
            <a:r>
              <a:rPr lang="ko-KR" altLang="en-US" dirty="0"/>
              <a:t>번 기둥에 남아 있는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r>
              <a:rPr lang="en-US" altLang="ko-KR" dirty="0"/>
              <a:t>(2 → 3)</a:t>
            </a:r>
            <a:endParaRPr lang="en-US" altLang="ko-KR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48" y="4771696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6-8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번 기둥의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60084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원반이 세 개일 때</a:t>
            </a:r>
            <a:endParaRPr lang="en-US" altLang="ko-KR" dirty="0">
              <a:solidFill>
                <a:srgbClr val="EB666E"/>
              </a:solidFill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/>
              <a:t>1</a:t>
            </a:r>
            <a:r>
              <a:rPr lang="ko-KR" altLang="en-US" dirty="0"/>
              <a:t>번 기둥의 원반 중 위에 있는 원반 두 개를 </a:t>
            </a:r>
            <a:r>
              <a:rPr lang="en-US" altLang="ko-KR" dirty="0"/>
              <a:t>2</a:t>
            </a:r>
            <a:r>
              <a:rPr lang="ko-KR" altLang="en-US" dirty="0"/>
              <a:t>번 기둥</a:t>
            </a:r>
            <a:r>
              <a:rPr lang="en-US" altLang="ko-KR" dirty="0"/>
              <a:t>(</a:t>
            </a:r>
            <a:r>
              <a:rPr lang="ko-KR" altLang="en-US" dirty="0"/>
              <a:t>보조 기둥</a:t>
            </a:r>
            <a:r>
              <a:rPr lang="en-US" altLang="ko-KR" dirty="0"/>
              <a:t>)</a:t>
            </a:r>
            <a:r>
              <a:rPr lang="ko-KR" altLang="en-US" dirty="0"/>
              <a:t>으로 옮김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한 번에 원반을 두 개씩 옮길 수 없지만</a:t>
            </a:r>
            <a:r>
              <a:rPr lang="en-US" altLang="ko-KR" dirty="0"/>
              <a:t>, </a:t>
            </a:r>
            <a:r>
              <a:rPr lang="ko-KR" altLang="en-US" dirty="0"/>
              <a:t>원반 두 개일 때 방법 그대로 적용</a:t>
            </a:r>
            <a:r>
              <a:rPr lang="en-US" altLang="ko-KR" dirty="0"/>
              <a:t>)</a:t>
            </a:r>
            <a:endParaRPr lang="en-US" altLang="ko-KR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406" y="3428623"/>
            <a:ext cx="4698683" cy="2557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48" y="5985961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6-9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원반 두 개를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로 이동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(1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→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3, 1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→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2, 3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→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91455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원반이 세 개일 때</a:t>
            </a:r>
            <a:endParaRPr lang="en-US" altLang="ko-KR" dirty="0">
              <a:solidFill>
                <a:srgbClr val="EB666E"/>
              </a:solidFill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/>
              <a:t>1</a:t>
            </a:r>
            <a:r>
              <a:rPr lang="ko-KR" altLang="en-US" dirty="0"/>
              <a:t>번 기둥의 원반 중 위에 있는 원반 두 개를 </a:t>
            </a:r>
            <a:r>
              <a:rPr lang="en-US" altLang="ko-KR" dirty="0"/>
              <a:t>2</a:t>
            </a:r>
            <a:r>
              <a:rPr lang="ko-KR" altLang="en-US" dirty="0"/>
              <a:t>번 기둥</a:t>
            </a:r>
            <a:r>
              <a:rPr lang="en-US" altLang="ko-KR" dirty="0"/>
              <a:t>(</a:t>
            </a:r>
            <a:r>
              <a:rPr lang="ko-KR" altLang="en-US" dirty="0"/>
              <a:t>보조 기둥</a:t>
            </a:r>
            <a:r>
              <a:rPr lang="en-US" altLang="ko-KR" dirty="0"/>
              <a:t>)</a:t>
            </a:r>
            <a:r>
              <a:rPr lang="ko-KR" altLang="en-US" dirty="0"/>
              <a:t>으로 옮김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한 번에 원반을 두 개씩 옮길 수 없지만</a:t>
            </a:r>
            <a:r>
              <a:rPr lang="en-US" altLang="ko-KR" dirty="0"/>
              <a:t>, </a:t>
            </a:r>
            <a:r>
              <a:rPr lang="ko-KR" altLang="en-US" dirty="0"/>
              <a:t>원반 두 개일 때 방법 그대로 적용</a:t>
            </a:r>
            <a:r>
              <a:rPr lang="en-US" altLang="ko-KR" dirty="0"/>
              <a:t>)</a:t>
            </a:r>
            <a:endParaRPr lang="en-US" altLang="ko-KR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406" y="3428623"/>
            <a:ext cx="4698683" cy="2557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48" y="5985961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6-9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원반 두 개를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로 이동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(1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→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3, 1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→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2, 3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→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8507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2"/>
            </a:pPr>
            <a:r>
              <a:rPr lang="en-US" altLang="ko-KR" dirty="0"/>
              <a:t>1</a:t>
            </a:r>
            <a:r>
              <a:rPr lang="ko-KR" altLang="en-US" dirty="0"/>
              <a:t>번 기둥에 남아 있는 큰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r>
              <a:rPr lang="en-US" altLang="ko-KR" dirty="0"/>
              <a:t>(1 → 3)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156" y="2723277"/>
            <a:ext cx="4721688" cy="19331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48" y="4661968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6-10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남은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43636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3"/>
            </a:pPr>
            <a:r>
              <a:rPr lang="en-US" altLang="ko-KR" dirty="0"/>
              <a:t>2</a:t>
            </a:r>
            <a:r>
              <a:rPr lang="ko-KR" altLang="en-US" dirty="0"/>
              <a:t>번 기둥에 있는 원반 두 개를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endParaRPr lang="en-US" altLang="ko-KR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359" y="2458935"/>
            <a:ext cx="4663281" cy="26141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48" y="507305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6-11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번 기둥의 원반 두 개를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번으로 이동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(2 → 1, 2 → 3, 1 → 3)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056" y="5700508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정리하면 원반을 한 개씩 전부 일곱 번 옮기면 문제가 해결</a:t>
            </a:r>
            <a:r>
              <a:rPr lang="en-US" altLang="ko-KR" dirty="0"/>
              <a:t>(3 + 1 + 3 = 7)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23779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원반이 </a:t>
            </a:r>
            <a:r>
              <a:rPr lang="en-US" altLang="ko-KR" dirty="0">
                <a:solidFill>
                  <a:srgbClr val="EB666E"/>
                </a:solidFill>
              </a:rPr>
              <a:t>n</a:t>
            </a:r>
            <a:r>
              <a:rPr lang="ko-KR" altLang="en-US" dirty="0">
                <a:solidFill>
                  <a:srgbClr val="EB666E"/>
                </a:solidFill>
              </a:rPr>
              <a:t>개일 때</a:t>
            </a:r>
            <a:endParaRPr lang="en-US" altLang="ko-KR" dirty="0">
              <a:solidFill>
                <a:srgbClr val="EB666E"/>
              </a:solidFill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/>
              <a:t>1</a:t>
            </a:r>
            <a:r>
              <a:rPr lang="ko-KR" altLang="en-US" dirty="0"/>
              <a:t>번 기둥에 있는 </a:t>
            </a:r>
            <a:r>
              <a:rPr lang="en-US" altLang="ko-KR" dirty="0"/>
              <a:t>n-1</a:t>
            </a:r>
            <a:r>
              <a:rPr lang="ko-KR" altLang="en-US" dirty="0"/>
              <a:t>개 원반을 </a:t>
            </a:r>
            <a:r>
              <a:rPr lang="en-US" altLang="ko-KR" dirty="0"/>
              <a:t>2</a:t>
            </a:r>
            <a:r>
              <a:rPr lang="ko-KR" altLang="en-US" dirty="0"/>
              <a:t>번 기둥으로 옮김</a:t>
            </a:r>
            <a:br>
              <a:rPr lang="en-US" altLang="ko-KR" dirty="0"/>
            </a:br>
            <a:r>
              <a:rPr lang="en-US" altLang="ko-KR" dirty="0"/>
              <a:t>(n-1</a:t>
            </a:r>
            <a:r>
              <a:rPr lang="ko-KR" altLang="en-US" dirty="0"/>
              <a:t>개짜리 하노이의 탑 문제 풀기</a:t>
            </a:r>
            <a:r>
              <a:rPr lang="en-US" altLang="ko-KR" dirty="0"/>
              <a:t>)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359" y="3428623"/>
            <a:ext cx="4663281" cy="23416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48" y="5775756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6-12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n-1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개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27898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2"/>
            </a:pPr>
            <a:r>
              <a:rPr lang="en-US" altLang="ko-KR" dirty="0"/>
              <a:t>1</a:t>
            </a:r>
            <a:r>
              <a:rPr lang="ko-KR" altLang="en-US" dirty="0"/>
              <a:t>번 기둥에 남아 있는 가장 큰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r>
              <a:rPr lang="en-US" altLang="ko-KR" dirty="0"/>
              <a:t>(1 → 3)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263" y="2595261"/>
            <a:ext cx="4625474" cy="2173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48" y="4768436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6-13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남은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73201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풀이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3"/>
            </a:pPr>
            <a:r>
              <a:rPr lang="en-US" altLang="ko-KR" dirty="0"/>
              <a:t>2</a:t>
            </a:r>
            <a:r>
              <a:rPr lang="ko-KR" altLang="en-US" dirty="0"/>
              <a:t>번 기둥에 있는 </a:t>
            </a:r>
            <a:r>
              <a:rPr lang="en-US" altLang="ko-KR" dirty="0"/>
              <a:t>n-1</a:t>
            </a:r>
            <a:r>
              <a:rPr lang="ko-KR" altLang="en-US" dirty="0"/>
              <a:t>개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br>
              <a:rPr lang="en-US" altLang="ko-KR" dirty="0"/>
            </a:br>
            <a:r>
              <a:rPr lang="en-US" altLang="ko-KR" dirty="0"/>
              <a:t>(n-1</a:t>
            </a:r>
            <a:r>
              <a:rPr lang="ko-KR" altLang="en-US" dirty="0"/>
              <a:t>개짜리 하노이의 탑 문제 풀기</a:t>
            </a:r>
            <a:r>
              <a:rPr lang="en-US" altLang="ko-KR" dirty="0"/>
              <a:t>)</a:t>
            </a:r>
            <a:endParaRPr lang="en-US" altLang="ko-KR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834" y="3006589"/>
            <a:ext cx="4898331" cy="24724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48" y="5479017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6-14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번 기둥의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n-1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개 원반을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으로 이동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68589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하노이의 탑 옮기기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1-A </a:t>
            </a:r>
            <a:r>
              <a:rPr lang="ko-KR" altLang="en-US" dirty="0">
                <a:latin typeface="+mn-ea"/>
              </a:rPr>
              <a:t>원반이 한 개면 그냥 옮기면 끝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종료 조건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1-B </a:t>
            </a:r>
            <a:r>
              <a:rPr lang="ko-KR" altLang="en-US" dirty="0">
                <a:latin typeface="+mn-ea"/>
              </a:rPr>
              <a:t>원반이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개일 때</a:t>
            </a:r>
            <a:endParaRPr lang="en-US" altLang="ko-KR" dirty="0">
              <a:latin typeface="+mn-ea"/>
            </a:endParaRPr>
          </a:p>
          <a:p>
            <a:pPr marL="800100" lvl="1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번 기둥에 있는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 원반 중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개를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번 기둥으로 옮김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(3</a:t>
            </a:r>
            <a:r>
              <a:rPr lang="ko-KR" altLang="en-US" dirty="0">
                <a:latin typeface="+mn-ea"/>
              </a:rPr>
              <a:t>번 기둥을 보조 기둥으로 사용</a:t>
            </a:r>
            <a:r>
              <a:rPr lang="en-US" altLang="ko-KR" dirty="0">
                <a:latin typeface="+mn-ea"/>
              </a:rPr>
              <a:t>)</a:t>
            </a:r>
          </a:p>
          <a:p>
            <a:pPr marL="800100" lvl="1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/>
              <a:t>1</a:t>
            </a:r>
            <a:r>
              <a:rPr lang="ko-KR" altLang="en-US" dirty="0"/>
              <a:t>번 기둥에 남아 있는 가장 큰 원반을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endParaRPr lang="en-US" altLang="ko-KR" dirty="0"/>
          </a:p>
          <a:p>
            <a:pPr marL="800100" lvl="1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/>
              <a:t>2</a:t>
            </a:r>
            <a:r>
              <a:rPr lang="ko-KR" altLang="en-US" dirty="0"/>
              <a:t>번 기둥에 있는 </a:t>
            </a:r>
            <a:r>
              <a:rPr lang="en-US" altLang="ko-KR" dirty="0"/>
              <a:t>n-1</a:t>
            </a:r>
            <a:r>
              <a:rPr lang="ko-KR" altLang="en-US" dirty="0"/>
              <a:t>개 원반을 다시 </a:t>
            </a:r>
            <a:r>
              <a:rPr lang="en-US" altLang="ko-KR" dirty="0"/>
              <a:t>3</a:t>
            </a:r>
            <a:r>
              <a:rPr lang="ko-KR" altLang="en-US" dirty="0"/>
              <a:t>번 기둥으로 옮김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번 기둥을 보조 기둥으로 사용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21938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6-1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하노이의 탑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2917456"/>
            <a:ext cx="7088957" cy="29164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하노이의 탑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옮기려는 원반의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갯수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  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옮길 원반이 현재 있는 출발점 기둥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from_pos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  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원반을 옮길 도착점 기둥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to_pos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  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옮기는 과정에서 사용할 보조 기둥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aux_pos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원반을 옮기는 순서 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hanoi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from_pos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to_pos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aux_pos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== 1: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 한 개를 옮기는 문제면 그냥 옮기면 됨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from_pos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"-&gt;"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to_pos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p06-1-hanoi.py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4502546" y="5980260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930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45269" y="2376615"/>
            <a:ext cx="7088957" cy="3428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 - 1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개를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aux_pos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로 이동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to_pos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보조 기둥으로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hanoi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 - 1,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from_pos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aux_pos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to_pos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가장 큰 원반을 목적지로 이동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from_pos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"-&gt;"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to_pos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aux_pos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있는 원반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개를 목적지로 이동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from_pos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보조 기둥으로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hanoi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 - 1,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aux_pos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to_pos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from_pos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("n = 1")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hanoi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(1, 1, 3, 2)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 한 개를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기둥에서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기둥으로 이동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번을 보조 기둥으로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("n = 2")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hanoi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(2, 1, 3, 2)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 두 개를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기둥에서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기둥으로 이동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번을 보조 기둥으로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("n = 3")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hanoi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(3, 1, 3, 2)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원반 세 개를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기둥에서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기둥으로 이동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번을 보조 기둥으로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400" dirty="0">
              <a:solidFill>
                <a:srgbClr val="FF822D"/>
              </a:solidFill>
              <a:latin typeface="+mn-ea"/>
            </a:endParaRP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1774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하노이의 탑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535811"/>
            <a:ext cx="7088957" cy="360895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n =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n = 2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2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2 -&gt;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n =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2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3 -&gt; 2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2 -&gt;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2 -&gt; 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1 -&gt; 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1072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층짜리 하노이의 탑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원반을 한 번 이동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층짜리 하노이의 탑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원반을 세 번 이동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층짜리 하노이의 탑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원반을 일곱 번 이동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탑의 층수가 높을수록 원반을 더 많이 움직여야 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20117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22040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n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층짜리 하노이의 탑을 옮기려면 원반을 몇 번 움직여야 할까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층짜리 하노이의 탑을 옮기려면 원반을 모두 </a:t>
            </a:r>
            <a:r>
              <a:rPr lang="en-US" altLang="ko-KR" dirty="0">
                <a:latin typeface="+mn-ea"/>
              </a:rPr>
              <a:t>2</a:t>
            </a:r>
            <a:r>
              <a:rPr lang="en-US" altLang="ko-KR" baseline="30000" dirty="0">
                <a:latin typeface="+mn-ea"/>
              </a:rPr>
              <a:t>n</a:t>
            </a:r>
            <a:r>
              <a:rPr lang="en-US" altLang="ko-KR" dirty="0">
                <a:latin typeface="+mn-ea"/>
              </a:rPr>
              <a:t>-1</a:t>
            </a:r>
            <a:r>
              <a:rPr lang="ko-KR" altLang="en-US" dirty="0">
                <a:latin typeface="+mn-ea"/>
              </a:rPr>
              <a:t>번 옮겨야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마찬가지로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커지면 </a:t>
            </a:r>
            <a:r>
              <a:rPr lang="en-US" altLang="ko-KR" dirty="0">
                <a:latin typeface="+mn-ea"/>
              </a:rPr>
              <a:t>-1</a:t>
            </a:r>
            <a:r>
              <a:rPr lang="ko-KR" altLang="en-US" dirty="0">
                <a:latin typeface="+mn-ea"/>
              </a:rPr>
              <a:t>은 큰 의미가 없으므로 </a:t>
            </a:r>
            <a:r>
              <a:rPr lang="en-US" altLang="ko-KR" dirty="0">
                <a:latin typeface="+mn-ea"/>
              </a:rPr>
              <a:t>O(2</a:t>
            </a:r>
            <a:r>
              <a:rPr lang="en-US" altLang="ko-KR" baseline="30000" dirty="0">
                <a:latin typeface="+mn-ea"/>
              </a:rPr>
              <a:t>n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으로 표현할 수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이는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 제곱한 값이므로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커짐에 따라 값이 기하급수적으로 증가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08690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지금까지 살펴본 계산 복잡도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O(1): n</a:t>
            </a:r>
            <a:r>
              <a:rPr lang="ko-KR" altLang="en-US" dirty="0"/>
              <a:t>과 무관하게 일정한 시간이 걸림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O(n): n</a:t>
            </a:r>
            <a:r>
              <a:rPr lang="ko-KR" altLang="en-US" dirty="0"/>
              <a:t>과 비례하여 계산 시간이 증가함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O(n</a:t>
            </a:r>
            <a:r>
              <a:rPr lang="en-US" altLang="ko-KR" baseline="30000" dirty="0"/>
              <a:t>2</a:t>
            </a:r>
            <a:r>
              <a:rPr lang="en-US" altLang="ko-KR" dirty="0"/>
              <a:t>): n</a:t>
            </a:r>
            <a:r>
              <a:rPr lang="ko-KR" altLang="en-US" dirty="0"/>
              <a:t>의 제곱에 비례하여 계산 시간이 증가함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O(2</a:t>
            </a:r>
            <a:r>
              <a:rPr lang="en-US" altLang="ko-KR" baseline="30000" dirty="0"/>
              <a:t>n</a:t>
            </a:r>
            <a:r>
              <a:rPr lang="en-US" altLang="ko-KR" dirty="0"/>
              <a:t>): 2</a:t>
            </a:r>
            <a:r>
              <a:rPr lang="ko-KR" altLang="en-US" dirty="0"/>
              <a:t>의 </a:t>
            </a:r>
            <a:r>
              <a:rPr lang="en-US" altLang="ko-KR" dirty="0"/>
              <a:t>n </a:t>
            </a:r>
            <a:r>
              <a:rPr lang="ko-KR" altLang="en-US" dirty="0"/>
              <a:t>제곱에 비례하여 계산 시간이 증가함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위에서 아래로 갈수록 계산 복잡도가 증가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606438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6-1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재귀 호출의 원리는 컴퓨터 그래픽에서도 많이 사용됩니다</a:t>
            </a:r>
            <a:r>
              <a:rPr lang="en-US" altLang="ko-KR" dirty="0"/>
              <a:t>. </a:t>
            </a:r>
            <a:r>
              <a:rPr lang="ko-KR" altLang="en-US" dirty="0"/>
              <a:t>다음 그림은 모두 재귀 호출을 이용해서 만든 컴퓨터 그래픽입니다</a:t>
            </a:r>
            <a:r>
              <a:rPr lang="en-US" altLang="ko-KR" dirty="0"/>
              <a:t>.</a:t>
            </a: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r>
              <a:rPr lang="ko-KR" altLang="en-US" dirty="0"/>
              <a:t>재귀 호출로 어떻게 이런 그림을 그릴 수 있을지 상상해 보고 부록 </a:t>
            </a:r>
            <a:r>
              <a:rPr lang="en-US" altLang="ko-KR" dirty="0"/>
              <a:t>D</a:t>
            </a:r>
            <a:r>
              <a:rPr lang="ko-KR" altLang="en-US" dirty="0"/>
              <a:t>에 있는 ‘재귀 호출을 이용한 그림 그리기’ 부분을 읽어 보세요</a:t>
            </a:r>
            <a:r>
              <a:rPr lang="en-US" altLang="ko-KR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548" y="2988945"/>
            <a:ext cx="6509004" cy="169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594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6-1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재귀 호출을 이용한 그림 그리기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거북이 그래픽</a:t>
            </a:r>
            <a:r>
              <a:rPr lang="en-US" altLang="ko-KR" dirty="0"/>
              <a:t>: </a:t>
            </a:r>
            <a:r>
              <a:rPr lang="ko-KR" altLang="en-US" dirty="0"/>
              <a:t>화면 위에 펜 역할을 하는 거북이를 올린 후</a:t>
            </a:r>
            <a:r>
              <a:rPr lang="en-US" altLang="ko-KR" dirty="0"/>
              <a:t>, </a:t>
            </a:r>
            <a:r>
              <a:rPr lang="ko-KR" altLang="en-US" dirty="0"/>
              <a:t>그 거북이가 </a:t>
            </a:r>
            <a:br>
              <a:rPr lang="en-US" altLang="ko-KR" dirty="0"/>
            </a:br>
            <a:r>
              <a:rPr lang="ko-KR" altLang="en-US" dirty="0"/>
              <a:t>움직이도록 명령을 내려 그림을 그리도록 하는 그래픽 시스템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어떤 그림 안에 자기 자신과 똑같이 닮았지만</a:t>
            </a:r>
            <a:r>
              <a:rPr lang="en-US" altLang="ko-KR" dirty="0"/>
              <a:t>, </a:t>
            </a:r>
            <a:r>
              <a:rPr lang="ko-KR" altLang="en-US" dirty="0"/>
              <a:t>크기가 조금 더 작은 그림을 </a:t>
            </a:r>
            <a:br>
              <a:rPr lang="en-US" altLang="ko-KR" dirty="0"/>
            </a:br>
            <a:r>
              <a:rPr lang="ko-KR" altLang="en-US" dirty="0"/>
              <a:t>반복하여 그림</a:t>
            </a:r>
            <a:r>
              <a:rPr lang="en-US" altLang="ko-KR" dirty="0"/>
              <a:t>(</a:t>
            </a:r>
            <a:r>
              <a:rPr lang="ko-KR" altLang="en-US" dirty="0"/>
              <a:t>자기 복제 과정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이 과정을 반복하다가 그려야 할 그림의 크기가 어느 정도로 작아지면 </a:t>
            </a:r>
            <a:br>
              <a:rPr lang="en-US" altLang="ko-KR" dirty="0"/>
            </a:br>
            <a:r>
              <a:rPr lang="ko-KR" altLang="en-US" dirty="0"/>
              <a:t>재귀 호출을 멈춤</a:t>
            </a:r>
            <a:r>
              <a:rPr lang="en-US" altLang="ko-KR" dirty="0"/>
              <a:t>(</a:t>
            </a:r>
            <a:r>
              <a:rPr lang="ko-KR" altLang="en-US" dirty="0"/>
              <a:t>종료 조건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4254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D-1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사각 나선을 그리는 프로그램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23952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호출을 이용한 사각 나선 그리기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import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turtle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spiral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sp_len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sp_len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&lt;= 5: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t.forward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sp_len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(90)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spiral(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sp_len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- 5)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e06-1-spiral.py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552145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9041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376615"/>
            <a:ext cx="7088957" cy="107981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t.speed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spiral(200)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t.hideturtle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t.done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3680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6" y="2520173"/>
            <a:ext cx="3162491" cy="31413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5790" y="5667048"/>
            <a:ext cx="3103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사각 나선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80539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D-2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err="1"/>
              <a:t>시에르핀스키의</a:t>
            </a:r>
            <a:r>
              <a:rPr lang="ko-KR" altLang="en-US" dirty="0"/>
              <a:t> 삼각형을 그리는 프로그램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287984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호출을 이용한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시에르핀스키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Sierpinski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삼각형 그리기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import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turtle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tri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tri_len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tri_len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&lt;= 10: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3):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t.forward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tri_len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(120)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tri_len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/ 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tri(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e06-2-triangle.py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00608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4833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376615"/>
            <a:ext cx="7088957" cy="387788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t.forward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tri(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t.backward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t.forward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tri(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t.backward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t.speed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tri(160)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t.hideturtle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t.done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9608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7" y="2520173"/>
            <a:ext cx="3354468" cy="3141361"/>
          </a:xfrm>
          <a:prstGeom prst="rect">
            <a:avLst/>
          </a:prstGeom>
        </p:spPr>
      </p:pic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1780" y="5667048"/>
            <a:ext cx="3103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시에르핀스키의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삼각형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93849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D-3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나무를 그리는 프로그램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1045269" y="2917455"/>
            <a:ext cx="7088957" cy="308863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호출을 이용한 나무 모형 그리기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import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turtle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tree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br_len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br_len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&lt;= 5: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br_len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* 0.7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t.forward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br_len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(20)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tree(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(40)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tree(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e06-3-tree.py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14629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425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376615"/>
            <a:ext cx="7088957" cy="26617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(40)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tree(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(20)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t.backward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br_len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t.speed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(90)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tree(70)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t.hideturtle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t.done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8735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4907" y="5661534"/>
            <a:ext cx="3103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D-3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나무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7" y="2520173"/>
            <a:ext cx="3240723" cy="314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991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D-4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눈꽃을 그리는 프로그램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1045269" y="2917455"/>
            <a:ext cx="7088957" cy="29072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호출을 이용한 눈꽃 그리기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import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turtle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&lt;= 10: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t.forward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/ 3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e06-4-snow.py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033520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062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376615"/>
            <a:ext cx="7088957" cy="26617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(120)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t.left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(60)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new_len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t.speed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(150)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(120)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snow_line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(150)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t.right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(120)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766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06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하노이의 탑 옮기기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6640" y="5661534"/>
            <a:ext cx="3103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D-4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눈꽃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7" y="2530309"/>
            <a:ext cx="3124189" cy="313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34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4610</TotalTime>
  <Words>4476</Words>
  <Application>Microsoft Office PowerPoint</Application>
  <PresentationFormat>On-screen Show (4:3)</PresentationFormat>
  <Paragraphs>713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9" baseType="lpstr">
      <vt:lpstr>맑은 고딕</vt:lpstr>
      <vt:lpstr>Arial</vt:lpstr>
      <vt:lpstr>Calibri</vt:lpstr>
      <vt:lpstr>Calibri Light</vt:lpstr>
      <vt:lpstr>Wingdings</vt:lpstr>
      <vt:lpstr>Office 테마</vt:lpstr>
      <vt:lpstr>모두의 알고리즘 with 파이썬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박은경</dc:creator>
  <cp:lastModifiedBy>sclee</cp:lastModifiedBy>
  <cp:revision>921</cp:revision>
  <dcterms:created xsi:type="dcterms:W3CDTF">2017-06-26T15:41:10Z</dcterms:created>
  <dcterms:modified xsi:type="dcterms:W3CDTF">2017-07-05T20:06:22Z</dcterms:modified>
</cp:coreProperties>
</file>