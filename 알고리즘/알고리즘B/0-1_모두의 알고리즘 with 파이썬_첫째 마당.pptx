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8"/>
  </p:notesMasterIdLst>
  <p:sldIdLst>
    <p:sldId id="283" r:id="rId2"/>
    <p:sldId id="273" r:id="rId3"/>
    <p:sldId id="264" r:id="rId4"/>
    <p:sldId id="356" r:id="rId5"/>
    <p:sldId id="357" r:id="rId6"/>
    <p:sldId id="358" r:id="rId7"/>
    <p:sldId id="360" r:id="rId8"/>
    <p:sldId id="265" r:id="rId9"/>
    <p:sldId id="361" r:id="rId10"/>
    <p:sldId id="266" r:id="rId11"/>
    <p:sldId id="362" r:id="rId12"/>
    <p:sldId id="363" r:id="rId13"/>
    <p:sldId id="364" r:id="rId14"/>
    <p:sldId id="365" r:id="rId15"/>
    <p:sldId id="367" r:id="rId16"/>
    <p:sldId id="368" r:id="rId17"/>
    <p:sldId id="258" r:id="rId18"/>
    <p:sldId id="271" r:id="rId19"/>
    <p:sldId id="257" r:id="rId20"/>
    <p:sldId id="369" r:id="rId21"/>
    <p:sldId id="371" r:id="rId22"/>
    <p:sldId id="259" r:id="rId23"/>
    <p:sldId id="370" r:id="rId24"/>
    <p:sldId id="260" r:id="rId25"/>
    <p:sldId id="372" r:id="rId26"/>
    <p:sldId id="373" r:id="rId27"/>
    <p:sldId id="374" r:id="rId28"/>
    <p:sldId id="261" r:id="rId29"/>
    <p:sldId id="375" r:id="rId30"/>
    <p:sldId id="376" r:id="rId31"/>
    <p:sldId id="377" r:id="rId32"/>
    <p:sldId id="378" r:id="rId33"/>
    <p:sldId id="262" r:id="rId34"/>
    <p:sldId id="379" r:id="rId35"/>
    <p:sldId id="263" r:id="rId36"/>
    <p:sldId id="381" r:id="rId37"/>
    <p:sldId id="382" r:id="rId38"/>
    <p:sldId id="383" r:id="rId39"/>
    <p:sldId id="384" r:id="rId40"/>
    <p:sldId id="380" r:id="rId41"/>
    <p:sldId id="385" r:id="rId42"/>
    <p:sldId id="391" r:id="rId43"/>
    <p:sldId id="389" r:id="rId44"/>
    <p:sldId id="390" r:id="rId45"/>
    <p:sldId id="392" r:id="rId46"/>
    <p:sldId id="393" r:id="rId47"/>
    <p:sldId id="272" r:id="rId48"/>
    <p:sldId id="388" r:id="rId49"/>
    <p:sldId id="267" r:id="rId50"/>
    <p:sldId id="395" r:id="rId51"/>
    <p:sldId id="396" r:id="rId52"/>
    <p:sldId id="397" r:id="rId53"/>
    <p:sldId id="268" r:id="rId54"/>
    <p:sldId id="398" r:id="rId55"/>
    <p:sldId id="399" r:id="rId56"/>
    <p:sldId id="269" r:id="rId57"/>
    <p:sldId id="270" r:id="rId58"/>
    <p:sldId id="400" r:id="rId59"/>
    <p:sldId id="401" r:id="rId60"/>
    <p:sldId id="402" r:id="rId61"/>
    <p:sldId id="394" r:id="rId62"/>
    <p:sldId id="403" r:id="rId63"/>
    <p:sldId id="404" r:id="rId64"/>
    <p:sldId id="274" r:id="rId65"/>
    <p:sldId id="405" r:id="rId66"/>
    <p:sldId id="275" r:id="rId67"/>
    <p:sldId id="406" r:id="rId68"/>
    <p:sldId id="276" r:id="rId69"/>
    <p:sldId id="411" r:id="rId70"/>
    <p:sldId id="407" r:id="rId71"/>
    <p:sldId id="408" r:id="rId72"/>
    <p:sldId id="412" r:id="rId73"/>
    <p:sldId id="413" r:id="rId74"/>
    <p:sldId id="414" r:id="rId75"/>
    <p:sldId id="277" r:id="rId76"/>
    <p:sldId id="415" r:id="rId77"/>
    <p:sldId id="416" r:id="rId78"/>
    <p:sldId id="409" r:id="rId79"/>
    <p:sldId id="417" r:id="rId80"/>
    <p:sldId id="410" r:id="rId81"/>
    <p:sldId id="418" r:id="rId82"/>
    <p:sldId id="420" r:id="rId83"/>
    <p:sldId id="419" r:id="rId84"/>
    <p:sldId id="421" r:id="rId85"/>
    <p:sldId id="423" r:id="rId86"/>
    <p:sldId id="422" r:id="rId8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22D"/>
    <a:srgbClr val="EB666E"/>
    <a:srgbClr val="BFBFBF"/>
    <a:srgbClr val="E6E6E6"/>
    <a:srgbClr val="F1476E"/>
    <a:srgbClr val="FFE9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8" autoAdjust="0"/>
    <p:restoredTop sz="94660"/>
  </p:normalViewPr>
  <p:slideViewPr>
    <p:cSldViewPr snapToGrid="0">
      <p:cViewPr varScale="1">
        <p:scale>
          <a:sx n="82" d="100"/>
          <a:sy n="82" d="100"/>
        </p:scale>
        <p:origin x="175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58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56957-AC5E-45B8-8C65-922BF4FC696A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0482B-7498-4800-B9B8-DAD9653588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842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285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486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61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052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31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289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63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314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110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3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14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2D1D9-3135-4253-B735-17130A14BA83}" type="datetimeFigureOut">
              <a:rPr lang="ko-KR" altLang="en-US" smtClean="0"/>
              <a:t>2017-07-06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9ABD6-7D3D-4278-B9E5-086605E916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482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211418" y="1467875"/>
            <a:ext cx="6774321" cy="3833100"/>
            <a:chOff x="1211418" y="1467875"/>
            <a:chExt cx="6774321" cy="3833100"/>
          </a:xfrm>
        </p:grpSpPr>
        <p:sp>
          <p:nvSpPr>
            <p:cNvPr id="11" name="직사각형 10"/>
            <p:cNvSpPr/>
            <p:nvPr/>
          </p:nvSpPr>
          <p:spPr>
            <a:xfrm>
              <a:off x="1211418" y="1467875"/>
              <a:ext cx="6774321" cy="3833100"/>
            </a:xfrm>
            <a:prstGeom prst="rect">
              <a:avLst/>
            </a:prstGeom>
            <a:solidFill>
              <a:srgbClr val="EB6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43581" y="3902148"/>
              <a:ext cx="785529" cy="1396497"/>
            </a:xfrm>
            <a:prstGeom prst="rect">
              <a:avLst/>
            </a:prstGeom>
          </p:spPr>
        </p:pic>
      </p:grp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11417" y="2557554"/>
            <a:ext cx="6774321" cy="1014984"/>
          </a:xfrm>
        </p:spPr>
        <p:txBody>
          <a:bodyPr>
            <a:normAutofit/>
          </a:bodyPr>
          <a:lstStyle/>
          <a:p>
            <a:r>
              <a:rPr lang="ko-KR" altLang="en-US" sz="4400" b="1" dirty="0">
                <a:solidFill>
                  <a:schemeClr val="bg1"/>
                </a:solidFill>
              </a:rPr>
              <a:t>모두의 알고리즘 </a:t>
            </a:r>
            <a:r>
              <a:rPr lang="en-US" altLang="ko-KR" sz="3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with </a:t>
            </a:r>
            <a:r>
              <a:rPr lang="ko-KR" altLang="en-US" sz="3000" b="1" dirty="0" err="1">
                <a:solidFill>
                  <a:schemeClr val="bg1"/>
                </a:solidFill>
              </a:rPr>
              <a:t>파이썬</a:t>
            </a:r>
            <a:endParaRPr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1391482" y="3498107"/>
            <a:ext cx="6547104" cy="50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t>컴퓨팅 사고를 위한 기초 알고리즘</a:t>
            </a:r>
            <a:endParaRPr lang="ko-KR" altLang="en-US" sz="14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 flipV="1">
            <a:off x="1391482" y="3551272"/>
            <a:ext cx="6414095" cy="401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532" y="6203550"/>
            <a:ext cx="478536" cy="4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7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1054098"/>
            <a:ext cx="9144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6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본격적인 알고리즘 공부에 앞서</a:t>
            </a: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2079739" y="1565721"/>
            <a:ext cx="5020017" cy="10452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285014" y="2603190"/>
            <a:ext cx="620767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EB666E"/>
                </a:solidFill>
                <a:latin typeface="+mn-ea"/>
              </a:rPr>
              <a:t>01</a:t>
            </a:r>
            <a:r>
              <a:rPr lang="en-US" altLang="ko-KR" sz="2400" b="1" dirty="0">
                <a:latin typeface="+mn-ea"/>
              </a:rPr>
              <a:t>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알고리즘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EB666E"/>
                </a:solidFill>
                <a:latin typeface="+mn-ea"/>
              </a:rPr>
              <a:t>02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알고리즘 분석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EB666E"/>
                </a:solidFill>
                <a:latin typeface="+mn-ea"/>
              </a:rPr>
              <a:t>03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  </a:t>
            </a:r>
            <a:r>
              <a:rPr lang="ko-KR" altLang="en-US" sz="2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파이썬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프로그래밍 언어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9961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7056" y="1821131"/>
            <a:ext cx="6513921" cy="139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알고리즘은 어떤 문제를 풀기 위한 절차나 방법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알고리즘은 주어진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입력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을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출력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으로 만드는 과정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알고리즘의 각 단계는 구체적이고 명료해야 함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954" y="3473948"/>
            <a:ext cx="6001003" cy="25939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36400" y="5929430"/>
            <a:ext cx="1449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0-1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알고리즘</a:t>
            </a:r>
          </a:p>
        </p:txBody>
      </p:sp>
    </p:spTree>
    <p:extLst>
      <p:ext uri="{BB962C8B-B14F-4D97-AF65-F5344CB8AC3E}">
        <p14:creationId xmlns:p14="http://schemas.microsoft.com/office/powerpoint/2010/main" val="411516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7056" y="1821131"/>
            <a:ext cx="6513921" cy="139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문제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어떤 숫자의 절댓값 구하기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절댓값을 구할 실수 </a:t>
            </a:r>
            <a:r>
              <a:rPr lang="en-US" altLang="ko-KR" dirty="0">
                <a:latin typeface="+mn-ea"/>
              </a:rPr>
              <a:t>a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출력</a:t>
            </a:r>
            <a:r>
              <a:rPr lang="en-US" altLang="ko-KR" dirty="0">
                <a:latin typeface="+mn-ea"/>
              </a:rPr>
              <a:t>: a</a:t>
            </a:r>
            <a:r>
              <a:rPr lang="ko-KR" altLang="en-US" dirty="0">
                <a:latin typeface="+mn-ea"/>
              </a:rPr>
              <a:t>의 절댓값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07" y="3540233"/>
            <a:ext cx="5681641" cy="23922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83531" y="5929430"/>
            <a:ext cx="31518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0-2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절댓값을 구하는 알고리즘의 구조</a:t>
            </a:r>
          </a:p>
        </p:txBody>
      </p:sp>
    </p:spTree>
    <p:extLst>
      <p:ext uri="{BB962C8B-B14F-4D97-AF65-F5344CB8AC3E}">
        <p14:creationId xmlns:p14="http://schemas.microsoft.com/office/powerpoint/2010/main" val="2470724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7056" y="1821131"/>
            <a:ext cx="8020383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절댓값</a:t>
            </a:r>
            <a:r>
              <a:rPr lang="en-US" altLang="ko-KR" dirty="0">
                <a:latin typeface="+mn-ea"/>
              </a:rPr>
              <a:t>: 0</a:t>
            </a:r>
            <a:r>
              <a:rPr lang="ko-KR" altLang="en-US" dirty="0">
                <a:latin typeface="+mn-ea"/>
              </a:rPr>
              <a:t>부터 그 수까지의 거리에 해당하는 값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|a|</a:t>
            </a:r>
            <a:r>
              <a:rPr lang="ko-KR" altLang="en-US" dirty="0">
                <a:latin typeface="+mn-ea"/>
              </a:rPr>
              <a:t>와 같이 절댓값을 나타내는 기호인 세로 선</a:t>
            </a:r>
            <a:r>
              <a:rPr lang="en-US" altLang="ko-KR" dirty="0">
                <a:latin typeface="+mn-ea"/>
              </a:rPr>
              <a:t>(|)</a:t>
            </a:r>
            <a:r>
              <a:rPr lang="ko-KR" altLang="en-US" dirty="0">
                <a:latin typeface="+mn-ea"/>
              </a:rPr>
              <a:t>으로 수를 둘러싸서 표현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주어진 실수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양수 혹은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이면 </a:t>
            </a:r>
            <a:r>
              <a:rPr lang="en-US" altLang="ko-KR" dirty="0">
                <a:latin typeface="+mn-ea"/>
              </a:rPr>
              <a:t>a </a:t>
            </a:r>
            <a:r>
              <a:rPr lang="ko-KR" altLang="en-US" dirty="0">
                <a:latin typeface="+mn-ea"/>
              </a:rPr>
              <a:t>값이 그대로 절댓값이 됨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음수이면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에 마이너스</a:t>
            </a:r>
            <a:r>
              <a:rPr lang="en-US" altLang="ko-KR" dirty="0">
                <a:latin typeface="+mn-ea"/>
              </a:rPr>
              <a:t>(-)</a:t>
            </a:r>
            <a:r>
              <a:rPr lang="ko-KR" altLang="en-US" dirty="0">
                <a:latin typeface="+mn-ea"/>
              </a:rPr>
              <a:t>를 붙이면 절댓값이 됨</a:t>
            </a:r>
          </a:p>
        </p:txBody>
      </p:sp>
      <p:sp>
        <p:nvSpPr>
          <p:cNvPr id="3" name="아래쪽 화살표 2"/>
          <p:cNvSpPr/>
          <p:nvPr/>
        </p:nvSpPr>
        <p:spPr>
          <a:xfrm>
            <a:off x="3563332" y="3862493"/>
            <a:ext cx="546754" cy="517044"/>
          </a:xfrm>
          <a:prstGeom prst="downArrow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47055" y="4480424"/>
            <a:ext cx="8020383" cy="9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크거나 같은지 확인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→ 그렇다면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를 결과로 돌려줌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의 경우가 아니라면</a:t>
            </a:r>
            <a:r>
              <a:rPr lang="en-US" altLang="ko-KR" dirty="0">
                <a:latin typeface="+mn-ea"/>
              </a:rPr>
              <a:t>(a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작으면</a:t>
            </a:r>
            <a:r>
              <a:rPr lang="en-US" altLang="ko-KR" dirty="0">
                <a:latin typeface="+mn-ea"/>
              </a:rPr>
              <a:t>) –a</a:t>
            </a:r>
            <a:r>
              <a:rPr lang="ko-KR" altLang="en-US" dirty="0">
                <a:latin typeface="+mn-ea"/>
              </a:rPr>
              <a:t>를 결과로 돌려줌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498" y="5486853"/>
            <a:ext cx="2533638" cy="91007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24233" y="393817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EB666E"/>
                </a:solidFill>
              </a:rPr>
              <a:t>명료하게</a:t>
            </a:r>
          </a:p>
        </p:txBody>
      </p:sp>
    </p:spTree>
    <p:extLst>
      <p:ext uri="{BB962C8B-B14F-4D97-AF65-F5344CB8AC3E}">
        <p14:creationId xmlns:p14="http://schemas.microsoft.com/office/powerpoint/2010/main" val="2123299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5" y="1825807"/>
            <a:ext cx="8020383" cy="9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크거나 같은지 확인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→ 그렇다면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를 결과로 돌려줌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의 경우가 아니라면</a:t>
            </a:r>
            <a:r>
              <a:rPr lang="en-US" altLang="ko-KR" dirty="0">
                <a:latin typeface="+mn-ea"/>
              </a:rPr>
              <a:t>(a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작으면</a:t>
            </a:r>
            <a:r>
              <a:rPr lang="en-US" altLang="ko-KR" dirty="0">
                <a:latin typeface="+mn-ea"/>
              </a:rPr>
              <a:t>) –a</a:t>
            </a:r>
            <a:r>
              <a:rPr lang="ko-KR" altLang="en-US" dirty="0">
                <a:latin typeface="+mn-ea"/>
              </a:rPr>
              <a:t>를 결과로 돌려줌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498" y="2832236"/>
            <a:ext cx="2533638" cy="910071"/>
          </a:xfrm>
          <a:prstGeom prst="rect">
            <a:avLst/>
          </a:prstGeom>
        </p:spPr>
      </p:pic>
      <p:sp>
        <p:nvSpPr>
          <p:cNvPr id="14" name="아래쪽 화살표 13"/>
          <p:cNvSpPr/>
          <p:nvPr/>
        </p:nvSpPr>
        <p:spPr>
          <a:xfrm rot="16200000">
            <a:off x="1039121" y="3764809"/>
            <a:ext cx="546754" cy="517044"/>
          </a:xfrm>
          <a:prstGeom prst="downArrow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1571020" y="3838665"/>
            <a:ext cx="3575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EB666E"/>
                </a:solidFill>
              </a:rPr>
              <a:t>실수의 절댓값을 구하는 알고리즘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56" y="4440722"/>
            <a:ext cx="8020383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일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때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크거나 같음</a:t>
            </a:r>
            <a:r>
              <a:rPr lang="en-US" altLang="ko-KR" dirty="0">
                <a:latin typeface="+mn-ea"/>
              </a:rPr>
              <a:t>(a &gt;= 0) </a:t>
            </a: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의 경우</a:t>
            </a:r>
            <a:br>
              <a:rPr lang="en-US" altLang="ko-KR" dirty="0">
                <a:solidFill>
                  <a:srgbClr val="EB666E"/>
                </a:solidFill>
                <a:latin typeface="+mn-ea"/>
              </a:rPr>
            </a:br>
            <a:r>
              <a:rPr lang="en-US" altLang="ko-KR" dirty="0">
                <a:latin typeface="+mn-ea"/>
              </a:rPr>
              <a:t>a </a:t>
            </a:r>
            <a:r>
              <a:rPr lang="ko-KR" altLang="en-US" dirty="0">
                <a:latin typeface="+mn-ea"/>
              </a:rPr>
              <a:t>값인 </a:t>
            </a: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가 결과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 =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-3</a:t>
            </a:r>
            <a:r>
              <a:rPr lang="ko-KR" altLang="en-US" dirty="0">
                <a:latin typeface="+mn-ea"/>
              </a:rPr>
              <a:t>일 때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작음</a:t>
            </a:r>
            <a:r>
              <a:rPr lang="en-US" altLang="ko-KR" dirty="0">
                <a:latin typeface="+mn-ea"/>
              </a:rPr>
              <a:t>(a &lt; 0)</a:t>
            </a:r>
            <a:r>
              <a:rPr lang="ko-KR" altLang="en-US" dirty="0">
                <a:latin typeface="+mn-ea"/>
              </a:rPr>
              <a:t>  →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의 경우</a:t>
            </a:r>
            <a:br>
              <a:rPr lang="en-US" altLang="ko-KR" dirty="0">
                <a:solidFill>
                  <a:srgbClr val="EB666E"/>
                </a:solidFill>
                <a:latin typeface="+mn-ea"/>
              </a:rPr>
            </a:br>
            <a:r>
              <a:rPr lang="en-US" altLang="ko-KR" dirty="0">
                <a:latin typeface="+mn-ea"/>
              </a:rPr>
              <a:t>-a </a:t>
            </a:r>
            <a:r>
              <a:rPr lang="ko-KR" altLang="en-US" dirty="0">
                <a:latin typeface="+mn-ea"/>
              </a:rPr>
              <a:t>값인 </a:t>
            </a:r>
            <a:r>
              <a:rPr lang="en-US" altLang="ko-KR" dirty="0">
                <a:latin typeface="+mn-ea"/>
              </a:rPr>
              <a:t>-(-3) = 3</a:t>
            </a:r>
            <a:r>
              <a:rPr lang="ko-KR" altLang="en-US" dirty="0">
                <a:latin typeface="+mn-ea"/>
              </a:rPr>
              <a:t>이므로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이 결과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5364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5" y="1825807"/>
            <a:ext cx="8020383" cy="9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크거나 같은지 확인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→ 그렇다면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를 결과로 돌려줌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의 경우가 아니라면</a:t>
            </a:r>
            <a:r>
              <a:rPr lang="en-US" altLang="ko-KR" dirty="0">
                <a:latin typeface="+mn-ea"/>
              </a:rPr>
              <a:t>(a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작으면</a:t>
            </a:r>
            <a:r>
              <a:rPr lang="en-US" altLang="ko-KR" dirty="0">
                <a:latin typeface="+mn-ea"/>
              </a:rPr>
              <a:t>) –a</a:t>
            </a:r>
            <a:r>
              <a:rPr lang="ko-KR" altLang="en-US" dirty="0">
                <a:latin typeface="+mn-ea"/>
              </a:rPr>
              <a:t>를 결과로 돌려줌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498" y="2832236"/>
            <a:ext cx="2533638" cy="9100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056" y="4436829"/>
            <a:ext cx="7799360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이처럼 컴퓨터 프로그램을 만들기 위한 알고리즘은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계산 과정을 최대한 구체적이고 명료하게 적어야 함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컴퓨터는 주어진 명령에 따라 계산을 수행하는 기계이므로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알고리즘이 구체적이지 않으면 올바르게 계산할 수 없음</a:t>
            </a:r>
          </a:p>
        </p:txBody>
      </p:sp>
      <p:sp>
        <p:nvSpPr>
          <p:cNvPr id="20" name="아래쪽 화살표 19"/>
          <p:cNvSpPr/>
          <p:nvPr/>
        </p:nvSpPr>
        <p:spPr>
          <a:xfrm>
            <a:off x="4417618" y="3831046"/>
            <a:ext cx="546754" cy="517044"/>
          </a:xfrm>
          <a:prstGeom prst="downArrow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233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어떤 문제를 푸는 방법이 꼭 한 가지만 있는 것은 아님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25" y="4205609"/>
            <a:ext cx="1543050" cy="638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7056" y="2723277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절댓값을 구하는 방법들 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eriod"/>
            </a:pP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큰지 </a:t>
            </a:r>
            <a:r>
              <a:rPr lang="ko-KR" altLang="en-US" dirty="0" err="1">
                <a:latin typeface="+mn-ea"/>
              </a:rPr>
              <a:t>작은지를</a:t>
            </a:r>
            <a:r>
              <a:rPr lang="ko-KR" altLang="en-US" dirty="0">
                <a:latin typeface="+mn-ea"/>
              </a:rPr>
              <a:t> 비교해 부호를 확인하는 방법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주어진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를 제곱한 다음 그 값의 제곱근을 취하는 방법</a:t>
            </a:r>
          </a:p>
        </p:txBody>
      </p:sp>
    </p:spTree>
    <p:extLst>
      <p:ext uri="{BB962C8B-B14F-4D97-AF65-F5344CB8AC3E}">
        <p14:creationId xmlns:p14="http://schemas.microsoft.com/office/powerpoint/2010/main" val="409001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110444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한 가지 문제를 푸는 여러 가지 방법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여러 가지 알고리즘 중에 상황에 맞는 적당한 알고리즘을 골라 쓰려면 어떤 알고리즘이 어떤 특징을 지니고 있으며 얼마나 계산이 빠르고 편한지 등을 알아야 함</a:t>
            </a:r>
            <a:endParaRPr lang="en-US" altLang="ko-KR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3350255" y="3699635"/>
            <a:ext cx="546754" cy="517044"/>
          </a:xfrm>
          <a:prstGeom prst="downArrow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911156" y="3775312"/>
            <a:ext cx="2137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EB666E"/>
                </a:solidFill>
              </a:rPr>
              <a:t>알고리즘 분석 필요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47055" y="4505185"/>
            <a:ext cx="8020384" cy="493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 분석은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알고리즘의 성능이나 특징을 분석하는 것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3652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파이썬</a:t>
            </a:r>
            <a:r>
              <a:rPr lang="ko-KR" altLang="en-US" sz="2800" b="1" dirty="0">
                <a:latin typeface="+mn-ea"/>
              </a:rPr>
              <a:t> 프로그래밍 언어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110" y="3188521"/>
            <a:ext cx="6391275" cy="16097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47056" y="1821131"/>
            <a:ext cx="6513921" cy="9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+mn-ea"/>
              </a:rPr>
              <a:t>파이썬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로 준비하기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+mn-ea"/>
              </a:rPr>
              <a:t>파이썬을</a:t>
            </a:r>
            <a:r>
              <a:rPr lang="ko-KR" altLang="en-US" dirty="0">
                <a:latin typeface="+mn-ea"/>
              </a:rPr>
              <a:t> 실행해서 버전 확인하기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863354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0-3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파이썬을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실행해서 버전을 확인하기</a:t>
            </a:r>
          </a:p>
        </p:txBody>
      </p:sp>
    </p:spTree>
    <p:extLst>
      <p:ext uri="{BB962C8B-B14F-4D97-AF65-F5344CB8AC3E}">
        <p14:creationId xmlns:p14="http://schemas.microsoft.com/office/powerpoint/2010/main" val="1038889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파이썬</a:t>
            </a:r>
            <a:r>
              <a:rPr lang="ko-KR" altLang="en-US" sz="2800" b="1" dirty="0">
                <a:latin typeface="+mn-ea"/>
              </a:rPr>
              <a:t> 프로그래밍 언어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절댓값 구하기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56" y="2472546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의 절댓값 구하기 알고리즘 ①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부호 판단 →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abs_sign</a:t>
            </a:r>
            <a:r>
              <a:rPr lang="en-US" altLang="ko-KR" dirty="0">
                <a:latin typeface="+mn-ea"/>
              </a:rPr>
              <a:t>(a)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952920" y="2917766"/>
            <a:ext cx="7714519" cy="942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크거나 같은지 확인 → 그렇다면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를 결과로 돌려줌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위의 경우가 아니라면</a:t>
            </a:r>
            <a:r>
              <a:rPr lang="en-US" altLang="ko-KR" dirty="0">
                <a:latin typeface="+mn-ea"/>
              </a:rPr>
              <a:t>(a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보다 작다면</a:t>
            </a:r>
            <a:r>
              <a:rPr lang="en-US" altLang="ko-KR" dirty="0">
                <a:latin typeface="+mn-ea"/>
              </a:rPr>
              <a:t>) -a</a:t>
            </a:r>
            <a:r>
              <a:rPr lang="ko-KR" altLang="en-US" dirty="0">
                <a:latin typeface="+mn-ea"/>
              </a:rPr>
              <a:t>를 결과로 돌려줌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9" y="3840297"/>
            <a:ext cx="2714625" cy="1104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056" y="4945197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 startAt="2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의 절댓값 구하기 알고리즘 ②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제곱 후 제곱근 →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 err="1">
                <a:latin typeface="+mn-ea"/>
              </a:rPr>
              <a:t>abs_square</a:t>
            </a:r>
            <a:r>
              <a:rPr lang="en-US" altLang="ko-KR" dirty="0">
                <a:latin typeface="+mn-ea"/>
              </a:rPr>
              <a:t>(a)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952920" y="5409079"/>
            <a:ext cx="7714519" cy="942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를 제곱하여 변수 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에 저장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의 제곱근을 구해 결과로 돌려줌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502" y="5404645"/>
            <a:ext cx="1457325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79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파이썬</a:t>
            </a:r>
            <a:r>
              <a:rPr lang="ko-KR" altLang="en-US" sz="2800" b="1" dirty="0">
                <a:latin typeface="+mn-ea"/>
              </a:rPr>
              <a:t> 프로그래밍 언어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6513921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0-1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절댓값 구하기 알고리즘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45269" y="2917458"/>
            <a:ext cx="7088957" cy="294116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import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math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수학 모듈 사용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절댓값 알고리즘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부호 판단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실수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절댓값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abs_sign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 &gt;= 0: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else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-a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601683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p00-1-abs.py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1576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파이썬</a:t>
            </a:r>
            <a:r>
              <a:rPr lang="ko-KR" altLang="en-US" sz="2800" b="1" dirty="0">
                <a:latin typeface="+mn-ea"/>
              </a:rPr>
              <a:t> 프로그래밍 언어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027521" y="2415920"/>
            <a:ext cx="7088957" cy="350988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절댓값 알고리즘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제곱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-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제곱근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실수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a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a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 절댓값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abs_square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b = a * a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math.sqrt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(b)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수학 모듈의 제곱근 함수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abs_sign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(5))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abs_sign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(-3))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abs_square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(5))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abs_square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(-3))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502547" y="2127414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880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파이썬</a:t>
            </a:r>
            <a:r>
              <a:rPr lang="ko-KR" altLang="en-US" sz="2800" b="1" dirty="0">
                <a:latin typeface="+mn-ea"/>
              </a:rPr>
              <a:t> 프로그래밍 언어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45269" y="2568666"/>
            <a:ext cx="7088957" cy="13623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5.0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3.0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056" y="4267237"/>
            <a:ext cx="802038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+mn-ea"/>
              </a:rPr>
              <a:t>파이썬의</a:t>
            </a:r>
            <a:r>
              <a:rPr lang="ko-KR" altLang="en-US" dirty="0">
                <a:latin typeface="+mn-ea"/>
              </a:rPr>
              <a:t> 제곱근 함수인 </a:t>
            </a:r>
            <a:r>
              <a:rPr lang="en-US" altLang="ko-KR" dirty="0" err="1">
                <a:latin typeface="+mn-ea"/>
              </a:rPr>
              <a:t>math.sqrt</a:t>
            </a:r>
            <a:r>
              <a:rPr lang="en-US" altLang="ko-KR" dirty="0">
                <a:latin typeface="+mn-ea"/>
              </a:rPr>
              <a:t>(b)</a:t>
            </a:r>
            <a:r>
              <a:rPr lang="ko-KR" altLang="en-US" dirty="0">
                <a:latin typeface="+mn-ea"/>
              </a:rPr>
              <a:t>는 소수점이 붙은 값을 돌려줌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는 </a:t>
            </a:r>
            <a:r>
              <a:rPr lang="en-US" altLang="ko-KR" dirty="0">
                <a:latin typeface="+mn-ea"/>
              </a:rPr>
              <a:t>5.0</a:t>
            </a:r>
            <a:r>
              <a:rPr lang="ko-KR" altLang="en-US" dirty="0">
                <a:latin typeface="+mn-ea"/>
              </a:rPr>
              <a:t>과 같고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은 </a:t>
            </a:r>
            <a:r>
              <a:rPr lang="en-US" altLang="ko-KR" dirty="0">
                <a:latin typeface="+mn-ea"/>
              </a:rPr>
              <a:t>3.0</a:t>
            </a:r>
            <a:r>
              <a:rPr lang="ko-KR" altLang="en-US" dirty="0">
                <a:latin typeface="+mn-ea"/>
              </a:rPr>
              <a:t>과 같은 결과</a:t>
            </a:r>
          </a:p>
        </p:txBody>
      </p:sp>
    </p:spTree>
    <p:extLst>
      <p:ext uri="{BB962C8B-B14F-4D97-AF65-F5344CB8AC3E}">
        <p14:creationId xmlns:p14="http://schemas.microsoft.com/office/powerpoint/2010/main" val="1166199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파이썬</a:t>
            </a:r>
            <a:r>
              <a:rPr lang="ko-KR" altLang="en-US" sz="2800" b="1" dirty="0">
                <a:latin typeface="+mn-ea"/>
              </a:rPr>
              <a:t> 프로그래밍 언어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6513921" cy="139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웹에서 </a:t>
            </a:r>
            <a:r>
              <a:rPr lang="ko-KR" altLang="en-US" dirty="0" err="1">
                <a:solidFill>
                  <a:srgbClr val="EB666E"/>
                </a:solidFill>
                <a:latin typeface="+mn-ea"/>
              </a:rPr>
              <a:t>파이썬</a:t>
            </a:r>
            <a:r>
              <a:rPr lang="ko-KR" altLang="en-US" dirty="0">
                <a:solidFill>
                  <a:srgbClr val="EB666E"/>
                </a:solidFill>
                <a:latin typeface="+mn-ea"/>
              </a:rPr>
              <a:t> 사용하기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https://repl.it</a:t>
            </a:r>
            <a:r>
              <a:rPr lang="ko-KR" altLang="en-US" dirty="0">
                <a:latin typeface="+mn-ea"/>
              </a:rPr>
              <a:t>에 접속 해서 </a:t>
            </a:r>
            <a:r>
              <a:rPr lang="en-US" altLang="ko-KR" dirty="0">
                <a:latin typeface="+mn-ea"/>
              </a:rPr>
              <a:t>Python 3</a:t>
            </a:r>
            <a:r>
              <a:rPr lang="ko-KR" altLang="en-US" dirty="0">
                <a:latin typeface="+mn-ea"/>
              </a:rPr>
              <a:t>을 선택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주소 창에 </a:t>
            </a:r>
            <a:r>
              <a:rPr lang="en-US" altLang="ko-KR" dirty="0">
                <a:latin typeface="+mn-ea"/>
              </a:rPr>
              <a:t>https://repl.it/languages/python3</a:t>
            </a:r>
            <a:r>
              <a:rPr lang="ko-KR" altLang="en-US" dirty="0">
                <a:latin typeface="+mn-ea"/>
              </a:rPr>
              <a:t>을 입력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244" y="3535052"/>
            <a:ext cx="4508636" cy="26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73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본격적인 알고리즘 공부에 앞서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+mn-ea"/>
              </a:rPr>
              <a:t>파이썬</a:t>
            </a:r>
            <a:r>
              <a:rPr lang="ko-KR" altLang="en-US" sz="2800" b="1" dirty="0">
                <a:latin typeface="+mn-ea"/>
              </a:rPr>
              <a:t> 프로그래밍 언어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회원 가입을 하면 입력한 프로그램을 저장할 수도 있음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334" y="2778868"/>
            <a:ext cx="7743825" cy="304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410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0" y="980946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solidFill>
                  <a:srgbClr val="EB666E"/>
                </a:solidFill>
              </a:rPr>
              <a:t>첫째 마당 </a:t>
            </a:r>
            <a:r>
              <a:rPr lang="ko-KR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알고리즘 기초</a:t>
            </a:r>
          </a:p>
        </p:txBody>
      </p:sp>
      <p:cxnSp>
        <p:nvCxnSpPr>
          <p:cNvPr id="5" name="직선 연결선 4"/>
          <p:cNvCxnSpPr/>
          <p:nvPr/>
        </p:nvCxnSpPr>
        <p:spPr>
          <a:xfrm flipV="1">
            <a:off x="2079739" y="1565721"/>
            <a:ext cx="5020017" cy="10452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/>
        </p:nvSpPr>
        <p:spPr>
          <a:xfrm>
            <a:off x="1285014" y="2603190"/>
            <a:ext cx="6207674" cy="2790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400" b="1" dirty="0">
                <a:latin typeface="+mn-ea"/>
              </a:rPr>
              <a:t> 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1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부터 </a:t>
            </a:r>
            <a:r>
              <a:rPr lang="en-US" altLang="ko-KR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n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까지의 합 구하기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최댓값 찾기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4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  </a:t>
            </a:r>
            <a:r>
              <a:rPr lang="ko-KR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동명이인 찾기①</a:t>
            </a:r>
            <a:endParaRPr lang="en-US" altLang="ko-KR" sz="2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6780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1699773" y="3623320"/>
            <a:ext cx="5779950" cy="1113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 </a:t>
            </a:r>
            <a:r>
              <a:rPr lang="en-US" altLang="ko-K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1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부터 </a:t>
            </a:r>
            <a:r>
              <a:rPr lang="en-US" altLang="ko-KR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n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까지의 합 구하기</a:t>
            </a:r>
          </a:p>
        </p:txBody>
      </p:sp>
    </p:spTree>
    <p:extLst>
      <p:ext uri="{BB962C8B-B14F-4D97-AF65-F5344CB8AC3E}">
        <p14:creationId xmlns:p14="http://schemas.microsoft.com/office/powerpoint/2010/main" val="4069455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+mn-ea"/>
              </a:rPr>
              <a:t> 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b="1" dirty="0">
                <a:latin typeface="+mn-ea"/>
              </a:rPr>
              <a:t>1</a:t>
            </a:r>
            <a:r>
              <a:rPr lang="ko-KR" altLang="en-US" b="1" dirty="0">
                <a:latin typeface="+mn-ea"/>
              </a:rPr>
              <a:t>부터 </a:t>
            </a:r>
            <a:r>
              <a:rPr lang="en-US" altLang="ko-KR" b="1" dirty="0">
                <a:latin typeface="+mn-ea"/>
              </a:rPr>
              <a:t>n</a:t>
            </a:r>
            <a:r>
              <a:rPr lang="ko-KR" altLang="en-US" b="1" dirty="0">
                <a:latin typeface="+mn-ea"/>
              </a:rPr>
              <a:t>까지 연속한 정수의 합을 구하는 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까지의 수를 모두 더하면</a:t>
            </a:r>
            <a:r>
              <a:rPr lang="en-US" altLang="ko-KR" dirty="0">
                <a:latin typeface="+mn-ea"/>
              </a:rPr>
              <a:t>? 55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100</a:t>
            </a:r>
            <a:r>
              <a:rPr lang="ko-KR" altLang="en-US" dirty="0">
                <a:latin typeface="+mn-ea"/>
              </a:rPr>
              <a:t>까지의 수를 모두 더하면</a:t>
            </a:r>
            <a:r>
              <a:rPr lang="en-US" altLang="ko-KR" dirty="0">
                <a:latin typeface="+mn-ea"/>
              </a:rPr>
              <a:t>? 5050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0853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알고리즘의 중요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446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문제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알고리즘은 주어진 문제를 풀기 위한 절차나 방법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알고리즘이 있으려면 반드시 문제가 필요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여기서는 </a:t>
            </a:r>
            <a:r>
              <a:rPr lang="en-US" altLang="ko-KR" dirty="0">
                <a:latin typeface="+mn-ea"/>
              </a:rPr>
              <a:t>‘1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 연속한 숫자의 합 구하기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가 바로 문제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입력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알고리즘은 주어진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입력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을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출력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으로 만드는 과정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 문제에서 입력은 ‘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까지’에 해당하는 </a:t>
            </a:r>
            <a:r>
              <a:rPr lang="en-US" altLang="ko-KR" dirty="0">
                <a:latin typeface="+mn-ea"/>
              </a:rPr>
              <a:t>n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을 입력으로 하는 문제를 만들면 만들어진 알고리즘으로 다양한 입력에 대한 결과를 얻을 수 있음</a:t>
            </a:r>
          </a:p>
        </p:txBody>
      </p:sp>
    </p:spTree>
    <p:extLst>
      <p:ext uri="{BB962C8B-B14F-4D97-AF65-F5344CB8AC3E}">
        <p14:creationId xmlns:p14="http://schemas.microsoft.com/office/powerpoint/2010/main" val="2230150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알고리즘의 중요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출력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 = 10</a:t>
            </a:r>
            <a:r>
              <a:rPr lang="ko-KR" altLang="en-US" dirty="0">
                <a:latin typeface="+mn-ea"/>
              </a:rPr>
              <a:t>이면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까지의 합은 </a:t>
            </a:r>
            <a:r>
              <a:rPr lang="en-US" altLang="ko-KR" dirty="0">
                <a:latin typeface="+mn-ea"/>
              </a:rPr>
              <a:t>55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 = 100</a:t>
            </a:r>
            <a:r>
              <a:rPr lang="ko-KR" altLang="en-US" dirty="0">
                <a:latin typeface="+mn-ea"/>
              </a:rPr>
              <a:t>이면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100</a:t>
            </a:r>
            <a:r>
              <a:rPr lang="ko-KR" altLang="en-US" dirty="0">
                <a:latin typeface="+mn-ea"/>
              </a:rPr>
              <a:t>까지의 합은 </a:t>
            </a:r>
            <a:r>
              <a:rPr lang="en-US" altLang="ko-KR" dirty="0">
                <a:latin typeface="+mn-ea"/>
              </a:rPr>
              <a:t>5050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55</a:t>
            </a:r>
            <a:r>
              <a:rPr lang="ko-KR" altLang="en-US" dirty="0">
                <a:latin typeface="+mn-ea"/>
              </a:rPr>
              <a:t>와 </a:t>
            </a:r>
            <a:r>
              <a:rPr lang="en-US" altLang="ko-KR" dirty="0">
                <a:latin typeface="+mn-ea"/>
              </a:rPr>
              <a:t>5050</a:t>
            </a:r>
            <a:r>
              <a:rPr lang="ko-KR" altLang="en-US" dirty="0">
                <a:latin typeface="+mn-ea"/>
              </a:rPr>
              <a:t>이 각각의 입력에 대한 출력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72831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구체적이고 명료한 계산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2631836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1 </a:t>
            </a:r>
            <a:r>
              <a:rPr lang="ko-KR" altLang="en-US" dirty="0">
                <a:latin typeface="+mn-ea"/>
              </a:rPr>
              <a:t>더하기 </a:t>
            </a: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를 계산한 결과인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을 머릿속에 기억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기억해 둔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에 다음 숫자 </a:t>
            </a:r>
            <a:r>
              <a:rPr lang="en-US" altLang="ko-KR" dirty="0">
                <a:latin typeface="+mn-ea"/>
              </a:rPr>
              <a:t>3</a:t>
            </a:r>
            <a:r>
              <a:rPr lang="ko-KR" altLang="en-US" dirty="0">
                <a:latin typeface="+mn-ea"/>
              </a:rPr>
              <a:t>을 더해 </a:t>
            </a:r>
            <a:r>
              <a:rPr lang="en-US" altLang="ko-KR" dirty="0">
                <a:latin typeface="+mn-ea"/>
              </a:rPr>
              <a:t>6</a:t>
            </a:r>
            <a:r>
              <a:rPr lang="ko-KR" altLang="en-US" dirty="0">
                <a:latin typeface="+mn-ea"/>
              </a:rPr>
              <a:t>을 기억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기억해 둔 </a:t>
            </a:r>
            <a:r>
              <a:rPr lang="en-US" altLang="ko-KR" dirty="0">
                <a:latin typeface="+mn-ea"/>
              </a:rPr>
              <a:t>6</a:t>
            </a:r>
            <a:r>
              <a:rPr lang="ko-KR" altLang="en-US" dirty="0">
                <a:latin typeface="+mn-ea"/>
              </a:rPr>
              <a:t>에 다음 숫자 </a:t>
            </a:r>
            <a:r>
              <a:rPr lang="en-US" altLang="ko-KR" dirty="0">
                <a:latin typeface="+mn-ea"/>
              </a:rPr>
              <a:t>4</a:t>
            </a:r>
            <a:r>
              <a:rPr lang="ko-KR" altLang="en-US" dirty="0">
                <a:latin typeface="+mn-ea"/>
              </a:rPr>
              <a:t>를 더해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을 기억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기억해 둔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에 다음 숫자 </a:t>
            </a: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를 더해 </a:t>
            </a:r>
            <a:r>
              <a:rPr lang="en-US" altLang="ko-KR" dirty="0">
                <a:latin typeface="+mn-ea"/>
              </a:rPr>
              <a:t>15</a:t>
            </a:r>
            <a:r>
              <a:rPr lang="ko-KR" altLang="en-US" dirty="0">
                <a:latin typeface="+mn-ea"/>
              </a:rPr>
              <a:t>를 기억</a:t>
            </a: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5~8)  </a:t>
            </a:r>
            <a:r>
              <a:rPr lang="ko-KR" altLang="en-US" dirty="0">
                <a:latin typeface="+mn-ea"/>
              </a:rPr>
              <a:t>같은 과정 반복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9)  </a:t>
            </a:r>
            <a:r>
              <a:rPr lang="ko-KR" altLang="en-US" dirty="0">
                <a:latin typeface="+mn-ea"/>
              </a:rPr>
              <a:t>기억해 둔 </a:t>
            </a:r>
            <a:r>
              <a:rPr lang="en-US" altLang="ko-KR" dirty="0">
                <a:latin typeface="+mn-ea"/>
              </a:rPr>
              <a:t>45</a:t>
            </a:r>
            <a:r>
              <a:rPr lang="ko-KR" altLang="en-US" dirty="0">
                <a:latin typeface="+mn-ea"/>
              </a:rPr>
              <a:t>에 다음 숫자인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을 더해 </a:t>
            </a:r>
            <a:r>
              <a:rPr lang="en-US" altLang="ko-KR" dirty="0">
                <a:latin typeface="+mn-ea"/>
              </a:rPr>
              <a:t>55</a:t>
            </a:r>
            <a:r>
              <a:rPr lang="ko-KR" altLang="en-US" dirty="0">
                <a:latin typeface="+mn-ea"/>
              </a:rPr>
              <a:t>를 기억</a:t>
            </a: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10) 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까지 다 </a:t>
            </a:r>
            <a:r>
              <a:rPr lang="ko-KR" altLang="en-US" dirty="0" err="1">
                <a:latin typeface="+mn-ea"/>
              </a:rPr>
              <a:t>더했으므로</a:t>
            </a:r>
            <a:r>
              <a:rPr lang="ko-KR" altLang="en-US" dirty="0">
                <a:latin typeface="+mn-ea"/>
              </a:rPr>
              <a:t> 마지막에 기억된 </a:t>
            </a:r>
            <a:r>
              <a:rPr lang="en-US" altLang="ko-KR" dirty="0">
                <a:latin typeface="+mn-ea"/>
              </a:rPr>
              <a:t>55</a:t>
            </a:r>
            <a:r>
              <a:rPr lang="ko-KR" altLang="en-US" dirty="0">
                <a:latin typeface="+mn-ea"/>
              </a:rPr>
              <a:t>를 답으로 제시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우리는 다음과 같은 방식으로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까지의 합을 구하고 있음</a:t>
            </a:r>
          </a:p>
        </p:txBody>
      </p:sp>
    </p:spTree>
    <p:extLst>
      <p:ext uri="{BB962C8B-B14F-4D97-AF65-F5344CB8AC3E}">
        <p14:creationId xmlns:p14="http://schemas.microsoft.com/office/powerpoint/2010/main" val="3314481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구체적이고 명료한 계산 과정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5262048"/>
            <a:ext cx="778993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사람과 달리 컴퓨터는 주어진 명령을 기계적으로 수행하는 장치이므로 기계가 알아들을 수 있는 명료하고 구체적인 알고리즘이 있어야 함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602" y="1863387"/>
            <a:ext cx="4464868" cy="28782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4747196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10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합을 구하는 과정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(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사람의 생각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)</a:t>
            </a:r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83232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+mn-ea"/>
              </a:rPr>
              <a:t>1</a:t>
            </a:r>
            <a:r>
              <a:rPr lang="ko-KR" altLang="en-US" sz="2800" b="1" dirty="0">
                <a:latin typeface="+mn-ea"/>
              </a:rPr>
              <a:t>부터 </a:t>
            </a:r>
            <a:r>
              <a:rPr lang="en-US" altLang="ko-KR" sz="2800" b="1" dirty="0">
                <a:latin typeface="+mn-ea"/>
              </a:rPr>
              <a:t>n</a:t>
            </a:r>
            <a:r>
              <a:rPr lang="ko-KR" altLang="en-US" sz="2800" b="1" dirty="0">
                <a:latin typeface="+mn-ea"/>
              </a:rPr>
              <a:t>까지의 합을 구하는 알고리즘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900" y="1863387"/>
            <a:ext cx="6056276" cy="40053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5937560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합을 구하는 알고리즘의 구조와 예</a:t>
            </a:r>
          </a:p>
        </p:txBody>
      </p:sp>
    </p:spTree>
    <p:extLst>
      <p:ext uri="{BB962C8B-B14F-4D97-AF65-F5344CB8AC3E}">
        <p14:creationId xmlns:p14="http://schemas.microsoft.com/office/powerpoint/2010/main" val="2021819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+mn-ea"/>
              </a:rPr>
              <a:t>1</a:t>
            </a:r>
            <a:r>
              <a:rPr lang="ko-KR" altLang="en-US" sz="2800" b="1" dirty="0">
                <a:latin typeface="+mn-ea"/>
              </a:rPr>
              <a:t>부터 </a:t>
            </a:r>
            <a:r>
              <a:rPr lang="en-US" altLang="ko-KR" sz="2800" b="1" dirty="0">
                <a:latin typeface="+mn-ea"/>
              </a:rPr>
              <a:t>n</a:t>
            </a:r>
            <a:r>
              <a:rPr lang="ko-KR" altLang="en-US" sz="2800" b="1" dirty="0">
                <a:latin typeface="+mn-ea"/>
              </a:rPr>
              <a:t>까지의 합을 구하는 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 연속한 숫자의 합을 구하는 문제를 풀기 위한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56" y="2631836"/>
            <a:ext cx="8020383" cy="1856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합을 기록할 변수 </a:t>
            </a:r>
            <a:r>
              <a:rPr lang="en-US" altLang="ko-KR" dirty="0">
                <a:latin typeface="+mn-ea"/>
              </a:rPr>
              <a:t>s</a:t>
            </a:r>
            <a:r>
              <a:rPr lang="ko-KR" altLang="en-US" dirty="0">
                <a:latin typeface="+mn-ea"/>
              </a:rPr>
              <a:t>를 만들고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을 저장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변수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만들어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숫자를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씩 증가시키며 반복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en-US" altLang="ko-KR" dirty="0">
                <a:latin typeface="+mn-ea"/>
              </a:rPr>
              <a:t>[</a:t>
            </a:r>
            <a:r>
              <a:rPr lang="ko-KR" altLang="en-US" dirty="0">
                <a:latin typeface="+mn-ea"/>
              </a:rPr>
              <a:t>반복 블록</a:t>
            </a:r>
            <a:r>
              <a:rPr lang="en-US" altLang="ko-KR" dirty="0">
                <a:latin typeface="+mn-ea"/>
              </a:rPr>
              <a:t>] </a:t>
            </a:r>
            <a:r>
              <a:rPr lang="ko-KR" altLang="en-US" dirty="0">
                <a:latin typeface="+mn-ea"/>
              </a:rPr>
              <a:t>기존의 </a:t>
            </a:r>
            <a:r>
              <a:rPr lang="en-US" altLang="ko-KR" dirty="0">
                <a:latin typeface="+mn-ea"/>
              </a:rPr>
              <a:t>s</a:t>
            </a:r>
            <a:r>
              <a:rPr lang="ko-KR" altLang="en-US" dirty="0">
                <a:latin typeface="+mn-ea"/>
              </a:rPr>
              <a:t>에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더하여 얻은 값을 다시 </a:t>
            </a:r>
            <a:r>
              <a:rPr lang="en-US" altLang="ko-KR" dirty="0">
                <a:latin typeface="+mn-ea"/>
              </a:rPr>
              <a:t>s</a:t>
            </a:r>
            <a:r>
              <a:rPr lang="ko-KR" altLang="en-US" dirty="0">
                <a:latin typeface="+mn-ea"/>
              </a:rPr>
              <a:t>에 저장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반복이 끝났을 때 </a:t>
            </a:r>
            <a:r>
              <a:rPr lang="en-US" altLang="ko-KR" dirty="0">
                <a:latin typeface="+mn-ea"/>
              </a:rPr>
              <a:t>s</a:t>
            </a:r>
            <a:r>
              <a:rPr lang="ko-KR" altLang="en-US" dirty="0">
                <a:latin typeface="+mn-ea"/>
              </a:rPr>
              <a:t>에 저장된 값이 </a:t>
            </a:r>
            <a:r>
              <a:rPr lang="ko-KR" altLang="en-US" dirty="0" err="1">
                <a:latin typeface="+mn-ea"/>
              </a:rPr>
              <a:t>결괏값</a:t>
            </a:r>
            <a:endParaRPr lang="ko-KR" altLang="en-US" dirty="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056" y="4803888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알고리즘을 하나의 함수로 만들어 입력은 인자로 전달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출력은 함수의 </a:t>
            </a:r>
            <a:r>
              <a:rPr lang="ko-KR" altLang="en-US" dirty="0" err="1"/>
              <a:t>결괏값</a:t>
            </a:r>
            <a:r>
              <a:rPr lang="en-US" altLang="ko-KR" dirty="0"/>
              <a:t>(return </a:t>
            </a:r>
            <a:r>
              <a:rPr lang="ko-KR" altLang="en-US" dirty="0"/>
              <a:t>값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알고리즘은 </a:t>
            </a:r>
            <a:r>
              <a:rPr lang="en-US" altLang="ko-KR" dirty="0"/>
              <a:t>‘</a:t>
            </a:r>
            <a:r>
              <a:rPr lang="ko-KR" altLang="en-US" dirty="0"/>
              <a:t>입력 → 알고리즘 → 출력</a:t>
            </a:r>
            <a:r>
              <a:rPr lang="en-US" altLang="ko-KR" dirty="0"/>
              <a:t>’</a:t>
            </a:r>
            <a:r>
              <a:rPr lang="ko-KR" altLang="en-US" dirty="0"/>
              <a:t>을 수행하는 과정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59095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+mn-ea"/>
              </a:rPr>
              <a:t>1</a:t>
            </a:r>
            <a:r>
              <a:rPr lang="ko-KR" altLang="en-US" sz="2800" b="1" dirty="0">
                <a:latin typeface="+mn-ea"/>
              </a:rPr>
              <a:t>부터 </a:t>
            </a:r>
            <a:r>
              <a:rPr lang="en-US" altLang="ko-KR" sz="2800" b="1" dirty="0">
                <a:latin typeface="+mn-ea"/>
              </a:rPr>
              <a:t>n</a:t>
            </a:r>
            <a:r>
              <a:rPr lang="ko-KR" altLang="en-US" sz="2800" b="1" dirty="0">
                <a:latin typeface="+mn-ea"/>
              </a:rPr>
              <a:t>까지의 합을 구하는 알고리즘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056" y="1821131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1-1</a:t>
            </a:r>
            <a:r>
              <a:rPr lang="en-US" altLang="ko-KR" dirty="0">
                <a:latin typeface="+mn-ea"/>
              </a:rPr>
              <a:t> 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연속한 숫자의 합을 구하는 알고리즘①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045269" y="2917457"/>
            <a:ext cx="7088957" cy="319111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연속한 숫자의 합을 구하는 알고리즘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까지의 숫자를 더한 값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s = 0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합을 계산할 변수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 + 1):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(n+1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은 제외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s = s +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s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:55)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:5050)</a:t>
            </a: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p01-1-sum.py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22213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800" b="1" dirty="0">
                <a:latin typeface="+mn-ea"/>
              </a:rPr>
              <a:t>1</a:t>
            </a:r>
            <a:r>
              <a:rPr lang="ko-KR" altLang="en-US" sz="2800" b="1" dirty="0">
                <a:latin typeface="+mn-ea"/>
              </a:rPr>
              <a:t>부터 </a:t>
            </a:r>
            <a:r>
              <a:rPr lang="en-US" altLang="ko-KR" sz="2800" b="1" dirty="0">
                <a:latin typeface="+mn-ea"/>
              </a:rPr>
              <a:t>n</a:t>
            </a:r>
            <a:r>
              <a:rPr lang="ko-KR" altLang="en-US" sz="2800" b="1" dirty="0">
                <a:latin typeface="+mn-ea"/>
              </a:rPr>
              <a:t>까지의 합을 구하는 알고리즘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45269" y="2568666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55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5050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056" y="3595455"/>
            <a:ext cx="8020383" cy="139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1-1</a:t>
            </a:r>
            <a:r>
              <a:rPr lang="ko-KR" altLang="en-US" dirty="0">
                <a:latin typeface="+mn-ea"/>
              </a:rPr>
              <a:t>의 알고리즘은 합을 계산할 변수 </a:t>
            </a:r>
            <a:r>
              <a:rPr lang="en-US" altLang="ko-KR" dirty="0">
                <a:latin typeface="+mn-ea"/>
              </a:rPr>
              <a:t>s</a:t>
            </a:r>
            <a:r>
              <a:rPr lang="ko-KR" altLang="en-US" dirty="0">
                <a:latin typeface="+mn-ea"/>
              </a:rPr>
              <a:t>에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을 넣고 첫 번째 수인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을 더하는 것으로 계산을 시작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즉</a:t>
            </a:r>
            <a:r>
              <a:rPr lang="en-US" altLang="ko-KR" dirty="0">
                <a:latin typeface="+mn-ea"/>
              </a:rPr>
              <a:t>, 1 + 2 = 3</a:t>
            </a:r>
            <a:r>
              <a:rPr lang="ko-KR" altLang="en-US" dirty="0">
                <a:latin typeface="+mn-ea"/>
              </a:rPr>
              <a:t>이 아니라 </a:t>
            </a:r>
            <a:r>
              <a:rPr lang="en-US" altLang="ko-KR" dirty="0">
                <a:latin typeface="+mn-ea"/>
              </a:rPr>
              <a:t>0 + 1 = 1</a:t>
            </a:r>
            <a:r>
              <a:rPr lang="ko-KR" altLang="en-US" dirty="0">
                <a:latin typeface="+mn-ea"/>
              </a:rPr>
              <a:t>이 첫 덧셈</a:t>
            </a:r>
          </a:p>
        </p:txBody>
      </p:sp>
    </p:spTree>
    <p:extLst>
      <p:ext uri="{BB962C8B-B14F-4D97-AF65-F5344CB8AC3E}">
        <p14:creationId xmlns:p14="http://schemas.microsoft.com/office/powerpoint/2010/main" val="2610613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56" y="1821131"/>
            <a:ext cx="802038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한 문제를 푸는 방법은 보통 여러 가지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100</a:t>
            </a:r>
            <a:r>
              <a:rPr lang="ko-KR" altLang="en-US" dirty="0">
                <a:latin typeface="+mn-ea"/>
              </a:rPr>
              <a:t>까지의 합을 구하는 문제만 해도 최소 두 가지 방법이 있음</a:t>
            </a:r>
            <a:endParaRPr lang="en-US" altLang="ko-KR" dirty="0">
              <a:latin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47055" y="3027135"/>
            <a:ext cx="8020383" cy="9425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앞에서 만든 프로그램처럼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100</a:t>
            </a:r>
            <a:r>
              <a:rPr lang="ko-KR" altLang="en-US" dirty="0">
                <a:latin typeface="+mn-ea"/>
              </a:rPr>
              <a:t>까지의 숫자를 차례로 더하는 방법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eriod"/>
            </a:pPr>
            <a:r>
              <a:rPr lang="ko-KR" altLang="en-US" dirty="0">
                <a:latin typeface="+mn-ea"/>
              </a:rPr>
              <a:t>수학 천재 가우스의 방법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681" y="4058090"/>
            <a:ext cx="3540255" cy="1958905"/>
          </a:xfrm>
          <a:prstGeom prst="rect">
            <a:avLst/>
          </a:prstGeom>
        </p:spPr>
      </p:pic>
      <p:sp>
        <p:nvSpPr>
          <p:cNvPr id="16" name="TextBox 8"/>
          <p:cNvSpPr txBox="1"/>
          <p:nvPr/>
        </p:nvSpPr>
        <p:spPr>
          <a:xfrm>
            <a:off x="0" y="6016995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1-3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가우스의 방법</a:t>
            </a:r>
          </a:p>
        </p:txBody>
      </p:sp>
    </p:spTree>
    <p:extLst>
      <p:ext uri="{BB962C8B-B14F-4D97-AF65-F5344CB8AC3E}">
        <p14:creationId xmlns:p14="http://schemas.microsoft.com/office/powerpoint/2010/main" val="110128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이러한 발견을 일반화해서 만든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합 공식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239" y="2527935"/>
            <a:ext cx="1038225" cy="704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7055" y="3518867"/>
            <a:ext cx="7728849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 공식을 이용해 </a:t>
            </a:r>
            <a:r>
              <a:rPr lang="en-US" altLang="ko-KR" dirty="0">
                <a:latin typeface="+mn-ea"/>
              </a:rPr>
              <a:t>‘1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 연속한 숫자의 합 구하기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 문제를 푸는 </a:t>
            </a:r>
            <a:r>
              <a:rPr lang="ko-KR" altLang="en-US" dirty="0" err="1">
                <a:latin typeface="+mn-ea"/>
              </a:rPr>
              <a:t>파이썬</a:t>
            </a:r>
            <a:r>
              <a:rPr lang="ko-KR" altLang="en-US" dirty="0">
                <a:latin typeface="+mn-ea"/>
              </a:rPr>
              <a:t> 프로그램을 만들어 보자</a:t>
            </a:r>
          </a:p>
        </p:txBody>
      </p:sp>
    </p:spTree>
    <p:extLst>
      <p:ext uri="{BB962C8B-B14F-4D97-AF65-F5344CB8AC3E}">
        <p14:creationId xmlns:p14="http://schemas.microsoft.com/office/powerpoint/2010/main" val="36247084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1-2</a:t>
            </a:r>
            <a:r>
              <a:rPr lang="en-US" altLang="ko-KR" dirty="0">
                <a:latin typeface="+mn-ea"/>
              </a:rPr>
              <a:t> 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연속한 숫자의 합을 구하는 알고리즘②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045269" y="2917457"/>
            <a:ext cx="7088957" cy="248664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연속한 숫자의 합을 구하는 알고리즘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까지의 숫자를 더한 값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* (n + 1) // 2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슬래시 두 개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(//)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는 정수 나눗셈을 의미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:55)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:5050)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p01-2-sum.py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63131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056" y="1821131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45269" y="2568666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55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5050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7056" y="3595455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첫 번째 방법은 입력 값 </a:t>
            </a:r>
            <a:r>
              <a:rPr lang="en-US" altLang="ko-KR" dirty="0"/>
              <a:t>n</a:t>
            </a:r>
            <a:r>
              <a:rPr lang="ko-KR" altLang="en-US" dirty="0"/>
              <a:t>이 커질수록 덧셈을 훨씬 더 많이 반복해야 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두 번째 방법은 </a:t>
            </a:r>
            <a:r>
              <a:rPr lang="en-US" altLang="ko-KR" dirty="0"/>
              <a:t>n </a:t>
            </a:r>
            <a:r>
              <a:rPr lang="ko-KR" altLang="en-US" dirty="0"/>
              <a:t>값의 크기와 관계없이 덧셈</a:t>
            </a:r>
            <a:r>
              <a:rPr lang="en-US" altLang="ko-KR" dirty="0"/>
              <a:t>, </a:t>
            </a:r>
            <a:r>
              <a:rPr lang="ko-KR" altLang="en-US" dirty="0"/>
              <a:t>곱셈</a:t>
            </a:r>
            <a:r>
              <a:rPr lang="en-US" altLang="ko-KR" dirty="0"/>
              <a:t>, </a:t>
            </a:r>
            <a:r>
              <a:rPr lang="ko-KR" altLang="en-US" dirty="0"/>
              <a:t>나눗셈을 각각 한 번씩만 하면 답을 얻을 수 있음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10084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018" y="1944478"/>
            <a:ext cx="3509964" cy="288186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7056" y="5358046"/>
            <a:ext cx="8112896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주어진 문제를 푸는 여러 가지 방법 중 어떤 방법이 더 좋은 것인지 판단할 때 필요한 것이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알고리즘 분석</a:t>
            </a:r>
            <a:r>
              <a:rPr lang="en-US" altLang="ko-KR" dirty="0">
                <a:latin typeface="+mn-ea"/>
              </a:rPr>
              <a:t>’</a:t>
            </a:r>
            <a:endParaRPr lang="ko-KR" altLang="en-US" dirty="0">
              <a:latin typeface="+mn-ea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0" y="4850145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1-4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1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연속한 숫자의 합을 구하는 두 가지 방법</a:t>
            </a:r>
          </a:p>
        </p:txBody>
      </p:sp>
    </p:spTree>
    <p:extLst>
      <p:ext uri="{BB962C8B-B14F-4D97-AF65-F5344CB8AC3E}">
        <p14:creationId xmlns:p14="http://schemas.microsoft.com/office/powerpoint/2010/main" val="131107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5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입력 크기와 계산 횟수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51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알고리즘에는 입력이 필요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크기가 알고리즘의 수행 성능에 영향을 미칠 때가 많음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크기가 커지면 보통 알고리즘의 계산도 복잡해짐</a:t>
            </a: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sz="1200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입력 크기와 계산 횟수의 관계 생각해 보기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합을 구하는 문제에서는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의 크기가 바로 입력 크기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첫 번째 알고리즘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1-1): </a:t>
            </a:r>
            <a:r>
              <a:rPr lang="ko-KR" altLang="en-US" dirty="0">
                <a:latin typeface="+mn-ea"/>
              </a:rPr>
              <a:t>덧셈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번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까지의 합을 구하려면 덧셈을 열 번</a:t>
            </a:r>
            <a:r>
              <a:rPr lang="en-US" altLang="ko-KR" dirty="0">
                <a:latin typeface="+mn-ea"/>
              </a:rPr>
              <a:t>, 100</a:t>
            </a:r>
            <a:r>
              <a:rPr lang="ko-KR" altLang="en-US" dirty="0">
                <a:latin typeface="+mn-ea"/>
              </a:rPr>
              <a:t>까지의 합을 구하려면 백 번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두 번째 알고리즘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1-2): </a:t>
            </a:r>
            <a:r>
              <a:rPr lang="ko-KR" altLang="en-US" dirty="0">
                <a:latin typeface="+mn-ea"/>
              </a:rPr>
              <a:t>덧셈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곱셈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나눗셈 각 한 번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총 세 번</a:t>
            </a:r>
            <a:r>
              <a:rPr lang="en-US" altLang="ko-KR" dirty="0">
                <a:latin typeface="+mn-ea"/>
              </a:rPr>
              <a:t>)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아무리 큰 수라도 덧셈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곱셈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나눗셈 각 한 번</a:t>
            </a:r>
          </a:p>
        </p:txBody>
      </p:sp>
    </p:spTree>
    <p:extLst>
      <p:ext uri="{BB962C8B-B14F-4D97-AF65-F5344CB8AC3E}">
        <p14:creationId xmlns:p14="http://schemas.microsoft.com/office/powerpoint/2010/main" val="4184574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5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입력 크기와 계산 횟수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140328" cy="359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커지면 커질수록 계산 횟수의 차이가 커짐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 = 1000</a:t>
            </a:r>
            <a:r>
              <a:rPr lang="ko-KR" altLang="en-US" dirty="0">
                <a:latin typeface="+mn-ea"/>
              </a:rPr>
              <a:t>인 경우 첫 번째 알고리즘은 덧셈을 천 번 해야 함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세 번만 계산해도 되는 두 번째 알고리즘과 엄청나게 차이가 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보통 컴퓨터를 이용해서 계산할 때는 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매우 큰 경우가 많음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알고리즘 분석에서는 입력 크기가 매우 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에 대해서 따져 보는 것이 중요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예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우리나라 전 국민의 평균 나이를 계산하는 문제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은 우리나라 인구수에 해당하는 </a:t>
            </a:r>
            <a:r>
              <a:rPr lang="en-US" altLang="ko-KR" dirty="0">
                <a:latin typeface="+mn-ea"/>
              </a:rPr>
              <a:t>51,736,224 (2017</a:t>
            </a:r>
            <a:r>
              <a:rPr lang="ko-KR" altLang="en-US" dirty="0">
                <a:latin typeface="+mn-ea"/>
              </a:rPr>
              <a:t>년 </a:t>
            </a:r>
            <a:r>
              <a:rPr lang="en-US" altLang="ko-KR" dirty="0">
                <a:latin typeface="+mn-ea"/>
              </a:rPr>
              <a:t>6</a:t>
            </a:r>
            <a:r>
              <a:rPr lang="ko-KR" altLang="en-US" dirty="0">
                <a:latin typeface="+mn-ea"/>
              </a:rPr>
              <a:t>월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10961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6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대문자 </a:t>
            </a:r>
            <a:r>
              <a:rPr lang="en-US" altLang="ko-KR" sz="2800" b="1" dirty="0">
                <a:latin typeface="+mn-ea"/>
              </a:rPr>
              <a:t>O </a:t>
            </a:r>
            <a:r>
              <a:rPr lang="ko-KR" altLang="en-US" sz="2800" b="1" dirty="0">
                <a:latin typeface="+mn-ea"/>
              </a:rPr>
              <a:t>표기법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계산 복잡도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</a:t>
            </a:r>
            <a:r>
              <a:rPr lang="en-US" altLang="ko-KR" dirty="0">
                <a:latin typeface="+mn-ea"/>
              </a:rPr>
              <a:t>(complexity): </a:t>
            </a:r>
            <a:r>
              <a:rPr lang="ko-KR" altLang="en-US" dirty="0">
                <a:latin typeface="+mn-ea"/>
              </a:rPr>
              <a:t>어떤 알고리즘이 문제를 풀기 위해 해야 하는 계산이 얼마나 복잡한지를 나타낸 정도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복잡도를 표현하는 방법에는 여러 가지가 있음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그 중 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표기법을 가장 많이 사용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표기법은 ‘빅 오’ 표기법이라고도 부름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04563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6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대문자 </a:t>
            </a:r>
            <a:r>
              <a:rPr lang="en-US" altLang="ko-KR" sz="2800" b="1" dirty="0">
                <a:latin typeface="+mn-ea"/>
              </a:rPr>
              <a:t>O </a:t>
            </a:r>
            <a:r>
              <a:rPr lang="ko-KR" altLang="en-US" sz="2800" b="1" dirty="0">
                <a:latin typeface="+mn-ea"/>
              </a:rPr>
              <a:t>표기법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계산 복잡도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8020382" cy="451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예제 프로그램의 계산 복잡도를 대문자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O</a:t>
            </a:r>
            <a:r>
              <a:rPr lang="ko-KR" altLang="en-US" dirty="0">
                <a:solidFill>
                  <a:srgbClr val="EB666E"/>
                </a:solidFill>
                <a:latin typeface="+mn-ea"/>
              </a:rPr>
              <a:t>로 표기하는 방법①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첫 번째 알고리즘은 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에 대해 사칙 연산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덧셈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을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번 해야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이때 이 알고리즘의 계산 복잡도를 </a:t>
            </a:r>
            <a:r>
              <a:rPr lang="en-US" altLang="ko-KR" dirty="0">
                <a:latin typeface="+mn-ea"/>
              </a:rPr>
              <a:t>O(n)</a:t>
            </a:r>
            <a:r>
              <a:rPr lang="ko-KR" altLang="en-US" dirty="0">
                <a:latin typeface="+mn-ea"/>
              </a:rPr>
              <a:t>이라고 표현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필요한 계산 횟수가 입력 크기에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정비례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할 때는 </a:t>
            </a:r>
            <a:r>
              <a:rPr lang="en-US" altLang="ko-KR" dirty="0">
                <a:latin typeface="+mn-ea"/>
              </a:rPr>
              <a:t>O(n)</a:t>
            </a:r>
            <a:r>
              <a:rPr lang="ko-KR" altLang="en-US" dirty="0">
                <a:latin typeface="+mn-ea"/>
              </a:rPr>
              <a:t>이라고 표현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표기법은 알고리즘에서 필요한 계산 횟수를 정확한 숫자로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표현하는 것이 아니라 입력 크기와의 관계로 표현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에 따라 덧셈을 두 번씩 하는 알고리즘도 </a:t>
            </a:r>
            <a:r>
              <a:rPr lang="en-US" altLang="ko-KR" dirty="0">
                <a:latin typeface="+mn-ea"/>
              </a:rPr>
              <a:t>O(2n)</a:t>
            </a:r>
            <a:r>
              <a:rPr lang="ko-KR" altLang="en-US" dirty="0">
                <a:latin typeface="+mn-ea"/>
              </a:rPr>
              <a:t>이 아니라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마찬가지로 그냥 </a:t>
            </a:r>
            <a:r>
              <a:rPr lang="en-US" altLang="ko-KR" dirty="0">
                <a:latin typeface="+mn-ea"/>
              </a:rPr>
              <a:t>O(n)</a:t>
            </a:r>
            <a:r>
              <a:rPr lang="ko-KR" altLang="en-US" dirty="0">
                <a:latin typeface="+mn-ea"/>
              </a:rPr>
              <a:t>으로 표현</a:t>
            </a: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dirty="0">
                <a:latin typeface="+mn-ea"/>
              </a:rPr>
              <a:t>20</a:t>
            </a:r>
            <a:r>
              <a:rPr lang="ko-KR" altLang="en-US" dirty="0">
                <a:latin typeface="+mn-ea"/>
              </a:rPr>
              <a:t>으로 </a:t>
            </a:r>
            <a:r>
              <a:rPr lang="en-US" altLang="ko-KR" dirty="0">
                <a:latin typeface="+mn-ea"/>
              </a:rPr>
              <a:t>‘2</a:t>
            </a:r>
            <a:r>
              <a:rPr lang="ko-KR" altLang="en-US" dirty="0">
                <a:latin typeface="+mn-ea"/>
              </a:rPr>
              <a:t>배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가 될 때 </a:t>
            </a:r>
            <a:r>
              <a:rPr lang="en-US" altLang="ko-KR" dirty="0">
                <a:latin typeface="+mn-ea"/>
              </a:rPr>
              <a:t>2n</a:t>
            </a:r>
            <a:r>
              <a:rPr lang="ko-KR" altLang="en-US" dirty="0">
                <a:latin typeface="+mn-ea"/>
              </a:rPr>
              <a:t>도 </a:t>
            </a:r>
            <a:r>
              <a:rPr lang="en-US" altLang="ko-KR" dirty="0">
                <a:latin typeface="+mn-ea"/>
              </a:rPr>
              <a:t>20</a:t>
            </a:r>
            <a:r>
              <a:rPr lang="ko-KR" altLang="en-US" dirty="0">
                <a:latin typeface="+mn-ea"/>
              </a:rPr>
              <a:t>에서 </a:t>
            </a:r>
            <a:r>
              <a:rPr lang="en-US" altLang="ko-KR" dirty="0">
                <a:latin typeface="+mn-ea"/>
              </a:rPr>
              <a:t>40</a:t>
            </a:r>
            <a:r>
              <a:rPr lang="ko-KR" altLang="en-US" dirty="0">
                <a:latin typeface="+mn-ea"/>
              </a:rPr>
              <a:t>으로 </a:t>
            </a:r>
            <a:r>
              <a:rPr lang="en-US" altLang="ko-KR" dirty="0">
                <a:latin typeface="+mn-ea"/>
              </a:rPr>
              <a:t>‘2</a:t>
            </a:r>
            <a:r>
              <a:rPr lang="ko-KR" altLang="en-US" dirty="0">
                <a:latin typeface="+mn-ea"/>
              </a:rPr>
              <a:t>배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가 됨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정비례</a:t>
            </a:r>
            <a:r>
              <a:rPr lang="en-US" altLang="ko-KR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842836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6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대문자 </a:t>
            </a:r>
            <a:r>
              <a:rPr lang="en-US" altLang="ko-KR" sz="2800" b="1" dirty="0">
                <a:latin typeface="+mn-ea"/>
              </a:rPr>
              <a:t>O </a:t>
            </a:r>
            <a:r>
              <a:rPr lang="ko-KR" altLang="en-US" sz="2800" b="1" dirty="0">
                <a:latin typeface="+mn-ea"/>
              </a:rPr>
              <a:t>표기법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계산 복잡도 표현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8020382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예제 프로그램의 계산 복잡도를 대문자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O</a:t>
            </a:r>
            <a:r>
              <a:rPr lang="ko-KR" altLang="en-US" dirty="0">
                <a:solidFill>
                  <a:srgbClr val="EB666E"/>
                </a:solidFill>
                <a:latin typeface="+mn-ea"/>
              </a:rPr>
              <a:t>로 표기하는 방법②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두 번째 알고리즘은 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과 무관하게 사칙연산을 세 번 해야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이때 알고리즘의 계산 복잡도는 </a:t>
            </a:r>
            <a:r>
              <a:rPr lang="en-US" altLang="ko-KR" dirty="0">
                <a:latin typeface="+mn-ea"/>
              </a:rPr>
              <a:t>O(1)</a:t>
            </a:r>
            <a:r>
              <a:rPr lang="ko-KR" altLang="en-US" dirty="0">
                <a:latin typeface="+mn-ea"/>
              </a:rPr>
              <a:t>로 표현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과 필요한 계산의 횟수가 </a:t>
            </a:r>
            <a:r>
              <a:rPr lang="ko-KR" altLang="en-US" dirty="0" err="1">
                <a:latin typeface="+mn-ea"/>
              </a:rPr>
              <a:t>무관하다면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입력 크기가 커져도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계산 시간이 더 늘어나지 않는다면 </a:t>
            </a:r>
            <a:r>
              <a:rPr lang="en-US" altLang="ko-KR" dirty="0">
                <a:latin typeface="+mn-ea"/>
              </a:rPr>
              <a:t>O(1)</a:t>
            </a:r>
            <a:r>
              <a:rPr lang="ko-KR" altLang="en-US" dirty="0">
                <a:latin typeface="+mn-ea"/>
              </a:rPr>
              <a:t>로 표기</a:t>
            </a: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사칙연산을 세 번 한다고 </a:t>
            </a:r>
            <a:r>
              <a:rPr lang="en-US" altLang="ko-KR" dirty="0">
                <a:latin typeface="+mn-ea"/>
              </a:rPr>
              <a:t>O(3)</a:t>
            </a:r>
            <a:r>
              <a:rPr lang="ko-KR" altLang="en-US" dirty="0">
                <a:latin typeface="+mn-ea"/>
              </a:rPr>
              <a:t>으로 표현하지 않음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앞에서 </a:t>
            </a:r>
            <a:r>
              <a:rPr lang="en-US" altLang="ko-KR" dirty="0">
                <a:latin typeface="+mn-ea"/>
              </a:rPr>
              <a:t>O(2n)</a:t>
            </a:r>
            <a:r>
              <a:rPr lang="ko-KR" altLang="en-US" dirty="0">
                <a:latin typeface="+mn-ea"/>
              </a:rPr>
              <a:t>을 </a:t>
            </a:r>
            <a:r>
              <a:rPr lang="en-US" altLang="ko-KR" dirty="0">
                <a:latin typeface="+mn-ea"/>
              </a:rPr>
              <a:t>O(n)</a:t>
            </a:r>
            <a:r>
              <a:rPr lang="ko-KR" altLang="en-US" dirty="0">
                <a:latin typeface="+mn-ea"/>
              </a:rPr>
              <a:t>으로 표현하는 것과 같은 원리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28920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6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대문자 </a:t>
            </a:r>
            <a:r>
              <a:rPr lang="en-US" altLang="ko-KR" sz="2800" b="1" dirty="0">
                <a:latin typeface="+mn-ea"/>
              </a:rPr>
              <a:t>O </a:t>
            </a:r>
            <a:r>
              <a:rPr lang="ko-KR" altLang="en-US" sz="2800" b="1" dirty="0">
                <a:latin typeface="+mn-ea"/>
              </a:rPr>
              <a:t>표기법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계산 복잡도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표기법은 알고리즘의 대략적인 성능을 표시하는 방법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세밀한 계산 횟수나 소요 시간을 표현하는 것이 아님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과 필요한 계산 횟수와의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관계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에 더 주목하는 표현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입력 크기가 큰 문제를 풀 때는 보통 </a:t>
            </a:r>
            <a:r>
              <a:rPr lang="en-US" altLang="ko-KR" dirty="0">
                <a:latin typeface="+mn-ea"/>
              </a:rPr>
              <a:t>O(1)</a:t>
            </a:r>
            <a:r>
              <a:rPr lang="ko-KR" altLang="en-US" dirty="0">
                <a:latin typeface="+mn-ea"/>
              </a:rPr>
              <a:t>인 알고리즘이 훨씬 더 빠름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O(n): </a:t>
            </a:r>
            <a:r>
              <a:rPr lang="ko-KR" altLang="en-US" dirty="0">
                <a:latin typeface="+mn-ea"/>
              </a:rPr>
              <a:t>필요한 계산 횟수가 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과 비례할 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O(1): </a:t>
            </a:r>
            <a:r>
              <a:rPr lang="ko-KR" altLang="en-US" dirty="0">
                <a:latin typeface="+mn-ea"/>
              </a:rPr>
              <a:t>필요한 계산 횟수가 입력 크기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과 무관할 때</a:t>
            </a:r>
          </a:p>
        </p:txBody>
      </p:sp>
      <p:sp>
        <p:nvSpPr>
          <p:cNvPr id="14" name="아래쪽 화살표 13"/>
          <p:cNvSpPr/>
          <p:nvPr/>
        </p:nvSpPr>
        <p:spPr>
          <a:xfrm>
            <a:off x="4417618" y="3913342"/>
            <a:ext cx="546754" cy="517044"/>
          </a:xfrm>
          <a:prstGeom prst="downArrow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29646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6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대문자 </a:t>
            </a:r>
            <a:r>
              <a:rPr lang="en-US" altLang="ko-KR" sz="2800" b="1" dirty="0">
                <a:latin typeface="+mn-ea"/>
              </a:rPr>
              <a:t>O </a:t>
            </a:r>
            <a:r>
              <a:rPr lang="ko-KR" altLang="en-US" sz="2800" b="1" dirty="0">
                <a:latin typeface="+mn-ea"/>
              </a:rPr>
              <a:t>표기법</a:t>
            </a:r>
            <a:r>
              <a:rPr lang="en-US" altLang="ko-KR" sz="2800" b="1" dirty="0">
                <a:latin typeface="+mn-ea"/>
              </a:rPr>
              <a:t>: </a:t>
            </a:r>
            <a:r>
              <a:rPr lang="ko-KR" altLang="en-US" sz="2800" b="1" dirty="0">
                <a:latin typeface="+mn-ea"/>
              </a:rPr>
              <a:t>계산 복잡도 표현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시간 복잡도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어떤 알고리즘을 수행하는 데 얼마나 오랜 시간이 걸리는지 분석한 것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사칙연산 횟수로 계산 복잡도를 생각해 본 것은 시간 복잡도에 해당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어떤 알고리즘을 수행하는 데 필요한 사칙연산의 횟수가 많아지면 결국 </a:t>
            </a:r>
            <a:br>
              <a:rPr lang="en-US" altLang="ko-KR" dirty="0"/>
            </a:br>
            <a:r>
              <a:rPr lang="ko-KR" altLang="en-US" dirty="0"/>
              <a:t>알고리즘 전체를 수행하는 시간이 늘어나기 때문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공간 복잡도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어떤 알고리즘을 수행하는 데 얼마나 많은 공간</a:t>
            </a:r>
            <a:r>
              <a:rPr lang="en-US" altLang="ko-KR" dirty="0"/>
              <a:t>(</a:t>
            </a:r>
            <a:r>
              <a:rPr lang="ko-KR" altLang="en-US" dirty="0"/>
              <a:t>메모리</a:t>
            </a:r>
            <a:r>
              <a:rPr lang="en-US" altLang="ko-KR" dirty="0"/>
              <a:t>/</a:t>
            </a:r>
            <a:r>
              <a:rPr lang="ko-KR" altLang="en-US" dirty="0"/>
              <a:t>기억 장소</a:t>
            </a:r>
            <a:r>
              <a:rPr lang="en-US" altLang="ko-KR" dirty="0"/>
              <a:t>)</a:t>
            </a:r>
            <a:r>
              <a:rPr lang="ko-KR" altLang="en-US" dirty="0"/>
              <a:t>이</a:t>
            </a:r>
            <a:br>
              <a:rPr lang="en-US" altLang="ko-KR" dirty="0"/>
            </a:br>
            <a:r>
              <a:rPr lang="ko-KR" altLang="en-US" dirty="0"/>
              <a:t>필요한지 분석한 것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94221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7" y="1821131"/>
            <a:ext cx="7920872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1-1</a:t>
            </a:r>
            <a:r>
              <a:rPr lang="en-US" altLang="ko-KR" dirty="0">
                <a:latin typeface="+mn-ea"/>
              </a:rPr>
              <a:t> 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 연속한 숫자의 제곱의 합을 구하는 프로그램을 </a:t>
            </a:r>
            <a:r>
              <a:rPr lang="en-US" altLang="ko-KR" dirty="0">
                <a:latin typeface="+mn-ea"/>
              </a:rPr>
              <a:t>for </a:t>
            </a:r>
            <a:br>
              <a:rPr lang="en-US" altLang="ko-KR" dirty="0">
                <a:latin typeface="+mn-ea"/>
              </a:rPr>
            </a:br>
            <a:r>
              <a:rPr lang="ko-KR" altLang="en-US" dirty="0" err="1">
                <a:latin typeface="+mn-ea"/>
              </a:rPr>
              <a:t>반복문으로</a:t>
            </a:r>
            <a:r>
              <a:rPr lang="ko-KR" altLang="en-US" dirty="0">
                <a:latin typeface="+mn-ea"/>
              </a:rPr>
              <a:t> 만들어 보세요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예를 들어 </a:t>
            </a:r>
            <a:r>
              <a:rPr lang="en-US" altLang="ko-KR" dirty="0">
                <a:latin typeface="+mn-ea"/>
              </a:rPr>
              <a:t>n = 10</a:t>
            </a:r>
            <a:r>
              <a:rPr lang="ko-KR" altLang="en-US" dirty="0">
                <a:latin typeface="+mn-ea"/>
              </a:rPr>
              <a:t>이라면 </a:t>
            </a:r>
            <a:r>
              <a:rPr lang="en-US" altLang="ko-KR" dirty="0">
                <a:latin typeface="+mn-ea"/>
              </a:rPr>
              <a:t>12 + 22 + 32 + … 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+ 102 = 385</a:t>
            </a:r>
            <a:r>
              <a:rPr lang="ko-KR" altLang="en-US" dirty="0">
                <a:latin typeface="+mn-ea"/>
              </a:rPr>
              <a:t>를 계산하는 프로그램입니다</a:t>
            </a:r>
            <a:r>
              <a:rPr lang="en-US" altLang="ko-KR" dirty="0">
                <a:latin typeface="+mn-ea"/>
              </a:rPr>
              <a:t>).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연습 문제 </a:t>
            </a:r>
            <a:r>
              <a:rPr lang="en-US" altLang="ko-KR" dirty="0">
                <a:latin typeface="+mn-ea"/>
              </a:rPr>
              <a:t>1-1 </a:t>
            </a:r>
            <a:r>
              <a:rPr lang="ko-KR" altLang="en-US" dirty="0">
                <a:latin typeface="+mn-ea"/>
              </a:rPr>
              <a:t>프로그램의 계산 복잡도는 </a:t>
            </a:r>
            <a:r>
              <a:rPr lang="en-US" altLang="ko-KR" dirty="0">
                <a:latin typeface="+mn-ea"/>
              </a:rPr>
              <a:t>O(1)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O(n) </a:t>
            </a:r>
            <a:r>
              <a:rPr lang="ko-KR" altLang="en-US" dirty="0">
                <a:latin typeface="+mn-ea"/>
              </a:rPr>
              <a:t>중 무엇일까요</a:t>
            </a:r>
            <a:r>
              <a:rPr lang="en-US" altLang="ko-KR" dirty="0">
                <a:latin typeface="+mn-ea"/>
              </a:rPr>
              <a:t>?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1-3</a:t>
            </a:r>
            <a:r>
              <a:rPr lang="en-US" altLang="ko-KR" dirty="0">
                <a:latin typeface="+mn-ea"/>
              </a:rPr>
              <a:t> 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 연속한 숫자의 제곱의 합을 구하는 공식은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로 알려져 있습니다</a:t>
            </a:r>
            <a:r>
              <a:rPr lang="en-US" altLang="ko-KR" dirty="0">
                <a:latin typeface="+mn-ea"/>
              </a:rPr>
              <a:t>. for </a:t>
            </a:r>
            <a:r>
              <a:rPr lang="ko-KR" altLang="en-US" dirty="0" err="1">
                <a:latin typeface="+mn-ea"/>
              </a:rPr>
              <a:t>반복문</a:t>
            </a:r>
            <a:r>
              <a:rPr lang="ko-KR" altLang="en-US" dirty="0">
                <a:latin typeface="+mn-ea"/>
              </a:rPr>
              <a:t> 대신 이 공식을 이용하면 알고리즘의 계산 복잡도는 </a:t>
            </a:r>
            <a:r>
              <a:rPr lang="en-US" altLang="ko-KR" dirty="0">
                <a:latin typeface="+mn-ea"/>
              </a:rPr>
              <a:t>O(1)</a:t>
            </a:r>
            <a:r>
              <a:rPr lang="ko-KR" altLang="en-US" dirty="0">
                <a:latin typeface="+mn-ea"/>
              </a:rPr>
              <a:t>과 </a:t>
            </a:r>
            <a:r>
              <a:rPr lang="en-US" altLang="ko-KR" dirty="0">
                <a:latin typeface="+mn-ea"/>
              </a:rPr>
              <a:t>O(n) </a:t>
            </a:r>
            <a:r>
              <a:rPr lang="ko-KR" altLang="en-US" dirty="0">
                <a:latin typeface="+mn-ea"/>
              </a:rPr>
              <a:t>중 무엇이 될까요</a:t>
            </a:r>
            <a:r>
              <a:rPr lang="en-US" altLang="ko-KR" dirty="0">
                <a:latin typeface="+mn-ea"/>
              </a:rPr>
              <a:t>?</a:t>
            </a:r>
            <a:endParaRPr lang="ko-KR" altLang="en-US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ko-KR" altLang="en-US" dirty="0">
              <a:latin typeface="+mn-ea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225" y="4286547"/>
            <a:ext cx="1411160" cy="450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135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7" y="1821131"/>
            <a:ext cx="792087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1-1</a:t>
            </a:r>
            <a:r>
              <a:rPr lang="en-US" altLang="ko-KR" dirty="0">
                <a:latin typeface="+mn-ea"/>
              </a:rPr>
              <a:t> 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 제곱의 합을 구하는 프로그램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45269" y="2917457"/>
            <a:ext cx="7088957" cy="318159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연속한 숫자 제곱의 합을 구하는 알고리즘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연속한 숫자의 제곱을 더한 합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sum_sq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s = 0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 + 1):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s = s +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*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s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sum_sq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제곱의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:385)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sum_sq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제곱의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:338350)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e01-1-sumsq.py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700531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056" y="1821131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45269" y="2568666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385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338350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24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7" y="1821131"/>
            <a:ext cx="7920872" cy="237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계산 복잡도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곱셈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덧셈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번으로 사칙연산이 총 </a:t>
            </a:r>
            <a:r>
              <a:rPr lang="en-US" altLang="ko-KR" dirty="0">
                <a:latin typeface="+mn-ea"/>
              </a:rPr>
              <a:t>2n</a:t>
            </a:r>
            <a:r>
              <a:rPr lang="ko-KR" altLang="en-US" dirty="0">
                <a:latin typeface="+mn-ea"/>
              </a:rPr>
              <a:t>번 필요하지만</a:t>
            </a:r>
            <a:r>
              <a:rPr lang="en-US" altLang="ko-KR" dirty="0">
                <a:latin typeface="+mn-ea"/>
              </a:rPr>
              <a:t>, O(n)</a:t>
            </a:r>
            <a:r>
              <a:rPr lang="ko-KR" altLang="en-US" dirty="0">
                <a:latin typeface="+mn-ea"/>
              </a:rPr>
              <a:t>으로 표현</a:t>
            </a:r>
            <a:r>
              <a:rPr lang="en-US" altLang="ko-KR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2568666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schemeClr val="tx1"/>
                </a:solidFill>
              </a:rPr>
              <a:t>O(n)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3635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1-3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계산 복잡도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공식 이용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덧셈 두 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곱셈 세 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나눗셈 한 번으로 사칙연산이 총 여섯 번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필요하지만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이 값은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의 크기와 상관없이 일정한 값이므로 </a:t>
            </a:r>
            <a:r>
              <a:rPr lang="en-US" altLang="ko-KR" dirty="0">
                <a:latin typeface="+mn-ea"/>
              </a:rPr>
              <a:t>O(1)</a:t>
            </a:r>
            <a:r>
              <a:rPr lang="ko-KR" altLang="en-US" dirty="0">
                <a:latin typeface="+mn-ea"/>
              </a:rPr>
              <a:t>로 표현</a:t>
            </a:r>
            <a:r>
              <a:rPr lang="en-US" altLang="ko-KR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45269" y="2568666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schemeClr val="tx1"/>
                </a:solidFill>
              </a:rPr>
              <a:t>O(1)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3988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057" y="1821131"/>
            <a:ext cx="792087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1-3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계산 복잡도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공식 이용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2" name="모서리가 둥근 직사각형 1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45269" y="2917457"/>
            <a:ext cx="7088957" cy="251407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연속한 숫자 제곱의 합 구하기 알고리즘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연속한 숫자의 제곱을 더한 합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sum_sq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n * (n + 1) * (2 * n + 1) // 6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sum_sq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(10))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제곱의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:385)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sum_sq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(100))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100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제곱의 합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:100,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:338350)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e01-3-sumsq.py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20296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01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1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부터 </a:t>
            </a:r>
            <a:r>
              <a:rPr lang="en-US" altLang="ko-KR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n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까지의 합 구하기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056" y="1821131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45269" y="2568666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385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338350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7627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673752" y="3634895"/>
            <a:ext cx="3773347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최댓값 찾기</a:t>
            </a:r>
          </a:p>
        </p:txBody>
      </p:sp>
    </p:spTree>
    <p:extLst>
      <p:ext uri="{BB962C8B-B14F-4D97-AF65-F5344CB8AC3E}">
        <p14:creationId xmlns:p14="http://schemas.microsoft.com/office/powerpoint/2010/main" val="15898430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주어진 숫자 </a:t>
            </a:r>
            <a:r>
              <a:rPr lang="en-US" altLang="ko-KR" b="1" dirty="0">
                <a:latin typeface="+mn-ea"/>
              </a:rPr>
              <a:t>n</a:t>
            </a:r>
            <a:r>
              <a:rPr lang="ko-KR" altLang="en-US" b="1" dirty="0">
                <a:latin typeface="+mn-ea"/>
              </a:rPr>
              <a:t>개 중 가장 큰 숫자를 찾는 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주어진 숫자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개 중에서 가장 큰 숫자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최댓값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를 찾는 문제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17, 92, 18, 33, 58, 7, 33, 42</a:t>
            </a:r>
            <a:r>
              <a:rPr lang="ko-KR" altLang="en-US" dirty="0"/>
              <a:t>와 같이 숫자가 여덟 개가 있을 때 최댓값은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r>
              <a:rPr lang="en-US" altLang="ko-KR" dirty="0"/>
              <a:t>92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69702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리스트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020382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</a:t>
            </a:r>
            <a:r>
              <a:rPr lang="en-US" altLang="ko-KR" dirty="0">
                <a:latin typeface="+mn-ea"/>
              </a:rPr>
              <a:t>(list):</a:t>
            </a:r>
            <a:r>
              <a:rPr lang="ko-KR" altLang="en-US" dirty="0">
                <a:latin typeface="+mn-ea"/>
              </a:rPr>
              <a:t> 정보 여러 개를 하나로 묶어 저장하고 관리할 수 있는 기능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숫자 여러 개는 </a:t>
            </a:r>
            <a:r>
              <a:rPr lang="ko-KR" altLang="en-US" dirty="0" err="1">
                <a:latin typeface="+mn-ea"/>
              </a:rPr>
              <a:t>파이썬의</a:t>
            </a:r>
            <a:r>
              <a:rPr lang="ko-KR" altLang="en-US" dirty="0">
                <a:latin typeface="+mn-ea"/>
              </a:rPr>
              <a:t> 리스트 기능을 이용하면 쉽게 관리할 수 있음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리스트는 대괄호</a:t>
            </a:r>
            <a:r>
              <a:rPr lang="en-US" altLang="ko-KR" dirty="0">
                <a:latin typeface="+mn-ea"/>
              </a:rPr>
              <a:t>([ ]) </a:t>
            </a:r>
            <a:r>
              <a:rPr lang="ko-KR" altLang="en-US" dirty="0">
                <a:latin typeface="+mn-ea"/>
              </a:rPr>
              <a:t>안에 정보 여러 개를 쉼표</a:t>
            </a:r>
            <a:r>
              <a:rPr lang="en-US" altLang="ko-KR" dirty="0">
                <a:latin typeface="+mn-ea"/>
              </a:rPr>
              <a:t>(,)</a:t>
            </a:r>
            <a:r>
              <a:rPr lang="ko-KR" altLang="en-US" dirty="0">
                <a:latin typeface="+mn-ea"/>
              </a:rPr>
              <a:t>로 구분하여 적음</a:t>
            </a:r>
            <a:endParaRPr lang="en-US" altLang="ko-KR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27522" y="3428623"/>
            <a:ext cx="7088957" cy="286195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&gt;&gt;&gt; a = [5, 7, 9]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&gt;&gt;&gt; a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[5, 7, 9]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&gt;&gt;&gt; a[0]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5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&gt;&gt;&gt; a[2]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9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&gt;&gt;&gt; a[-1]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9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&gt;&gt;&gt; len(a)</a:t>
            </a:r>
          </a:p>
          <a:p>
            <a:pPr>
              <a:lnSpc>
                <a:spcPct val="120000"/>
              </a:lnSpc>
            </a:pPr>
            <a:r>
              <a:rPr lang="pt-BR" altLang="ko-KR" sz="1400" dirty="0">
                <a:solidFill>
                  <a:schemeClr val="tx1"/>
                </a:solidFill>
                <a:latin typeface="+mn-ea"/>
              </a:rPr>
              <a:t>3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47314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리스트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8020382" cy="4446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 = [5, 7, 9]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5, 7, 9</a:t>
            </a:r>
            <a:r>
              <a:rPr lang="ko-KR" altLang="en-US" dirty="0">
                <a:latin typeface="+mn-ea"/>
              </a:rPr>
              <a:t>라는 정수 세 개를 묶은 리스트를 만들어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에 저장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 입력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[5, 7, 9]</a:t>
            </a:r>
            <a:r>
              <a:rPr lang="ko-KR" altLang="en-US" dirty="0">
                <a:latin typeface="+mn-ea"/>
              </a:rPr>
              <a:t> 표시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가 </a:t>
            </a:r>
            <a:r>
              <a:rPr lang="en-US" altLang="ko-KR" dirty="0">
                <a:latin typeface="+mn-ea"/>
              </a:rPr>
              <a:t>5, 7, 9</a:t>
            </a:r>
            <a:r>
              <a:rPr lang="ko-KR" altLang="en-US" dirty="0">
                <a:latin typeface="+mn-ea"/>
              </a:rPr>
              <a:t>라는 정보 세 개를 묶어 놓은 리스트라고 알려주는 것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주의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!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리스트는 자료 위치를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이 아닌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부터 센다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a[0] </a:t>
            </a: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5 </a:t>
            </a:r>
            <a:r>
              <a:rPr lang="ko-KR" altLang="en-US" dirty="0">
                <a:latin typeface="+mn-ea"/>
              </a:rPr>
              <a:t>표시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리스트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의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번 위치 값을 의미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5, 7, 9 </a:t>
            </a:r>
            <a:r>
              <a:rPr lang="ko-KR" altLang="en-US" dirty="0">
                <a:latin typeface="+mn-ea"/>
              </a:rPr>
              <a:t>중 맨 앞에 있는 값인 </a:t>
            </a:r>
            <a:r>
              <a:rPr lang="en-US" altLang="ko-KR" dirty="0">
                <a:latin typeface="+mn-ea"/>
              </a:rPr>
              <a:t>5</a:t>
            </a:r>
            <a:r>
              <a:rPr lang="ko-KR" altLang="en-US" dirty="0">
                <a:latin typeface="+mn-ea"/>
              </a:rPr>
              <a:t> 표시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a[2] </a:t>
            </a: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9 </a:t>
            </a:r>
            <a:r>
              <a:rPr lang="ko-KR" altLang="en-US" dirty="0">
                <a:latin typeface="+mn-ea"/>
              </a:rPr>
              <a:t>표시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리스트의 마지막 값인 </a:t>
            </a:r>
            <a:r>
              <a:rPr lang="en-US" altLang="ko-KR" dirty="0">
                <a:latin typeface="+mn-ea"/>
              </a:rPr>
              <a:t>9 </a:t>
            </a:r>
            <a:r>
              <a:rPr lang="ko-KR" altLang="en-US" dirty="0">
                <a:latin typeface="+mn-ea"/>
              </a:rPr>
              <a:t>표시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00741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리스트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119871" cy="2682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a[-1] </a:t>
            </a: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9 </a:t>
            </a:r>
            <a:r>
              <a:rPr lang="ko-KR" altLang="en-US" dirty="0">
                <a:latin typeface="+mn-ea"/>
              </a:rPr>
              <a:t>표시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리스트에서 위치 번호 </a:t>
            </a:r>
            <a:r>
              <a:rPr lang="en-US" altLang="ko-KR" dirty="0">
                <a:latin typeface="+mn-ea"/>
              </a:rPr>
              <a:t>-1</a:t>
            </a:r>
            <a:r>
              <a:rPr lang="ko-KR" altLang="en-US" dirty="0">
                <a:latin typeface="+mn-ea"/>
              </a:rPr>
              <a:t>은 리스트의 끝에서 첫 번째 값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마지막 값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+mn-ea"/>
              </a:rPr>
              <a:t>len</a:t>
            </a:r>
            <a:r>
              <a:rPr lang="en-US" altLang="ko-KR" dirty="0">
                <a:latin typeface="+mn-ea"/>
              </a:rPr>
              <a:t>(a) </a:t>
            </a:r>
            <a:r>
              <a:rPr lang="ko-KR" altLang="en-US" dirty="0">
                <a:latin typeface="+mn-ea"/>
              </a:rPr>
              <a:t>→</a:t>
            </a:r>
            <a:r>
              <a:rPr lang="en-US" altLang="ko-KR" dirty="0">
                <a:latin typeface="+mn-ea"/>
              </a:rPr>
              <a:t> 3 </a:t>
            </a:r>
            <a:r>
              <a:rPr lang="ko-KR" altLang="en-US" dirty="0">
                <a:latin typeface="+mn-ea"/>
              </a:rPr>
              <a:t>표시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리스트 </a:t>
            </a: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에는 세 개의 값인 </a:t>
            </a:r>
            <a:r>
              <a:rPr lang="en-US" altLang="ko-KR" dirty="0">
                <a:latin typeface="+mn-ea"/>
              </a:rPr>
              <a:t>[5, 7, 9]</a:t>
            </a:r>
            <a:r>
              <a:rPr lang="ko-KR" altLang="en-US" dirty="0">
                <a:latin typeface="+mn-ea"/>
              </a:rPr>
              <a:t>가 들어 있으므로 </a:t>
            </a:r>
            <a:r>
              <a:rPr lang="en-US" altLang="ko-KR" dirty="0">
                <a:latin typeface="+mn-ea"/>
              </a:rPr>
              <a:t>3 </a:t>
            </a:r>
            <a:r>
              <a:rPr lang="ko-KR" altLang="en-US" dirty="0">
                <a:latin typeface="+mn-ea"/>
              </a:rPr>
              <a:t>표시</a:t>
            </a: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+mn-ea"/>
              </a:rPr>
              <a:t>len</a:t>
            </a:r>
            <a:r>
              <a:rPr lang="en-US" altLang="ko-KR" dirty="0">
                <a:latin typeface="+mn-ea"/>
              </a:rPr>
              <a:t>() </a:t>
            </a:r>
            <a:r>
              <a:rPr lang="ko-KR" altLang="en-US" dirty="0">
                <a:latin typeface="+mn-ea"/>
              </a:rPr>
              <a:t>함수를 사용하면 어떤 리스트 안에 들어 있는 자료 개수를 알 수 있음</a:t>
            </a:r>
            <a:endParaRPr lang="en-US" altLang="ko-KR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909" y="4786245"/>
            <a:ext cx="4820181" cy="10088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5866528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리스트의 자료 값과 위치 번호</a:t>
            </a:r>
          </a:p>
        </p:txBody>
      </p:sp>
    </p:spTree>
    <p:extLst>
      <p:ext uri="{BB962C8B-B14F-4D97-AF65-F5344CB8AC3E}">
        <p14:creationId xmlns:p14="http://schemas.microsoft.com/office/powerpoint/2010/main" val="39453846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리스트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56" y="1738649"/>
            <a:ext cx="6077747" cy="47044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5068" y="6175487"/>
            <a:ext cx="2648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표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자주 쓰는 리스트 기능</a:t>
            </a:r>
          </a:p>
        </p:txBody>
      </p:sp>
    </p:spTree>
    <p:extLst>
      <p:ext uri="{BB962C8B-B14F-4D97-AF65-F5344CB8AC3E}">
        <p14:creationId xmlns:p14="http://schemas.microsoft.com/office/powerpoint/2010/main" val="27954741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최댓값을 찾는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2631836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첫 번째 숫자 </a:t>
            </a:r>
            <a:r>
              <a:rPr lang="en-US" altLang="ko-KR" dirty="0">
                <a:latin typeface="+mn-ea"/>
              </a:rPr>
              <a:t>17</a:t>
            </a:r>
            <a:r>
              <a:rPr lang="ko-KR" altLang="en-US" dirty="0">
                <a:latin typeface="+mn-ea"/>
              </a:rPr>
              <a:t>을 최댓값으로 기억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최댓값</a:t>
            </a:r>
            <a:r>
              <a:rPr lang="en-US" altLang="ko-KR" dirty="0">
                <a:latin typeface="+mn-ea"/>
              </a:rPr>
              <a:t>: 17)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두 번째 숫자 </a:t>
            </a:r>
            <a:r>
              <a:rPr lang="en-US" altLang="ko-KR" dirty="0">
                <a:latin typeface="+mn-ea"/>
              </a:rPr>
              <a:t>92</a:t>
            </a:r>
            <a:r>
              <a:rPr lang="ko-KR" altLang="en-US" dirty="0">
                <a:latin typeface="+mn-ea"/>
              </a:rPr>
              <a:t>를 현재 최댓값 </a:t>
            </a:r>
            <a:r>
              <a:rPr lang="en-US" altLang="ko-KR" dirty="0">
                <a:latin typeface="+mn-ea"/>
              </a:rPr>
              <a:t>17</a:t>
            </a:r>
            <a:r>
              <a:rPr lang="ko-KR" altLang="en-US" dirty="0">
                <a:latin typeface="+mn-ea"/>
              </a:rPr>
              <a:t>과 비교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92</a:t>
            </a:r>
            <a:r>
              <a:rPr lang="ko-KR" altLang="en-US" dirty="0">
                <a:latin typeface="+mn-ea"/>
              </a:rPr>
              <a:t>는 </a:t>
            </a:r>
            <a:r>
              <a:rPr lang="en-US" altLang="ko-KR" dirty="0">
                <a:latin typeface="+mn-ea"/>
              </a:rPr>
              <a:t>17</a:t>
            </a:r>
            <a:r>
              <a:rPr lang="ko-KR" altLang="en-US" dirty="0">
                <a:latin typeface="+mn-ea"/>
              </a:rPr>
              <a:t>보다 크므로 최댓값을 </a:t>
            </a:r>
            <a:r>
              <a:rPr lang="en-US" altLang="ko-KR" dirty="0">
                <a:latin typeface="+mn-ea"/>
              </a:rPr>
              <a:t>92</a:t>
            </a:r>
            <a:r>
              <a:rPr lang="ko-KR" altLang="en-US" dirty="0">
                <a:latin typeface="+mn-ea"/>
              </a:rPr>
              <a:t>로 바꿔 기억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최댓값</a:t>
            </a:r>
            <a:r>
              <a:rPr lang="en-US" altLang="ko-KR" dirty="0">
                <a:latin typeface="+mn-ea"/>
              </a:rPr>
              <a:t>: 92)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세 번째 숫자 </a:t>
            </a:r>
            <a:r>
              <a:rPr lang="en-US" altLang="ko-KR" dirty="0">
                <a:latin typeface="+mn-ea"/>
              </a:rPr>
              <a:t>18</a:t>
            </a:r>
            <a:r>
              <a:rPr lang="ko-KR" altLang="en-US" dirty="0">
                <a:latin typeface="+mn-ea"/>
              </a:rPr>
              <a:t>을 현재 최댓값 </a:t>
            </a:r>
            <a:r>
              <a:rPr lang="en-US" altLang="ko-KR" dirty="0">
                <a:latin typeface="+mn-ea"/>
              </a:rPr>
              <a:t>92</a:t>
            </a:r>
            <a:r>
              <a:rPr lang="ko-KR" altLang="en-US" dirty="0">
                <a:latin typeface="+mn-ea"/>
              </a:rPr>
              <a:t>와 비교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작으므로 </a:t>
            </a:r>
            <a:r>
              <a:rPr lang="ko-KR" altLang="en-US" dirty="0" err="1">
                <a:latin typeface="+mn-ea"/>
              </a:rPr>
              <a:t>지나감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최댓값</a:t>
            </a:r>
            <a:r>
              <a:rPr lang="en-US" altLang="ko-KR" dirty="0">
                <a:latin typeface="+mn-ea"/>
              </a:rPr>
              <a:t>: 92)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4~7)</a:t>
            </a:r>
            <a:r>
              <a:rPr lang="en-US" altLang="ko-KR" dirty="0">
                <a:latin typeface="+mn-ea"/>
              </a:rPr>
              <a:t>  </a:t>
            </a:r>
            <a:r>
              <a:rPr lang="ko-KR" altLang="en-US" dirty="0">
                <a:latin typeface="+mn-ea"/>
              </a:rPr>
              <a:t>네 번째 숫자부터 일곱 번째 숫자까지 같은 과정 반복</a:t>
            </a: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8)  </a:t>
            </a:r>
            <a:r>
              <a:rPr lang="ko-KR" altLang="en-US" dirty="0">
                <a:latin typeface="+mn-ea"/>
              </a:rPr>
              <a:t>마지막 숫자 </a:t>
            </a:r>
            <a:r>
              <a:rPr lang="en-US" altLang="ko-KR" dirty="0">
                <a:latin typeface="+mn-ea"/>
              </a:rPr>
              <a:t>42</a:t>
            </a:r>
            <a:r>
              <a:rPr lang="ko-KR" altLang="en-US" dirty="0">
                <a:latin typeface="+mn-ea"/>
              </a:rPr>
              <a:t>를 현재 최댓값 </a:t>
            </a:r>
            <a:r>
              <a:rPr lang="en-US" altLang="ko-KR" dirty="0">
                <a:latin typeface="+mn-ea"/>
              </a:rPr>
              <a:t>92</a:t>
            </a:r>
            <a:r>
              <a:rPr lang="ko-KR" altLang="en-US" dirty="0">
                <a:latin typeface="+mn-ea"/>
              </a:rPr>
              <a:t>와 비교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작으므로 </a:t>
            </a:r>
            <a:r>
              <a:rPr lang="ko-KR" altLang="en-US" dirty="0" err="1">
                <a:latin typeface="+mn-ea"/>
              </a:rPr>
              <a:t>지나감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최댓값</a:t>
            </a:r>
            <a:r>
              <a:rPr lang="en-US" altLang="ko-KR" dirty="0">
                <a:latin typeface="+mn-ea"/>
              </a:rPr>
              <a:t>: 92)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9)  </a:t>
            </a:r>
            <a:r>
              <a:rPr lang="ko-KR" altLang="en-US" dirty="0">
                <a:latin typeface="+mn-ea"/>
              </a:rPr>
              <a:t>마지막으로 기억된 </a:t>
            </a:r>
            <a:r>
              <a:rPr lang="en-US" altLang="ko-KR" dirty="0">
                <a:latin typeface="+mn-ea"/>
              </a:rPr>
              <a:t>92</a:t>
            </a:r>
            <a:r>
              <a:rPr lang="ko-KR" altLang="en-US" dirty="0">
                <a:latin typeface="+mn-ea"/>
              </a:rPr>
              <a:t>가 주어진 숫자 중 최댓값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17, 92, 18, 33, 58, 7, 33, 42 </a:t>
            </a:r>
            <a:r>
              <a:rPr lang="ko-KR" altLang="en-US" dirty="0">
                <a:latin typeface="+mn-ea"/>
              </a:rPr>
              <a:t>중 최댓값을 찾는 알고리즘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사람의 생각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035688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최댓값을 찾는 알고리즘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57" y="1821131"/>
            <a:ext cx="79208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2-1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최댓값을 구하는 알고리즘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045269" y="2917457"/>
            <a:ext cx="7088957" cy="297429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최댓값 구하기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숫자가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들어 있는 리스트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숫자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중 최댓값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find_max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 크기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max_v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a[0]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리스트의 첫 번째 값을 최댓값으로 기억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if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&gt;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max_v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이번 값이 현재까지 기억된 최댓값보다 크면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max_v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최댓값을 변경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max_v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p02-1-findmax.py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7" name="아래쪽 화살표 16"/>
          <p:cNvSpPr/>
          <p:nvPr/>
        </p:nvSpPr>
        <p:spPr>
          <a:xfrm>
            <a:off x="4502546" y="601683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17329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최댓값을 찾는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27521" y="2402771"/>
            <a:ext cx="7088957" cy="6797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v = [17, 92, 18, 33, 58, 7, 33, 42]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find_max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(v))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502547" y="211426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TextBox 13"/>
          <p:cNvSpPr txBox="1"/>
          <p:nvPr/>
        </p:nvSpPr>
        <p:spPr>
          <a:xfrm>
            <a:off x="647056" y="3333358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45269" y="4080893"/>
            <a:ext cx="7088957" cy="4027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92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2664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최댓값 구하기 프로그램의 계산 복잡도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(</a:t>
            </a:r>
            <a:r>
              <a:rPr lang="ko-KR" altLang="en-US" dirty="0">
                <a:solidFill>
                  <a:srgbClr val="EB666E"/>
                </a:solidFill>
                <a:latin typeface="+mn-ea"/>
              </a:rPr>
              <a:t>시간 복잡도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최댓값을 구하는 데 컴퓨터가 해야 하는 가장 중요한 계산은 두 값 중 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어느 것이 더 큰지를 판단하는 ‘비교’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프로그램 </a:t>
            </a:r>
            <a:r>
              <a:rPr lang="en-US" altLang="ko-KR" dirty="0">
                <a:latin typeface="+mn-ea"/>
              </a:rPr>
              <a:t>2-1</a:t>
            </a:r>
            <a:r>
              <a:rPr lang="ko-KR" altLang="en-US" dirty="0">
                <a:latin typeface="+mn-ea"/>
              </a:rPr>
              <a:t>의 </a:t>
            </a:r>
            <a:r>
              <a:rPr lang="en-US" altLang="ko-KR" dirty="0">
                <a:latin typeface="+mn-ea"/>
              </a:rPr>
              <a:t>for </a:t>
            </a:r>
            <a:r>
              <a:rPr lang="en-US" altLang="ko-KR" dirty="0" err="1">
                <a:latin typeface="+mn-ea"/>
              </a:rPr>
              <a:t>i</a:t>
            </a:r>
            <a:r>
              <a:rPr lang="en-US" altLang="ko-KR" dirty="0">
                <a:latin typeface="+mn-ea"/>
              </a:rPr>
              <a:t> in range(1, n): </a:t>
            </a:r>
            <a:r>
              <a:rPr lang="ko-KR" altLang="en-US" dirty="0" err="1">
                <a:latin typeface="+mn-ea"/>
              </a:rPr>
              <a:t>반복문</a:t>
            </a:r>
            <a:r>
              <a:rPr lang="ko-KR" altLang="en-US" dirty="0">
                <a:latin typeface="+mn-ea"/>
              </a:rPr>
              <a:t> 안의</a:t>
            </a:r>
            <a:r>
              <a:rPr lang="en-US" altLang="ko-KR" dirty="0">
                <a:latin typeface="+mn-ea"/>
              </a:rPr>
              <a:t>(if a[</a:t>
            </a:r>
            <a:r>
              <a:rPr lang="en-US" altLang="ko-KR" dirty="0" err="1">
                <a:latin typeface="+mn-ea"/>
              </a:rPr>
              <a:t>i</a:t>
            </a:r>
            <a:r>
              <a:rPr lang="en-US" altLang="ko-KR" dirty="0">
                <a:latin typeface="+mn-ea"/>
              </a:rPr>
              <a:t>] &gt;</a:t>
            </a:r>
            <a:r>
              <a:rPr lang="en-US" altLang="ko-KR" dirty="0" err="1">
                <a:latin typeface="+mn-ea"/>
              </a:rPr>
              <a:t>max_v</a:t>
            </a:r>
            <a:r>
              <a:rPr lang="en-US" altLang="ko-KR" dirty="0">
                <a:latin typeface="+mn-ea"/>
                <a:sym typeface="Wingdings" panose="05000000000000000000" pitchFamily="2" charset="2"/>
              </a:rPr>
              <a:t>:)</a:t>
            </a:r>
            <a:r>
              <a:rPr lang="ko-KR" altLang="en-US" dirty="0">
                <a:latin typeface="+mn-ea"/>
              </a:rPr>
              <a:t>이 있어 자료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개 중에서 최댓값을 찾으려면 비교를 </a:t>
            </a: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번 해야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복잡도는 </a:t>
            </a:r>
            <a:r>
              <a:rPr lang="en-US" altLang="ko-KR" dirty="0">
                <a:latin typeface="+mn-ea"/>
              </a:rPr>
              <a:t>O(n-1)</a:t>
            </a:r>
            <a:r>
              <a:rPr lang="ko-KR" altLang="en-US" dirty="0">
                <a:latin typeface="+mn-ea"/>
              </a:rPr>
              <a:t>이 아닌 </a:t>
            </a:r>
            <a:r>
              <a:rPr lang="en-US" altLang="ko-KR" dirty="0">
                <a:latin typeface="+mn-ea"/>
              </a:rPr>
              <a:t>O(n)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이 굉장히 커질 때는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번과 </a:t>
            </a: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번의 차이가 무의미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계산 복잡도 </a:t>
            </a:r>
            <a:r>
              <a:rPr lang="en-US" altLang="ko-KR" dirty="0">
                <a:latin typeface="+mn-ea"/>
              </a:rPr>
              <a:t>O(n)</a:t>
            </a:r>
            <a:r>
              <a:rPr lang="ko-KR" altLang="en-US" dirty="0">
                <a:latin typeface="+mn-ea"/>
              </a:rPr>
              <a:t>의 가장 중요한 특징은 입력 크기와 계산 시간이 대체로 비례한다는 것</a:t>
            </a:r>
          </a:p>
        </p:txBody>
      </p:sp>
    </p:spTree>
    <p:extLst>
      <p:ext uri="{BB962C8B-B14F-4D97-AF65-F5344CB8AC3E}">
        <p14:creationId xmlns:p14="http://schemas.microsoft.com/office/powerpoint/2010/main" val="23171815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응용하기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리스트에 숫자가 </a:t>
            </a:r>
            <a:r>
              <a:rPr lang="en-US" altLang="ko-KR" b="1" dirty="0">
                <a:latin typeface="+mn-ea"/>
              </a:rPr>
              <a:t>n</a:t>
            </a:r>
            <a:r>
              <a:rPr lang="ko-KR" altLang="en-US" b="1" dirty="0">
                <a:latin typeface="+mn-ea"/>
              </a:rPr>
              <a:t>개 있을 때 가장 큰 값이 있는 위치 번호를 돌려주는 </a:t>
            </a:r>
            <a:endParaRPr lang="en-US" altLang="ko-KR" b="1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b="1" dirty="0">
                <a:latin typeface="+mn-ea"/>
              </a:rPr>
              <a:t>알고리즘을 만들어 보세요</a:t>
            </a:r>
            <a:r>
              <a:rPr lang="en-US" altLang="ko-KR" b="1" dirty="0">
                <a:latin typeface="+mn-ea"/>
              </a:rPr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최댓값이 리스트의 어느 위치에 있는지 묻는 문제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5840637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응용하기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399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리스트 </a:t>
            </a:r>
            <a:r>
              <a:rPr lang="en-US" altLang="ko-KR" dirty="0"/>
              <a:t>[17, 92, 18, 33, 58, 7, 33, 42]</a:t>
            </a:r>
            <a:r>
              <a:rPr lang="ko-KR" altLang="en-US" dirty="0"/>
              <a:t>에서는 두 번째 나오는 값인 </a:t>
            </a:r>
            <a:r>
              <a:rPr lang="en-US" altLang="ko-KR" dirty="0"/>
              <a:t>92</a:t>
            </a:r>
            <a:r>
              <a:rPr lang="ko-KR" altLang="en-US" dirty="0"/>
              <a:t>가 최댓값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번 위치가 </a:t>
            </a:r>
            <a:r>
              <a:rPr lang="en-US" altLang="ko-KR" dirty="0">
                <a:latin typeface="+mn-ea"/>
              </a:rPr>
              <a:t>17, 1</a:t>
            </a:r>
            <a:r>
              <a:rPr lang="ko-KR" altLang="en-US" dirty="0">
                <a:latin typeface="+mn-ea"/>
              </a:rPr>
              <a:t>번 위치가 </a:t>
            </a:r>
            <a:r>
              <a:rPr lang="en-US" altLang="ko-KR" dirty="0">
                <a:latin typeface="+mn-ea"/>
              </a:rPr>
              <a:t>92</a:t>
            </a:r>
            <a:r>
              <a:rPr lang="ko-KR" altLang="en-US" dirty="0">
                <a:latin typeface="+mn-ea"/>
              </a:rPr>
              <a:t>이므로 이 문제의 답은 </a:t>
            </a:r>
            <a:r>
              <a:rPr lang="en-US" altLang="ko-KR" dirty="0">
                <a:latin typeface="+mn-ea"/>
              </a:rPr>
              <a:t>1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+mn-ea"/>
              </a:rPr>
              <a:t>파이썬에서</a:t>
            </a:r>
            <a:r>
              <a:rPr lang="ko-KR" altLang="en-US" dirty="0">
                <a:latin typeface="+mn-ea"/>
              </a:rPr>
              <a:t> 리스트의 위치 번호는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부터 시작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573" y="3585657"/>
            <a:ext cx="3994854" cy="20260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5660558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2-2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최댓값과 최댓값의 위치 번호</a:t>
            </a:r>
          </a:p>
        </p:txBody>
      </p:sp>
    </p:spTree>
    <p:extLst>
      <p:ext uri="{BB962C8B-B14F-4D97-AF65-F5344CB8AC3E}">
        <p14:creationId xmlns:p14="http://schemas.microsoft.com/office/powerpoint/2010/main" val="20983930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응용하기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2-2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최댓값의 위치를 구하는 알고리즘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045269" y="2917457"/>
            <a:ext cx="7088957" cy="297429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최댓값의 위치 구하기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숫자가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들어 있는 리스트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숫자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중에서 최댓값이 있는 위치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까지의 값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find_max_idx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 크기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0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중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번 위치를 일단 최댓값 위치로 기억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&gt;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이번 값이 현재까지 기억된 최댓값보다 크면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최댓값의 위치를 변경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max_idx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p02-2-findmaxidx.py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4" name="아래쪽 화살표 13"/>
          <p:cNvSpPr/>
          <p:nvPr/>
        </p:nvSpPr>
        <p:spPr>
          <a:xfrm>
            <a:off x="4502546" y="601683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0626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4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응용하기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027521" y="2402771"/>
            <a:ext cx="7088957" cy="6797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v = [17, 92, 18, 33, 58, 7, 33, 42]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find_max_idx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(v))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아래쪽 화살표 15"/>
          <p:cNvSpPr/>
          <p:nvPr/>
        </p:nvSpPr>
        <p:spPr>
          <a:xfrm rot="10800000">
            <a:off x="4502547" y="211426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TextBox 13"/>
          <p:cNvSpPr txBox="1"/>
          <p:nvPr/>
        </p:nvSpPr>
        <p:spPr>
          <a:xfrm>
            <a:off x="647056" y="3333358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045269" y="4080893"/>
            <a:ext cx="7088957" cy="4027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TextBox 13"/>
          <p:cNvSpPr txBox="1"/>
          <p:nvPr/>
        </p:nvSpPr>
        <p:spPr>
          <a:xfrm>
            <a:off x="647056" y="4825476"/>
            <a:ext cx="6513921" cy="9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a[</a:t>
            </a:r>
            <a:r>
              <a:rPr lang="ko-KR" altLang="en-US" dirty="0">
                <a:latin typeface="+mn-ea"/>
              </a:rPr>
              <a:t>최댓값의 위치 번호</a:t>
            </a:r>
            <a:r>
              <a:rPr lang="en-US" altLang="ko-KR" dirty="0">
                <a:latin typeface="+mn-ea"/>
              </a:rPr>
              <a:t>] = </a:t>
            </a:r>
            <a:r>
              <a:rPr lang="ko-KR" altLang="en-US" dirty="0">
                <a:latin typeface="+mn-ea"/>
              </a:rPr>
              <a:t>최댓값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예시</a:t>
            </a:r>
            <a:r>
              <a:rPr lang="en-US" altLang="ko-KR" dirty="0">
                <a:latin typeface="+mn-ea"/>
              </a:rPr>
              <a:t>: a[1] = 92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042603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2-1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숫자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개를 리스트로 </a:t>
            </a:r>
            <a:r>
              <a:rPr lang="ko-KR" altLang="en-US" dirty="0" err="1">
                <a:latin typeface="+mn-ea"/>
              </a:rPr>
              <a:t>입력받아</a:t>
            </a:r>
            <a:r>
              <a:rPr lang="ko-KR" altLang="en-US" dirty="0">
                <a:latin typeface="+mn-ea"/>
              </a:rPr>
              <a:t> 최솟값을 구하는 프로그램을 만들어 보세요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7699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2-1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최솟값 구하기 프로그램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917457"/>
            <a:ext cx="7088957" cy="297429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최솟값 구하기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숫자가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들어 있는 리스트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숫자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중 최솟값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find_min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 크기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min_v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a[0]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 중 첫 번째 값을 일단 최솟값으로 기억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(1, n):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&lt;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min_v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: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이번 값이 현재까지 기억된 최솟값보다 작으면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min_v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=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최솟값을 변경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min_v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e02-1-findmin.py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601683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5716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02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최댓값 찾기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9" name="모서리가 둥근 직사각형 8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27521" y="2402771"/>
            <a:ext cx="7088957" cy="67979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v = [17, 92, 18, 33, 58, 7, 33, 42]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find_min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(v))</a:t>
            </a:r>
          </a:p>
        </p:txBody>
      </p:sp>
      <p:sp>
        <p:nvSpPr>
          <p:cNvPr id="17" name="아래쪽 화살표 16"/>
          <p:cNvSpPr/>
          <p:nvPr/>
        </p:nvSpPr>
        <p:spPr>
          <a:xfrm rot="10800000">
            <a:off x="4502547" y="2114265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8" name="TextBox 13"/>
          <p:cNvSpPr txBox="1"/>
          <p:nvPr/>
        </p:nvSpPr>
        <p:spPr>
          <a:xfrm>
            <a:off x="647056" y="3333358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045269" y="4080893"/>
            <a:ext cx="7088957" cy="4027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7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7868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179512" y="144016"/>
            <a:ext cx="8820472" cy="6525344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280213" y="3610803"/>
            <a:ext cx="4629873" cy="8915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1" y="307695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 </a:t>
            </a: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 </a:t>
            </a:r>
            <a:r>
              <a:rPr lang="ko-KR" altLang="en-US" sz="26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동명이인 찾기①</a:t>
            </a:r>
          </a:p>
        </p:txBody>
      </p:sp>
    </p:spTree>
    <p:extLst>
      <p:ext uri="{BB962C8B-B14F-4D97-AF65-F5344CB8AC3E}">
        <p14:creationId xmlns:p14="http://schemas.microsoft.com/office/powerpoint/2010/main" val="33748189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0</a:t>
            </a:r>
            <a:endParaRPr lang="ko-KR" altLang="en-US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4205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en-US" altLang="ko-KR" b="1" dirty="0"/>
              <a:t>n</a:t>
            </a:r>
            <a:r>
              <a:rPr lang="ko-KR" altLang="en-US" b="1" dirty="0"/>
              <a:t>명의 사람 이름 중에서 같은 이름을 찾아 집합으로 만들어 돌려주는 </a:t>
            </a:r>
            <a:br>
              <a:rPr lang="en-US" altLang="ko-KR" b="1" dirty="0"/>
            </a:br>
            <a:r>
              <a:rPr lang="ko-KR" altLang="en-US" b="1" dirty="0"/>
              <a:t>알고리즘을 만들어 보세요</a:t>
            </a:r>
            <a:r>
              <a:rPr lang="en-US" altLang="ko-KR" b="1" dirty="0"/>
              <a:t>.</a:t>
            </a: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여러 사람의 이름 중에서 같은 이름이 있는지 확인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같은 이름이 있다면 같은 이름들을 새로 만든 결과 집합에 넣어 돌려주면 됨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이 문제의 입력은 </a:t>
            </a:r>
            <a:r>
              <a:rPr lang="en-US" altLang="ko-KR" dirty="0"/>
              <a:t>n</a:t>
            </a:r>
            <a:r>
              <a:rPr lang="ko-KR" altLang="en-US" dirty="0"/>
              <a:t>명의 이름이 들어 있는 리스트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결과는 같은 이름들이 들어 있는 집합</a:t>
            </a:r>
            <a:r>
              <a:rPr lang="en-US" altLang="ko-KR" dirty="0"/>
              <a:t>(set)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사람 이름으로 구성된 리스트 </a:t>
            </a:r>
            <a:r>
              <a:rPr lang="en-US" altLang="ko-KR" dirty="0"/>
              <a:t>["Tom", "Jerry", "Mike", "Tom"]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입력되면</a:t>
            </a:r>
            <a:br>
              <a:rPr lang="en-US" altLang="ko-KR" dirty="0"/>
            </a:br>
            <a:r>
              <a:rPr lang="en-US" altLang="ko-KR" dirty="0"/>
              <a:t>Tom</a:t>
            </a:r>
            <a:r>
              <a:rPr lang="ko-KR" altLang="en-US" dirty="0"/>
              <a:t>이란 이름이 두 번 나오므로 결과는 집합 </a:t>
            </a:r>
            <a:r>
              <a:rPr lang="en-US" altLang="ko-KR" dirty="0"/>
              <a:t>{“Tom”}</a:t>
            </a:r>
            <a:r>
              <a:rPr lang="ko-KR" altLang="en-US" dirty="0"/>
              <a:t>이 됨</a:t>
            </a:r>
            <a:endParaRPr lang="en-US" altLang="ko-KR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33570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집합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1463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집합</a:t>
            </a:r>
            <a:r>
              <a:rPr lang="en-US" altLang="ko-KR" dirty="0"/>
              <a:t>:</a:t>
            </a:r>
            <a:r>
              <a:rPr lang="ko-KR" altLang="en-US" dirty="0"/>
              <a:t> 리스트와 같이 정보를 여러 개 넣어서 보관할 수 있는 </a:t>
            </a:r>
            <a:r>
              <a:rPr lang="ko-KR" altLang="en-US" dirty="0" err="1"/>
              <a:t>파이썬의</a:t>
            </a:r>
            <a:r>
              <a:rPr lang="ko-KR" altLang="en-US" dirty="0"/>
              <a:t> 기능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집합 하나에는 같은 자료가 중복되어 들어가지 않고</a:t>
            </a:r>
            <a:r>
              <a:rPr lang="en-US" altLang="ko-KR" dirty="0"/>
              <a:t>, </a:t>
            </a:r>
            <a:r>
              <a:rPr lang="ko-KR" altLang="en-US" dirty="0"/>
              <a:t>자료의 순서도 의미가 없다는 점이 리스트와 다름</a:t>
            </a:r>
            <a:endParaRPr lang="ko-KR" altLang="en-US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27522" y="3428623"/>
            <a:ext cx="7088957" cy="260641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s = set()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s.add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(1)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s.add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(2)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s.add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(2)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이미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 집합에 있으므로 중복해서 들어가지 않습니다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s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{1, 2}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(s)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집합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s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에는 자료가 두 개 들어 있습니다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&gt;&gt;&gt; {1, 2} == {2, 1}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자료의 순서는 무관하므로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{1, 2}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{2, 1}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은 같은 집합입니다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405552970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1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집합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9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빈 집합을 만들려면 </a:t>
            </a:r>
            <a:r>
              <a:rPr lang="en-US" altLang="ko-KR" dirty="0"/>
              <a:t>set()</a:t>
            </a:r>
            <a:r>
              <a:rPr lang="ko-KR" altLang="en-US" dirty="0"/>
              <a:t>를 이용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집합에 자료를 추가하려면 </a:t>
            </a:r>
            <a:r>
              <a:rPr lang="en-US" altLang="ko-KR" dirty="0"/>
              <a:t>add() </a:t>
            </a:r>
            <a:r>
              <a:rPr lang="ko-KR" altLang="en-US" dirty="0"/>
              <a:t>함수 이용</a:t>
            </a:r>
            <a:endParaRPr lang="ko-KR" altLang="en-US" dirty="0">
              <a:latin typeface="+mn-ea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56" y="2915983"/>
            <a:ext cx="6142077" cy="34148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23801" y="6081298"/>
            <a:ext cx="2648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표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자주 쓰는 집합 기능</a:t>
            </a:r>
          </a:p>
        </p:txBody>
      </p:sp>
    </p:spTree>
    <p:extLst>
      <p:ext uri="{BB962C8B-B14F-4D97-AF65-F5344CB8AC3E}">
        <p14:creationId xmlns:p14="http://schemas.microsoft.com/office/powerpoint/2010/main" val="25852841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동명이인을 찾는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동명이인을 찾는 알고리즘</a:t>
            </a:r>
            <a:r>
              <a:rPr lang="en-US" altLang="ko-KR" dirty="0"/>
              <a:t>(</a:t>
            </a:r>
            <a:r>
              <a:rPr lang="ko-KR" altLang="en-US" dirty="0"/>
              <a:t>사람의 생각</a:t>
            </a:r>
            <a:r>
              <a:rPr lang="en-US" altLang="ko-KR" dirty="0"/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6" y="2631836"/>
            <a:ext cx="8020383" cy="2834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첫 번째 </a:t>
            </a:r>
            <a:r>
              <a:rPr lang="en-US" altLang="ko-KR" dirty="0">
                <a:latin typeface="+mn-ea"/>
              </a:rPr>
              <a:t>Tom</a:t>
            </a:r>
            <a:r>
              <a:rPr lang="ko-KR" altLang="en-US" dirty="0">
                <a:latin typeface="+mn-ea"/>
              </a:rPr>
              <a:t>을 뒤에 있는 </a:t>
            </a:r>
            <a:r>
              <a:rPr lang="en-US" altLang="ko-KR" dirty="0">
                <a:latin typeface="+mn-ea"/>
              </a:rPr>
              <a:t>Jerry, Mike, Tom</a:t>
            </a:r>
            <a:r>
              <a:rPr lang="ko-KR" altLang="en-US" dirty="0">
                <a:latin typeface="+mn-ea"/>
              </a:rPr>
              <a:t>과 차례로 비교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첫 번째 </a:t>
            </a:r>
            <a:r>
              <a:rPr lang="en-US" altLang="ko-KR" dirty="0">
                <a:latin typeface="+mn-ea"/>
              </a:rPr>
              <a:t>Tom</a:t>
            </a:r>
            <a:r>
              <a:rPr lang="ko-KR" altLang="en-US" dirty="0">
                <a:latin typeface="+mn-ea"/>
              </a:rPr>
              <a:t>과 마지막 </a:t>
            </a:r>
            <a:r>
              <a:rPr lang="en-US" altLang="ko-KR" dirty="0">
                <a:latin typeface="+mn-ea"/>
              </a:rPr>
              <a:t>Tom</a:t>
            </a:r>
            <a:r>
              <a:rPr lang="ko-KR" altLang="en-US" dirty="0">
                <a:latin typeface="+mn-ea"/>
              </a:rPr>
              <a:t>이 같으므로 동명이인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동명이인</a:t>
            </a:r>
            <a:r>
              <a:rPr lang="en-US" altLang="ko-KR" dirty="0">
                <a:latin typeface="+mn-ea"/>
              </a:rPr>
              <a:t>: Tom)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두 번째 </a:t>
            </a:r>
            <a:r>
              <a:rPr lang="en-US" altLang="ko-KR" dirty="0">
                <a:latin typeface="+mn-ea"/>
              </a:rPr>
              <a:t>Jerry</a:t>
            </a:r>
            <a:r>
              <a:rPr lang="ko-KR" altLang="en-US" dirty="0">
                <a:latin typeface="+mn-ea"/>
              </a:rPr>
              <a:t>를 뒤에 있는 </a:t>
            </a:r>
            <a:r>
              <a:rPr lang="en-US" altLang="ko-KR" dirty="0">
                <a:latin typeface="+mn-ea"/>
              </a:rPr>
              <a:t>Mike, Tom</a:t>
            </a:r>
            <a:r>
              <a:rPr lang="ko-KR" altLang="en-US" dirty="0">
                <a:latin typeface="+mn-ea"/>
              </a:rPr>
              <a:t>과 비교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앞의 </a:t>
            </a:r>
            <a:r>
              <a:rPr lang="en-US" altLang="ko-KR" dirty="0">
                <a:latin typeface="+mn-ea"/>
              </a:rPr>
              <a:t>Tom</a:t>
            </a:r>
            <a:r>
              <a:rPr lang="ko-KR" altLang="en-US" dirty="0">
                <a:latin typeface="+mn-ea"/>
              </a:rPr>
              <a:t>과는 이미 비교함</a:t>
            </a:r>
            <a:r>
              <a:rPr lang="en-US" altLang="ko-KR" dirty="0">
                <a:latin typeface="+mn-ea"/>
              </a:rPr>
              <a:t>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세 번째 </a:t>
            </a:r>
            <a:r>
              <a:rPr lang="en-US" altLang="ko-KR" dirty="0">
                <a:latin typeface="+mn-ea"/>
              </a:rPr>
              <a:t>Mike</a:t>
            </a:r>
            <a:r>
              <a:rPr lang="ko-KR" altLang="en-US" dirty="0">
                <a:latin typeface="+mn-ea"/>
              </a:rPr>
              <a:t>를 뒤에 있는 </a:t>
            </a:r>
            <a:r>
              <a:rPr lang="en-US" altLang="ko-KR" dirty="0">
                <a:latin typeface="+mn-ea"/>
              </a:rPr>
              <a:t>Tom</a:t>
            </a:r>
            <a:r>
              <a:rPr lang="ko-KR" altLang="en-US" dirty="0">
                <a:latin typeface="+mn-ea"/>
              </a:rPr>
              <a:t>과 비교</a:t>
            </a:r>
            <a:endParaRPr lang="en-US" altLang="ko-KR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마지막 </a:t>
            </a:r>
            <a:r>
              <a:rPr lang="en-US" altLang="ko-KR" dirty="0">
                <a:latin typeface="+mn-ea"/>
              </a:rPr>
              <a:t>Tom</a:t>
            </a:r>
            <a:r>
              <a:rPr lang="ko-KR" altLang="en-US" dirty="0">
                <a:latin typeface="+mn-ea"/>
              </a:rPr>
              <a:t>은 비교하지 않아도 됨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이미 앞에서 비교함</a:t>
            </a:r>
            <a:r>
              <a:rPr lang="en-US" altLang="ko-KR" dirty="0">
                <a:latin typeface="+mn-ea"/>
              </a:rPr>
              <a:t>)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arenR"/>
            </a:pPr>
            <a:r>
              <a:rPr lang="ko-KR" altLang="en-US" dirty="0">
                <a:latin typeface="+mn-ea"/>
              </a:rPr>
              <a:t>같은 이름은 </a:t>
            </a:r>
            <a:r>
              <a:rPr lang="en-US" altLang="ko-KR" dirty="0">
                <a:latin typeface="+mn-ea"/>
              </a:rPr>
              <a:t>Tom </a:t>
            </a:r>
            <a:r>
              <a:rPr lang="ko-KR" altLang="en-US" dirty="0">
                <a:latin typeface="+mn-ea"/>
              </a:rPr>
              <a:t>하나뿐</a:t>
            </a:r>
          </a:p>
        </p:txBody>
      </p:sp>
    </p:spTree>
    <p:extLst>
      <p:ext uri="{BB962C8B-B14F-4D97-AF65-F5344CB8AC3E}">
        <p14:creationId xmlns:p14="http://schemas.microsoft.com/office/powerpoint/2010/main" val="231562942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동명이인을 찾는 알고리즘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901" y="1953131"/>
            <a:ext cx="4536197" cy="40491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6074303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3-1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동명이인을 찾는 과정</a:t>
            </a:r>
          </a:p>
        </p:txBody>
      </p:sp>
    </p:spTree>
    <p:extLst>
      <p:ext uri="{BB962C8B-B14F-4D97-AF65-F5344CB8AC3E}">
        <p14:creationId xmlns:p14="http://schemas.microsoft.com/office/powerpoint/2010/main" val="11146979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동명이인을 찾는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23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</a:rPr>
              <a:t>이 알고리즘에서 주의할 점</a:t>
            </a:r>
            <a:endParaRPr lang="en-US" altLang="ko-KR" dirty="0">
              <a:solidFill>
                <a:srgbClr val="EB666E"/>
              </a:solidFill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eriod"/>
            </a:pPr>
            <a:r>
              <a:rPr lang="ko-KR" altLang="en-US" dirty="0"/>
              <a:t>이번에 비교할 이름을 뽑은 다음에는 뽑은 이름보다 순서상 뒤에 있는 </a:t>
            </a:r>
            <a:br>
              <a:rPr lang="en-US" altLang="ko-KR" dirty="0"/>
            </a:br>
            <a:r>
              <a:rPr lang="ko-KR" altLang="en-US" dirty="0" err="1"/>
              <a:t>이름하고만</a:t>
            </a:r>
            <a:r>
              <a:rPr lang="ko-KR" altLang="en-US" dirty="0"/>
              <a:t> 비교하면 됨</a:t>
            </a:r>
            <a:br>
              <a:rPr lang="en-US" altLang="ko-KR" dirty="0"/>
            </a:br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자기 자신과 비교하는 것은 무의미</a:t>
            </a:r>
            <a:r>
              <a:rPr lang="en-US" altLang="ko-KR" dirty="0"/>
              <a:t>, </a:t>
            </a:r>
            <a:r>
              <a:rPr lang="ko-KR" altLang="en-US" dirty="0"/>
              <a:t>앞의 이름과는 이미 비교가 끝났음</a:t>
            </a:r>
            <a:r>
              <a:rPr lang="en-US" altLang="ko-KR" dirty="0"/>
              <a:t> 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eriod"/>
            </a:pPr>
            <a:r>
              <a:rPr lang="ko-KR" altLang="en-US" dirty="0"/>
              <a:t>리스트의 마지막 이름을 기준으로는 비교하지 않아도 됨</a:t>
            </a:r>
            <a:br>
              <a:rPr lang="en-US" altLang="ko-KR" dirty="0"/>
            </a:br>
            <a:r>
              <a:rPr lang="ko-KR" altLang="en-US" dirty="0"/>
              <a:t>→</a:t>
            </a:r>
            <a:r>
              <a:rPr lang="en-US" altLang="ko-KR" dirty="0"/>
              <a:t> </a:t>
            </a:r>
            <a:r>
              <a:rPr lang="ko-KR" altLang="en-US" dirty="0"/>
              <a:t>자신의 뒤에는 비교할 이름이 없고</a:t>
            </a:r>
            <a:r>
              <a:rPr lang="en-US" altLang="ko-KR" dirty="0"/>
              <a:t>, </a:t>
            </a:r>
            <a:r>
              <a:rPr lang="ko-KR" altLang="en-US" dirty="0"/>
              <a:t>앞과는 이미 비교가 끝났음</a:t>
            </a:r>
            <a:r>
              <a:rPr lang="en-US" altLang="ko-KR" dirty="0"/>
              <a:t> 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rabicPeriod"/>
            </a:pPr>
            <a:r>
              <a:rPr lang="ko-KR" altLang="en-US" dirty="0"/>
              <a:t>같은 이름을 찾으면 결과 집합에 그 이름을 추가</a:t>
            </a:r>
            <a:endParaRPr lang="ko-KR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159434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동명이인을 찾는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프로그램 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3-1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동명이인을 찾는 알고리즘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45269" y="2917456"/>
            <a:ext cx="7088957" cy="318168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번 이상 나온 이름 찾기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이름이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들어 있는 리스트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개 중 반복되는 이름의 집합</a:t>
            </a:r>
          </a:p>
          <a:p>
            <a:pPr>
              <a:lnSpc>
                <a:spcPct val="120000"/>
              </a:lnSpc>
            </a:pPr>
            <a:endParaRPr lang="ko-KR" altLang="en-US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find_same_name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리스트의 자료 개수를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 저장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result =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set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결과를 저장할 빈 집합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 - 1):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j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+ 1, n):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i+1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== a[j]:     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이름이 같으면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   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result.add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])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찾은 이름을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result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 추가</a:t>
            </a: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return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p03-1-samename.py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6236074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2403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동명이인을 찾는 알고리즘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1027521" y="2298094"/>
            <a:ext cx="7088957" cy="142174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name = [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"Tom"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"Jerry"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"Mike"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"Tom"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대소문자 유의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 err="1">
                <a:solidFill>
                  <a:schemeClr val="accent2">
                    <a:lumMod val="50000"/>
                  </a:schemeClr>
                </a:solidFill>
                <a:latin typeface="+mn-ea"/>
              </a:rPr>
              <a:t>파이썬은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대소문자를 구분함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find_same_name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(name))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name2 = [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"Tom"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"Jerry"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"Mike"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"Tom"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"Mike"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find_same_name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(name2))</a:t>
            </a:r>
          </a:p>
        </p:txBody>
      </p:sp>
      <p:sp>
        <p:nvSpPr>
          <p:cNvPr id="9" name="아래쪽 화살표 8"/>
          <p:cNvSpPr/>
          <p:nvPr/>
        </p:nvSpPr>
        <p:spPr>
          <a:xfrm rot="10800000">
            <a:off x="4502547" y="2009589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0" name="TextBox 13"/>
          <p:cNvSpPr txBox="1"/>
          <p:nvPr/>
        </p:nvSpPr>
        <p:spPr>
          <a:xfrm>
            <a:off x="647056" y="4007187"/>
            <a:ext cx="6513921" cy="493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045269" y="4754722"/>
            <a:ext cx="7088957" cy="58084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{‘Tom’}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{‘Mike’, ‘Tom’}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647056" y="5694056"/>
            <a:ext cx="8020383" cy="549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자료의 출력 순서는 중요하지 않음 → </a:t>
            </a:r>
            <a:r>
              <a:rPr lang="en-US" altLang="ko-KR" dirty="0">
                <a:latin typeface="+mn-ea"/>
              </a:rPr>
              <a:t>{‘Tom’, ‘Mike’}</a:t>
            </a:r>
            <a:r>
              <a:rPr lang="ko-KR" altLang="en-US" dirty="0">
                <a:latin typeface="+mn-ea"/>
              </a:rPr>
              <a:t> 출력도 틀린 것 아님</a:t>
            </a:r>
          </a:p>
        </p:txBody>
      </p:sp>
    </p:spTree>
    <p:extLst>
      <p:ext uri="{BB962C8B-B14F-4D97-AF65-F5344CB8AC3E}">
        <p14:creationId xmlns:p14="http://schemas.microsoft.com/office/powerpoint/2010/main" val="38428744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동명이인을 찾는 알고리즘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32916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중첩된 </a:t>
            </a:r>
            <a:r>
              <a:rPr lang="ko-KR" altLang="en-US" dirty="0" err="1">
                <a:solidFill>
                  <a:srgbClr val="EB666E"/>
                </a:solidFill>
                <a:latin typeface="+mn-ea"/>
              </a:rPr>
              <a:t>반복문</a:t>
            </a:r>
            <a:r>
              <a:rPr lang="ko-KR" altLang="en-US" dirty="0">
                <a:solidFill>
                  <a:srgbClr val="EB666E"/>
                </a:solidFill>
                <a:latin typeface="+mn-ea"/>
              </a:rPr>
              <a:t> 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리스트 안의 자료를 서로 빠짐없이 비교하되 중복해서 비교하지 않게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첫 번째 </a:t>
            </a:r>
            <a:r>
              <a:rPr lang="ko-KR" altLang="en-US" dirty="0" err="1">
                <a:latin typeface="+mn-ea"/>
              </a:rPr>
              <a:t>반복문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for </a:t>
            </a:r>
            <a:r>
              <a:rPr lang="en-US" altLang="ko-KR" dirty="0" err="1">
                <a:latin typeface="+mn-ea"/>
              </a:rPr>
              <a:t>i</a:t>
            </a:r>
            <a:r>
              <a:rPr lang="en-US" altLang="ko-KR" dirty="0">
                <a:latin typeface="+mn-ea"/>
              </a:rPr>
              <a:t> in range(0, n - 1):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en-US" altLang="ko-KR" dirty="0" err="1">
                <a:latin typeface="+mn-ea"/>
              </a:rPr>
              <a:t>i</a:t>
            </a:r>
            <a:r>
              <a:rPr lang="ko-KR" altLang="en-US" dirty="0">
                <a:latin typeface="+mn-ea"/>
              </a:rPr>
              <a:t>를 </a:t>
            </a: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n-2</a:t>
            </a:r>
            <a:r>
              <a:rPr lang="ko-KR" altLang="en-US" dirty="0">
                <a:latin typeface="+mn-ea"/>
              </a:rPr>
              <a:t>까지 반복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두 번째 </a:t>
            </a:r>
            <a:r>
              <a:rPr lang="ko-KR" altLang="en-US" dirty="0" err="1">
                <a:latin typeface="+mn-ea"/>
              </a:rPr>
              <a:t>반복문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for j in range(</a:t>
            </a:r>
            <a:r>
              <a:rPr lang="en-US" altLang="ko-KR" dirty="0" err="1">
                <a:latin typeface="+mn-ea"/>
              </a:rPr>
              <a:t>i</a:t>
            </a:r>
            <a:r>
              <a:rPr lang="en-US" altLang="ko-KR" dirty="0">
                <a:latin typeface="+mn-ea"/>
              </a:rPr>
              <a:t> + 1, n):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ko-KR" altLang="en-US" dirty="0"/>
              <a:t>비교 기준으로 정해진 </a:t>
            </a:r>
            <a:r>
              <a:rPr lang="en-US" altLang="ko-KR" dirty="0" err="1"/>
              <a:t>i</a:t>
            </a:r>
            <a:r>
              <a:rPr lang="ko-KR" altLang="en-US" dirty="0"/>
              <a:t>번째 위치에 </a:t>
            </a:r>
            <a:r>
              <a:rPr lang="en-US" altLang="ko-KR" dirty="0"/>
              <a:t>1</a:t>
            </a:r>
            <a:r>
              <a:rPr lang="ko-KR" altLang="en-US" dirty="0"/>
              <a:t>을 더한 위치의 값부터 끝까지 비교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664459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2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동명이인을 찾는 알고리즘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872" y="1654385"/>
            <a:ext cx="4218446" cy="487293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57739" y="5862138"/>
            <a:ext cx="3261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그림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3-2</a:t>
            </a:r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리스트에 있는 자료를</a:t>
            </a:r>
            <a:endParaRPr lang="en-US" altLang="ko-KR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  <a:p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모두 비교하는 방법</a:t>
            </a:r>
          </a:p>
        </p:txBody>
      </p:sp>
    </p:spTree>
    <p:extLst>
      <p:ext uri="{BB962C8B-B14F-4D97-AF65-F5344CB8AC3E}">
        <p14:creationId xmlns:p14="http://schemas.microsoft.com/office/powerpoint/2010/main" val="408671175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056" y="1821131"/>
            <a:ext cx="8020383" cy="942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5000"/>
              </a:lnSpc>
              <a:buClr>
                <a:srgbClr val="EB666E"/>
              </a:buClr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계산 복잡도</a:t>
            </a:r>
            <a:r>
              <a:rPr lang="en-US" altLang="ko-KR" dirty="0">
                <a:solidFill>
                  <a:srgbClr val="EB666E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EB666E"/>
                </a:solidFill>
                <a:latin typeface="+mn-ea"/>
              </a:rPr>
              <a:t>분석</a:t>
            </a:r>
            <a:endParaRPr lang="en-US" altLang="ko-KR" dirty="0">
              <a:solidFill>
                <a:srgbClr val="EB666E"/>
              </a:solidFill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두 이름이 같은지 </a:t>
            </a:r>
            <a:r>
              <a:rPr lang="en-US" altLang="ko-KR" dirty="0">
                <a:latin typeface="+mn-ea"/>
              </a:rPr>
              <a:t>‘</a:t>
            </a:r>
            <a:r>
              <a:rPr lang="ko-KR" altLang="en-US" dirty="0">
                <a:latin typeface="+mn-ea"/>
              </a:rPr>
              <a:t>비교</a:t>
            </a:r>
            <a:r>
              <a:rPr lang="en-US" altLang="ko-KR" dirty="0"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하는 횟수를 따져 보면 됨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218" y="3171989"/>
            <a:ext cx="5197563" cy="164007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4862572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표 </a:t>
            </a:r>
            <a:r>
              <a:rPr lang="en-US" altLang="ko-KR" sz="1200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3-2</a:t>
            </a:r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 n = 4</a:t>
            </a:r>
            <a:r>
              <a:rPr lang="ko-KR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일 때 비교 횟수</a:t>
            </a:r>
          </a:p>
        </p:txBody>
      </p:sp>
    </p:spTree>
    <p:extLst>
      <p:ext uri="{BB962C8B-B14F-4D97-AF65-F5344CB8AC3E}">
        <p14:creationId xmlns:p14="http://schemas.microsoft.com/office/powerpoint/2010/main" val="41892895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232993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일반적인 입력 크기인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에 대한 비교 횟수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0</a:t>
            </a:r>
            <a:r>
              <a:rPr lang="ko-KR" altLang="en-US" dirty="0">
                <a:latin typeface="+mn-ea"/>
              </a:rPr>
              <a:t>번 위치 이름</a:t>
            </a:r>
            <a:r>
              <a:rPr lang="en-US" altLang="ko-KR" dirty="0">
                <a:latin typeface="+mn-ea"/>
              </a:rPr>
              <a:t>: n-1</a:t>
            </a:r>
            <a:r>
              <a:rPr lang="ko-KR" altLang="en-US" dirty="0">
                <a:latin typeface="+mn-ea"/>
              </a:rPr>
              <a:t>번 비교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자기를 제외한 모든 이름과 비교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번 위치 이름</a:t>
            </a:r>
            <a:r>
              <a:rPr lang="en-US" altLang="ko-KR" dirty="0">
                <a:latin typeface="+mn-ea"/>
              </a:rPr>
              <a:t>: n-2</a:t>
            </a:r>
            <a:r>
              <a:rPr lang="ko-KR" altLang="en-US" dirty="0">
                <a:latin typeface="+mn-ea"/>
              </a:rPr>
              <a:t>번 비교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2</a:t>
            </a:r>
            <a:r>
              <a:rPr lang="ko-KR" altLang="en-US" dirty="0">
                <a:latin typeface="+mn-ea"/>
              </a:rPr>
              <a:t>번 위치 이름</a:t>
            </a:r>
            <a:r>
              <a:rPr lang="en-US" altLang="ko-KR" dirty="0">
                <a:latin typeface="+mn-ea"/>
              </a:rPr>
              <a:t>: n-3</a:t>
            </a:r>
            <a:r>
              <a:rPr lang="ko-KR" altLang="en-US" dirty="0">
                <a:latin typeface="+mn-ea"/>
              </a:rPr>
              <a:t>번 비교</a:t>
            </a:r>
            <a:br>
              <a:rPr lang="en-US" altLang="ko-KR" dirty="0">
                <a:latin typeface="+mn-ea"/>
              </a:rPr>
            </a:br>
            <a:r>
              <a:rPr lang="en-US" altLang="ko-KR" dirty="0">
                <a:latin typeface="+mn-ea"/>
              </a:rPr>
              <a:t>…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n-2</a:t>
            </a:r>
            <a:r>
              <a:rPr lang="ko-KR" altLang="en-US" dirty="0">
                <a:latin typeface="+mn-ea"/>
              </a:rPr>
              <a:t>번 위치 이름</a:t>
            </a:r>
            <a:r>
              <a:rPr lang="en-US" altLang="ko-KR" dirty="0">
                <a:latin typeface="+mn-ea"/>
              </a:rPr>
              <a:t>: 1</a:t>
            </a:r>
            <a:r>
              <a:rPr lang="ko-KR" altLang="en-US" dirty="0">
                <a:latin typeface="+mn-ea"/>
              </a:rPr>
              <a:t>번 비교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번 위치 이름</a:t>
            </a:r>
            <a:r>
              <a:rPr lang="en-US" altLang="ko-KR" dirty="0">
                <a:latin typeface="+mn-ea"/>
              </a:rPr>
              <a:t>: 0</a:t>
            </a:r>
            <a:r>
              <a:rPr lang="ko-KR" altLang="en-US" dirty="0">
                <a:latin typeface="+mn-ea"/>
              </a:rPr>
              <a:t>번 비교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전체 비교 횟수는 </a:t>
            </a:r>
            <a:r>
              <a:rPr lang="en-US" altLang="ko-KR" dirty="0">
                <a:latin typeface="+mn-ea"/>
              </a:rPr>
              <a:t>0 + 1 + 2 + 3 + 4 + … + (n-1)</a:t>
            </a:r>
            <a:r>
              <a:rPr lang="ko-KR" altLang="en-US" dirty="0">
                <a:latin typeface="+mn-ea"/>
              </a:rPr>
              <a:t>번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즉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까지의 합</a:t>
            </a:r>
          </a:p>
        </p:txBody>
      </p:sp>
    </p:spTree>
    <p:extLst>
      <p:ext uri="{BB962C8B-B14F-4D97-AF65-F5344CB8AC3E}">
        <p14:creationId xmlns:p14="http://schemas.microsoft.com/office/powerpoint/2010/main" val="41219910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/>
              <a:t>3</a:t>
            </a:r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알고리즘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6" y="1821131"/>
            <a:ext cx="8020383" cy="4510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문제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에서 배운 </a:t>
            </a:r>
            <a:r>
              <a:rPr lang="en-US" altLang="ko-KR" dirty="0">
                <a:latin typeface="+mn-ea"/>
              </a:rPr>
              <a:t>1</a:t>
            </a:r>
            <a:r>
              <a:rPr lang="ko-KR" altLang="en-US" dirty="0">
                <a:latin typeface="+mn-ea"/>
              </a:rPr>
              <a:t>부터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까지의 합을 구하는 공식에 </a:t>
            </a:r>
            <a:r>
              <a:rPr lang="en-US" altLang="ko-KR" dirty="0">
                <a:latin typeface="+mn-ea"/>
              </a:rPr>
              <a:t>n </a:t>
            </a:r>
            <a:r>
              <a:rPr lang="ko-KR" altLang="en-US" dirty="0">
                <a:latin typeface="+mn-ea"/>
              </a:rPr>
              <a:t>대신 </a:t>
            </a:r>
            <a:r>
              <a:rPr lang="en-US" altLang="ko-KR" dirty="0">
                <a:latin typeface="+mn-ea"/>
              </a:rPr>
              <a:t>n-1</a:t>
            </a:r>
            <a:r>
              <a:rPr lang="ko-KR" altLang="en-US" dirty="0">
                <a:latin typeface="+mn-ea"/>
              </a:rPr>
              <a:t>을 대입</a:t>
            </a:r>
            <a:br>
              <a:rPr lang="en-US" altLang="ko-KR" dirty="0">
                <a:latin typeface="+mn-ea"/>
              </a:rPr>
            </a:br>
            <a:br>
              <a:rPr lang="en-US" altLang="ko-KR" dirty="0">
                <a:latin typeface="+mn-ea"/>
              </a:rPr>
            </a:b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          번 비교해야 함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표기법으로는 </a:t>
            </a:r>
            <a:r>
              <a:rPr lang="en-US" altLang="ko-KR" dirty="0">
                <a:latin typeface="+mn-ea"/>
              </a:rPr>
              <a:t>O(n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이라고 표현</a:t>
            </a:r>
            <a:r>
              <a:rPr lang="en-US" altLang="ko-KR" dirty="0">
                <a:latin typeface="+mn-ea"/>
              </a:rPr>
              <a:t>(n</a:t>
            </a:r>
            <a:r>
              <a:rPr lang="en-US" altLang="ko-KR" baseline="30000" dirty="0">
                <a:latin typeface="+mn-ea"/>
              </a:rPr>
              <a:t>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앞 계수   이나       은 무시</a:t>
            </a:r>
            <a:r>
              <a:rPr lang="en-US" altLang="ko-KR" dirty="0">
                <a:latin typeface="+mn-ea"/>
              </a:rPr>
              <a:t>)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→ </a:t>
            </a:r>
            <a:r>
              <a:rPr lang="en-US" altLang="ko-KR" dirty="0">
                <a:latin typeface="+mn-ea"/>
              </a:rPr>
              <a:t>n</a:t>
            </a:r>
            <a:r>
              <a:rPr lang="ko-KR" altLang="en-US" dirty="0">
                <a:latin typeface="+mn-ea"/>
              </a:rPr>
              <a:t>의 제곱에 비례해서 계산 시간이 변하는 것이 핵심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계산 복잡도가 </a:t>
            </a:r>
            <a:r>
              <a:rPr lang="en-US" altLang="ko-KR" dirty="0"/>
              <a:t>O(n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인 알고리즘은 입력 크기 </a:t>
            </a:r>
            <a:r>
              <a:rPr lang="en-US" altLang="ko-KR" dirty="0"/>
              <a:t>n</a:t>
            </a:r>
            <a:r>
              <a:rPr lang="ko-KR" altLang="en-US" dirty="0"/>
              <a:t>이 커지면 계산 시간은 </a:t>
            </a:r>
            <a:br>
              <a:rPr lang="en-US" altLang="ko-KR" dirty="0"/>
            </a:br>
            <a:r>
              <a:rPr lang="ko-KR" altLang="en-US" dirty="0"/>
              <a:t>그 제곱에 비례하므로 엄청난 차이로 증가</a:t>
            </a:r>
            <a:br>
              <a:rPr lang="en-US" altLang="ko-KR" dirty="0"/>
            </a:br>
            <a:r>
              <a:rPr lang="ko-KR" altLang="en-US" dirty="0"/>
              <a:t>→ 입력 크기가 커질 때 계산 시간이 얼마나 증가할지 가늠해 볼 수 있음</a:t>
            </a:r>
            <a:endParaRPr lang="ko-KR" altLang="en-US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455" y="2440081"/>
            <a:ext cx="6365008" cy="72602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053" y="3237571"/>
            <a:ext cx="805747" cy="41376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022" y="3705333"/>
            <a:ext cx="178501" cy="41458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644" y="3693817"/>
            <a:ext cx="483681" cy="43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304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192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3-1</a:t>
            </a:r>
            <a:r>
              <a:rPr lang="en-US" altLang="ko-KR" dirty="0">
                <a:latin typeface="+mn-ea"/>
              </a:rPr>
              <a:t> </a:t>
            </a:r>
            <a:r>
              <a:rPr lang="en-US" altLang="ko-KR" dirty="0"/>
              <a:t>n</a:t>
            </a:r>
            <a:r>
              <a:rPr lang="ko-KR" altLang="en-US" dirty="0"/>
              <a:t>명 중 두 명을 뽑아 짝을 짓는다고 할 때 짝을 지을 수 있는 모든 조합을 출력하는 알고리즘을 만들어 보세요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예를 들어 입력이 리스트 </a:t>
            </a:r>
            <a:r>
              <a:rPr lang="en-US" altLang="ko-KR" dirty="0"/>
              <a:t>["Tom", "Jerry", "Mike"]</a:t>
            </a:r>
            <a:r>
              <a:rPr lang="ko-KR" altLang="en-US" dirty="0"/>
              <a:t>라면 다음과 같은 세 가지 경우를 출력합니다</a:t>
            </a:r>
            <a:r>
              <a:rPr lang="en-US" altLang="ko-KR" dirty="0"/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45269" y="3916445"/>
            <a:ext cx="7088957" cy="81901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Tom - Jerry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Tom - Mike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Jerry - Mike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4515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057" y="1821131"/>
            <a:ext cx="7920872" cy="2682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3-2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다음 식을 각각 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표기법으로 표현해 보세요</a:t>
            </a:r>
            <a:r>
              <a:rPr lang="en-US" altLang="ko-KR" dirty="0">
                <a:latin typeface="+mn-ea"/>
              </a:rPr>
              <a:t>.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lphaUcPeriod"/>
            </a:pPr>
            <a:r>
              <a:rPr lang="en-US" altLang="ko-KR" dirty="0">
                <a:latin typeface="+mn-ea"/>
              </a:rPr>
              <a:t>65536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lphaUcPeriod"/>
            </a:pPr>
            <a:r>
              <a:rPr lang="en-US" altLang="ko-KR" dirty="0">
                <a:latin typeface="+mn-ea"/>
              </a:rPr>
              <a:t>n - 1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lphaUcPeriod"/>
            </a:pPr>
            <a:r>
              <a:rPr lang="en-US" altLang="ko-KR" dirty="0">
                <a:latin typeface="+mn-ea"/>
              </a:rPr>
              <a:t>     + 10000n</a:t>
            </a: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lphaUcPeriod"/>
            </a:pPr>
            <a:r>
              <a:rPr lang="en-US" altLang="ko-KR" dirty="0">
                <a:latin typeface="+mn-ea"/>
              </a:rPr>
              <a:t>3n</a:t>
            </a:r>
            <a:r>
              <a:rPr lang="en-US" altLang="ko-KR" baseline="30000" dirty="0">
                <a:latin typeface="+mn-ea"/>
              </a:rPr>
              <a:t>4 </a:t>
            </a:r>
            <a:r>
              <a:rPr lang="en-US" altLang="ko-KR" dirty="0">
                <a:latin typeface="+mn-ea"/>
              </a:rPr>
              <a:t>- 4n</a:t>
            </a:r>
            <a:r>
              <a:rPr lang="en-US" altLang="ko-KR" baseline="30000" dirty="0">
                <a:latin typeface="+mn-ea"/>
              </a:rPr>
              <a:t>3 </a:t>
            </a:r>
            <a:r>
              <a:rPr lang="en-US" altLang="ko-KR" dirty="0">
                <a:latin typeface="+mn-ea"/>
              </a:rPr>
              <a:t>+ 5n</a:t>
            </a:r>
            <a:r>
              <a:rPr lang="en-US" altLang="ko-KR" baseline="30000" dirty="0">
                <a:latin typeface="+mn-ea"/>
              </a:rPr>
              <a:t>2 </a:t>
            </a:r>
            <a:r>
              <a:rPr lang="en-US" altLang="ko-KR" dirty="0">
                <a:latin typeface="+mn-ea"/>
              </a:rPr>
              <a:t>- 6n - 7</a:t>
            </a:r>
            <a:endParaRPr lang="ko-KR" altLang="en-US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44" y="3557634"/>
            <a:ext cx="384064" cy="45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6804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3-1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두 명을 뽑아 짝으로 만드는 프로그램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1045269" y="2917456"/>
            <a:ext cx="7088957" cy="248410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명에서 두 명을 뽑아 짝을 만드는 모든 경우를 찾는 알고리즘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입력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명의 이름이 들어 있는 리스트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출력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 명을 뽑아 만들 수 있는 모든 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rgbClr val="FF822D"/>
                </a:solidFill>
                <a:latin typeface="+mn-ea"/>
              </a:rPr>
              <a:t>def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print_pairs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(a):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  n = </a:t>
            </a:r>
            <a:r>
              <a:rPr lang="en-US" altLang="ko-KR" sz="1400" dirty="0" err="1">
                <a:solidFill>
                  <a:srgbClr val="0070C0"/>
                </a:solidFill>
                <a:latin typeface="+mn-ea"/>
              </a:rPr>
              <a:t>len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(a)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리스트의 자료 개수를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에 저장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(0, n - 1):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0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n-2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for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j </a:t>
            </a:r>
            <a:r>
              <a:rPr lang="en-US" altLang="ko-KR" sz="1400" dirty="0">
                <a:solidFill>
                  <a:srgbClr val="FF822D"/>
                </a:solidFill>
                <a:latin typeface="+mn-ea"/>
              </a:rPr>
              <a:t>in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range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+ 1, n): 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# i+1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n-1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까지 반복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           </a:t>
            </a: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(a[</a:t>
            </a: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i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"-"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a[j])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1001" y="2609681"/>
            <a:ext cx="312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▼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>
                <a:solidFill>
                  <a:srgbClr val="EB666E"/>
                </a:solidFill>
                <a:latin typeface="+mn-ea"/>
              </a:rPr>
              <a:t>예제 소스 </a:t>
            </a:r>
            <a:r>
              <a:rPr lang="en-US" altLang="ko-KR" sz="1400" dirty="0">
                <a:latin typeface="+mn-ea"/>
              </a:rPr>
              <a:t>e03-1-pairing.py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아래쪽 화살표 14"/>
          <p:cNvSpPr/>
          <p:nvPr/>
        </p:nvSpPr>
        <p:spPr>
          <a:xfrm>
            <a:off x="4502546" y="5610352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6632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27521" y="2298094"/>
            <a:ext cx="7088957" cy="1421749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name = [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"Tom"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"Jerry"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"Mike"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print_pairs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(name)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rgbClr val="0070C0"/>
                </a:solidFill>
                <a:latin typeface="+mn-ea"/>
              </a:rPr>
              <a:t>print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()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name2 = [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"Tom"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"Jerry"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"Mike"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400" dirty="0">
                <a:solidFill>
                  <a:srgbClr val="00B050"/>
                </a:solidFill>
                <a:latin typeface="+mn-ea"/>
              </a:rPr>
              <a:t>"John"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]</a:t>
            </a:r>
          </a:p>
          <a:p>
            <a:pPr>
              <a:lnSpc>
                <a:spcPct val="120000"/>
              </a:lnSpc>
            </a:pPr>
            <a:r>
              <a:rPr lang="en-US" altLang="ko-KR" sz="1400" dirty="0" err="1">
                <a:solidFill>
                  <a:schemeClr val="tx1"/>
                </a:solidFill>
                <a:latin typeface="+mn-ea"/>
              </a:rPr>
              <a:t>print_pairs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(name2)</a:t>
            </a:r>
          </a:p>
        </p:txBody>
      </p:sp>
      <p:sp>
        <p:nvSpPr>
          <p:cNvPr id="10" name="아래쪽 화살표 9"/>
          <p:cNvSpPr/>
          <p:nvPr/>
        </p:nvSpPr>
        <p:spPr>
          <a:xfrm rot="10800000">
            <a:off x="4502547" y="2009589"/>
            <a:ext cx="174402" cy="197963"/>
          </a:xfrm>
          <a:prstGeom prst="down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1287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485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EB666E"/>
                </a:solidFill>
                <a:latin typeface="+mn-ea"/>
              </a:rPr>
              <a:t>실행 결과</a:t>
            </a:r>
            <a:endParaRPr lang="ko-KR" altLang="en-US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2535811"/>
            <a:ext cx="7088957" cy="260179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Tom - Jerry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Tom - Mike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Jerry - Mike</a:t>
            </a: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Tom - Jerry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Tom - Mike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Tom - John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Jerry - Mike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Jerry - John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Mike - John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7056" y="5394122"/>
            <a:ext cx="8020383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n</a:t>
            </a:r>
            <a:r>
              <a:rPr lang="ko-KR" altLang="en-US" dirty="0"/>
              <a:t>명에서 두 명을 뽑아 짝으로 만들면 짝 조합이               가지 출력</a:t>
            </a:r>
            <a:br>
              <a:rPr lang="en-US" altLang="ko-KR" dirty="0"/>
            </a:br>
            <a:r>
              <a:rPr lang="ko-KR" altLang="en-US" dirty="0"/>
              <a:t>→ 이 경우의 수를 </a:t>
            </a:r>
            <a:r>
              <a:rPr lang="en-US" altLang="ko-KR" baseline="-25000" dirty="0"/>
              <a:t>n</a:t>
            </a:r>
            <a:r>
              <a:rPr lang="en-US" altLang="ko-KR" dirty="0"/>
              <a:t>C</a:t>
            </a:r>
            <a:r>
              <a:rPr lang="en-US" altLang="ko-KR" baseline="-25000" dirty="0"/>
              <a:t>2</a:t>
            </a:r>
            <a:r>
              <a:rPr lang="ko-KR" altLang="en-US" dirty="0"/>
              <a:t>라고도 표현</a:t>
            </a:r>
            <a:endParaRPr lang="ko-KR" altLang="en-US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133" y="5530227"/>
            <a:ext cx="697240" cy="423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6619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3-2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lphaUcPeriod"/>
            </a:pPr>
            <a:r>
              <a:rPr lang="en-US" altLang="ko-KR" dirty="0">
                <a:latin typeface="+mn-ea"/>
              </a:rPr>
              <a:t>65536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65536</a:t>
            </a:r>
            <a:r>
              <a:rPr lang="ko-KR" altLang="en-US" dirty="0"/>
              <a:t>은 </a:t>
            </a:r>
            <a:r>
              <a:rPr lang="en-US" altLang="ko-KR" dirty="0"/>
              <a:t>n </a:t>
            </a:r>
            <a:r>
              <a:rPr lang="ko-KR" altLang="en-US" dirty="0"/>
              <a:t>값의 변화와 관계가 없음</a:t>
            </a:r>
            <a:r>
              <a:rPr lang="en-US" altLang="ko-KR" dirty="0">
                <a:latin typeface="+mn-ea"/>
              </a:rPr>
              <a:t> </a:t>
            </a:r>
            <a:endParaRPr lang="ko-KR" altLang="en-US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3444980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schemeClr val="tx1"/>
                </a:solidFill>
              </a:rPr>
              <a:t>O(1)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06531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3-2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lphaUcPeriod" startAt="2"/>
            </a:pPr>
            <a:r>
              <a:rPr lang="en-US" altLang="ko-KR" dirty="0">
                <a:latin typeface="+mn-ea"/>
              </a:rPr>
              <a:t>n - 1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n</a:t>
            </a:r>
            <a:r>
              <a:rPr lang="ko-KR" altLang="en-US" dirty="0"/>
              <a:t>이 굉장히 커지면 </a:t>
            </a:r>
            <a:r>
              <a:rPr lang="en-US" altLang="ko-KR" dirty="0"/>
              <a:t>-1</a:t>
            </a:r>
            <a:r>
              <a:rPr lang="ko-KR" altLang="en-US" dirty="0"/>
              <a:t>은 거의 영향이 없어짐</a:t>
            </a:r>
            <a:endParaRPr lang="ko-KR" altLang="en-US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3444980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schemeClr val="tx1"/>
                </a:solidFill>
              </a:rPr>
              <a:t>O(n)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29519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359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3-2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lphaUcPeriod" startAt="3"/>
            </a:pPr>
            <a:r>
              <a:rPr lang="en-US" altLang="ko-KR" dirty="0">
                <a:latin typeface="+mn-ea"/>
              </a:rPr>
              <a:t>     + 10000n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n</a:t>
            </a:r>
            <a:r>
              <a:rPr lang="ko-KR" altLang="en-US" dirty="0"/>
              <a:t>이 굉장히 커지면          과 비교했을 때 </a:t>
            </a:r>
            <a:r>
              <a:rPr lang="en-US" altLang="ko-KR" dirty="0"/>
              <a:t>10000n</a:t>
            </a:r>
            <a:r>
              <a:rPr lang="ko-KR" altLang="en-US" dirty="0"/>
              <a:t>의 영향은 작아짐</a:t>
            </a:r>
            <a:endParaRPr lang="en-US" altLang="ko-KR" dirty="0"/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ko-KR" altLang="en-US" dirty="0"/>
              <a:t>제곱에 비례한다는 관계가 핵심이므로 계수 </a:t>
            </a:r>
            <a:r>
              <a:rPr lang="en-US" altLang="ko-KR" dirty="0"/>
              <a:t>    </a:t>
            </a:r>
            <a:r>
              <a:rPr lang="ko-KR" altLang="en-US" dirty="0"/>
              <a:t>도 생략</a:t>
            </a:r>
            <a:endParaRPr lang="ko-KR" altLang="en-US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045269" y="3444980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schemeClr val="tx1"/>
                </a:solidFill>
              </a:rPr>
              <a:t>O(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n</a:t>
            </a:r>
            <a:r>
              <a:rPr lang="en-US" altLang="ko-KR" baseline="30000" dirty="0">
                <a:solidFill>
                  <a:schemeClr val="tx1"/>
                </a:solidFill>
                <a:latin typeface="+mn-ea"/>
              </a:rPr>
              <a:t>2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69" y="2663519"/>
            <a:ext cx="384064" cy="458182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481" y="4439524"/>
            <a:ext cx="384064" cy="4581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571" y="4939062"/>
            <a:ext cx="242970" cy="41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4935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한쪽 모서리가 잘린 사각형 5"/>
          <p:cNvSpPr/>
          <p:nvPr/>
        </p:nvSpPr>
        <p:spPr>
          <a:xfrm>
            <a:off x="107504" y="1412775"/>
            <a:ext cx="8964488" cy="5356159"/>
          </a:xfrm>
          <a:prstGeom prst="snip1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57150">
            <a:solidFill>
              <a:srgbClr val="EB6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6479" y="129532"/>
            <a:ext cx="86409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문제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03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동명이인 찾기①</a:t>
            </a:r>
          </a:p>
        </p:txBody>
      </p:sp>
      <p:sp>
        <p:nvSpPr>
          <p:cNvPr id="12" name="순서도: 처리 11"/>
          <p:cNvSpPr/>
          <p:nvPr/>
        </p:nvSpPr>
        <p:spPr>
          <a:xfrm>
            <a:off x="107504" y="624923"/>
            <a:ext cx="539552" cy="476672"/>
          </a:xfrm>
          <a:prstGeom prst="flowChartProcess">
            <a:avLst/>
          </a:prstGeom>
          <a:solidFill>
            <a:srgbClr val="EB6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b="1" dirty="0"/>
          </a:p>
        </p:txBody>
      </p:sp>
      <p:sp>
        <p:nvSpPr>
          <p:cNvPr id="13" name="직사각형 12"/>
          <p:cNvSpPr/>
          <p:nvPr/>
        </p:nvSpPr>
        <p:spPr>
          <a:xfrm>
            <a:off x="647056" y="601049"/>
            <a:ext cx="84249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+mn-ea"/>
              </a:rPr>
              <a:t>연습 문제 풀이</a:t>
            </a:r>
          </a:p>
        </p:txBody>
      </p:sp>
      <p:sp>
        <p:nvSpPr>
          <p:cNvPr id="8" name="모서리가 둥근 직사각형 7"/>
          <p:cNvSpPr/>
          <p:nvPr/>
        </p:nvSpPr>
        <p:spPr>
          <a:xfrm>
            <a:off x="3227832" y="673656"/>
            <a:ext cx="740664" cy="380917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부록 </a:t>
            </a:r>
            <a:r>
              <a:rPr lang="en-US" altLang="ko-KR" sz="1400" b="1" dirty="0">
                <a:solidFill>
                  <a:schemeClr val="bg1"/>
                </a:solidFill>
              </a:rPr>
              <a:t>A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057" y="1821131"/>
            <a:ext cx="792087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rgbClr val="EB666E"/>
                </a:solidFill>
                <a:latin typeface="+mn-ea"/>
              </a:rPr>
              <a:t>3-2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대문자 </a:t>
            </a:r>
            <a:r>
              <a:rPr lang="en-US" altLang="ko-KR" dirty="0">
                <a:latin typeface="+mn-ea"/>
              </a:rPr>
              <a:t>O </a:t>
            </a:r>
            <a:r>
              <a:rPr lang="ko-KR" altLang="en-US" dirty="0">
                <a:latin typeface="+mn-ea"/>
              </a:rPr>
              <a:t>표기법</a:t>
            </a: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+mn-ea"/>
            </a:endParaRPr>
          </a:p>
          <a:p>
            <a:pPr marL="342900" indent="-342900">
              <a:lnSpc>
                <a:spcPct val="165000"/>
              </a:lnSpc>
              <a:buClr>
                <a:srgbClr val="EB666E"/>
              </a:buClr>
              <a:buFont typeface="+mj-lt"/>
              <a:buAutoNum type="alphaUcPeriod" startAt="4"/>
            </a:pPr>
            <a:r>
              <a:rPr lang="en-US" altLang="ko-KR" dirty="0">
                <a:latin typeface="+mn-ea"/>
              </a:rPr>
              <a:t>3n</a:t>
            </a:r>
            <a:r>
              <a:rPr lang="en-US" altLang="ko-KR" baseline="30000" dirty="0">
                <a:latin typeface="+mn-ea"/>
              </a:rPr>
              <a:t>4 </a:t>
            </a:r>
            <a:r>
              <a:rPr lang="en-US" altLang="ko-KR" dirty="0">
                <a:latin typeface="+mn-ea"/>
              </a:rPr>
              <a:t>- 4n</a:t>
            </a:r>
            <a:r>
              <a:rPr lang="en-US" altLang="ko-KR" baseline="30000" dirty="0">
                <a:latin typeface="+mn-ea"/>
              </a:rPr>
              <a:t>3 </a:t>
            </a:r>
            <a:r>
              <a:rPr lang="en-US" altLang="ko-KR" dirty="0">
                <a:latin typeface="+mn-ea"/>
              </a:rPr>
              <a:t>+ 5n</a:t>
            </a:r>
            <a:r>
              <a:rPr lang="en-US" altLang="ko-KR" baseline="30000" dirty="0">
                <a:latin typeface="+mn-ea"/>
              </a:rPr>
              <a:t>2 </a:t>
            </a:r>
            <a:r>
              <a:rPr lang="en-US" altLang="ko-KR" dirty="0">
                <a:latin typeface="+mn-ea"/>
              </a:rPr>
              <a:t>- 6n - 7</a:t>
            </a: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endParaRPr lang="en-US" altLang="ko-KR" dirty="0">
              <a:latin typeface="+mn-ea"/>
            </a:endParaRPr>
          </a:p>
          <a:p>
            <a:pPr>
              <a:lnSpc>
                <a:spcPct val="165000"/>
              </a:lnSpc>
              <a:buClr>
                <a:srgbClr val="EB666E"/>
              </a:buClr>
            </a:pPr>
            <a:endParaRPr lang="en-US" altLang="ko-KR" dirty="0">
              <a:latin typeface="+mn-ea"/>
            </a:endParaRPr>
          </a:p>
          <a:p>
            <a:pPr marL="285750" indent="-285750">
              <a:lnSpc>
                <a:spcPct val="165000"/>
              </a:lnSpc>
              <a:buClr>
                <a:srgbClr val="EB666E"/>
              </a:buClr>
              <a:buFont typeface="Wingdings" panose="05000000000000000000" pitchFamily="2" charset="2"/>
              <a:buChar char="§"/>
            </a:pPr>
            <a:r>
              <a:rPr lang="en-US" altLang="ko-KR" dirty="0"/>
              <a:t>n</a:t>
            </a:r>
            <a:r>
              <a:rPr lang="ko-KR" altLang="en-US" dirty="0"/>
              <a:t>의 변화에 따라 가장 크게 변하는 항을 계수를 생략하여 표현</a:t>
            </a:r>
            <a:endParaRPr lang="en-US" altLang="ko-KR" dirty="0"/>
          </a:p>
        </p:txBody>
      </p:sp>
      <p:sp>
        <p:nvSpPr>
          <p:cNvPr id="10" name="직사각형 9"/>
          <p:cNvSpPr/>
          <p:nvPr/>
        </p:nvSpPr>
        <p:spPr>
          <a:xfrm>
            <a:off x="1045269" y="3444980"/>
            <a:ext cx="7088957" cy="65241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dirty="0">
                <a:solidFill>
                  <a:schemeClr val="tx1"/>
                </a:solidFill>
              </a:rPr>
              <a:t>O(</a:t>
            </a:r>
            <a:r>
              <a:rPr lang="en-US" altLang="ko-KR" dirty="0">
                <a:solidFill>
                  <a:schemeClr val="tx1"/>
                </a:solidFill>
                <a:latin typeface="+mn-ea"/>
              </a:rPr>
              <a:t>n</a:t>
            </a:r>
            <a:r>
              <a:rPr lang="en-US" altLang="ko-KR" baseline="30000" dirty="0">
                <a:solidFill>
                  <a:schemeClr val="tx1"/>
                </a:solidFill>
                <a:latin typeface="+mn-ea"/>
              </a:rPr>
              <a:t>4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071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4628</TotalTime>
  <Words>4515</Words>
  <Application>Microsoft Office PowerPoint</Application>
  <PresentationFormat>On-screen Show (4:3)</PresentationFormat>
  <Paragraphs>761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2" baseType="lpstr">
      <vt:lpstr>맑은 고딕</vt:lpstr>
      <vt:lpstr>Arial</vt:lpstr>
      <vt:lpstr>Calibri</vt:lpstr>
      <vt:lpstr>Calibri Light</vt:lpstr>
      <vt:lpstr>Wingdings</vt:lpstr>
      <vt:lpstr>Office 테마</vt:lpstr>
      <vt:lpstr>모두의 알고리즘 with 파이썬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박은경</dc:creator>
  <cp:lastModifiedBy>sclee</cp:lastModifiedBy>
  <cp:revision>935</cp:revision>
  <dcterms:created xsi:type="dcterms:W3CDTF">2017-06-26T15:41:10Z</dcterms:created>
  <dcterms:modified xsi:type="dcterms:W3CDTF">2017-07-05T19:53:35Z</dcterms:modified>
</cp:coreProperties>
</file>