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4"/>
  </p:notesMasterIdLst>
  <p:sldIdLst>
    <p:sldId id="283" r:id="rId2"/>
    <p:sldId id="296" r:id="rId3"/>
    <p:sldId id="299" r:id="rId4"/>
    <p:sldId id="497" r:id="rId5"/>
    <p:sldId id="499" r:id="rId6"/>
    <p:sldId id="492" r:id="rId7"/>
    <p:sldId id="305" r:id="rId8"/>
    <p:sldId id="495" r:id="rId9"/>
    <p:sldId id="496" r:id="rId10"/>
    <p:sldId id="493" r:id="rId11"/>
    <p:sldId id="494" r:id="rId12"/>
    <p:sldId id="504" r:id="rId13"/>
    <p:sldId id="306" r:id="rId14"/>
    <p:sldId id="501" r:id="rId15"/>
    <p:sldId id="500" r:id="rId16"/>
    <p:sldId id="502" r:id="rId17"/>
    <p:sldId id="503" r:id="rId18"/>
    <p:sldId id="300" r:id="rId19"/>
    <p:sldId id="505" r:id="rId20"/>
    <p:sldId id="511" r:id="rId21"/>
    <p:sldId id="510" r:id="rId22"/>
    <p:sldId id="307" r:id="rId23"/>
    <p:sldId id="507" r:id="rId24"/>
    <p:sldId id="308" r:id="rId25"/>
    <p:sldId id="508" r:id="rId26"/>
    <p:sldId id="509" r:id="rId27"/>
    <p:sldId id="309" r:id="rId28"/>
    <p:sldId id="514" r:id="rId29"/>
    <p:sldId id="515" r:id="rId30"/>
    <p:sldId id="516" r:id="rId31"/>
    <p:sldId id="310" r:id="rId32"/>
    <p:sldId id="512" r:id="rId33"/>
    <p:sldId id="513" r:id="rId34"/>
    <p:sldId id="517" r:id="rId35"/>
    <p:sldId id="518" r:id="rId36"/>
    <p:sldId id="519" r:id="rId37"/>
    <p:sldId id="520" r:id="rId38"/>
    <p:sldId id="521" r:id="rId39"/>
    <p:sldId id="301" r:id="rId40"/>
    <p:sldId id="522" r:id="rId41"/>
    <p:sldId id="311" r:id="rId42"/>
    <p:sldId id="523" r:id="rId43"/>
    <p:sldId id="312" r:id="rId44"/>
    <p:sldId id="524" r:id="rId45"/>
    <p:sldId id="525" r:id="rId46"/>
    <p:sldId id="526" r:id="rId47"/>
    <p:sldId id="527" r:id="rId48"/>
    <p:sldId id="528" r:id="rId49"/>
    <p:sldId id="529" r:id="rId50"/>
    <p:sldId id="313" r:id="rId51"/>
    <p:sldId id="535" r:id="rId52"/>
    <p:sldId id="314" r:id="rId53"/>
    <p:sldId id="530" r:id="rId54"/>
    <p:sldId id="531" r:id="rId55"/>
    <p:sldId id="536" r:id="rId56"/>
    <p:sldId id="537" r:id="rId57"/>
    <p:sldId id="538" r:id="rId58"/>
    <p:sldId id="539" r:id="rId59"/>
    <p:sldId id="302" r:id="rId60"/>
    <p:sldId id="532" r:id="rId61"/>
    <p:sldId id="315" r:id="rId62"/>
    <p:sldId id="540" r:id="rId63"/>
    <p:sldId id="316" r:id="rId64"/>
    <p:sldId id="541" r:id="rId65"/>
    <p:sldId id="542" r:id="rId66"/>
    <p:sldId id="543" r:id="rId67"/>
    <p:sldId id="544" r:id="rId68"/>
    <p:sldId id="545" r:id="rId69"/>
    <p:sldId id="546" r:id="rId70"/>
    <p:sldId id="547" r:id="rId71"/>
    <p:sldId id="548" r:id="rId72"/>
    <p:sldId id="317" r:id="rId73"/>
    <p:sldId id="549" r:id="rId74"/>
    <p:sldId id="318" r:id="rId75"/>
    <p:sldId id="550" r:id="rId76"/>
    <p:sldId id="551" r:id="rId77"/>
    <p:sldId id="552" r:id="rId78"/>
    <p:sldId id="319" r:id="rId79"/>
    <p:sldId id="553" r:id="rId80"/>
    <p:sldId id="533" r:id="rId81"/>
    <p:sldId id="534" r:id="rId82"/>
    <p:sldId id="554" r:id="rId83"/>
    <p:sldId id="555" r:id="rId84"/>
    <p:sldId id="556" r:id="rId85"/>
    <p:sldId id="303" r:id="rId86"/>
    <p:sldId id="557" r:id="rId87"/>
    <p:sldId id="320" r:id="rId88"/>
    <p:sldId id="575" r:id="rId89"/>
    <p:sldId id="321" r:id="rId90"/>
    <p:sldId id="576" r:id="rId91"/>
    <p:sldId id="577" r:id="rId92"/>
    <p:sldId id="578" r:id="rId93"/>
    <p:sldId id="579" r:id="rId94"/>
    <p:sldId id="580" r:id="rId95"/>
    <p:sldId id="581" r:id="rId96"/>
    <p:sldId id="582" r:id="rId97"/>
    <p:sldId id="322" r:id="rId98"/>
    <p:sldId id="323" r:id="rId99"/>
    <p:sldId id="584" r:id="rId100"/>
    <p:sldId id="583" r:id="rId101"/>
    <p:sldId id="585" r:id="rId102"/>
    <p:sldId id="324" r:id="rId103"/>
    <p:sldId id="558" r:id="rId104"/>
    <p:sldId id="586" r:id="rId105"/>
    <p:sldId id="587" r:id="rId106"/>
    <p:sldId id="559" r:id="rId107"/>
    <p:sldId id="590" r:id="rId108"/>
    <p:sldId id="591" r:id="rId109"/>
    <p:sldId id="592" r:id="rId110"/>
    <p:sldId id="593" r:id="rId111"/>
    <p:sldId id="594" r:id="rId112"/>
    <p:sldId id="595" r:id="rId113"/>
    <p:sldId id="596" r:id="rId114"/>
    <p:sldId id="597" r:id="rId115"/>
    <p:sldId id="598" r:id="rId116"/>
    <p:sldId id="588" r:id="rId117"/>
    <p:sldId id="589" r:id="rId118"/>
    <p:sldId id="304" r:id="rId119"/>
    <p:sldId id="560" r:id="rId120"/>
    <p:sldId id="325" r:id="rId121"/>
    <p:sldId id="599" r:id="rId122"/>
    <p:sldId id="600" r:id="rId123"/>
    <p:sldId id="601" r:id="rId124"/>
    <p:sldId id="602" r:id="rId125"/>
    <p:sldId id="326" r:id="rId126"/>
    <p:sldId id="603" r:id="rId127"/>
    <p:sldId id="604" r:id="rId128"/>
    <p:sldId id="605" r:id="rId129"/>
    <p:sldId id="606" r:id="rId130"/>
    <p:sldId id="607" r:id="rId131"/>
    <p:sldId id="608" r:id="rId132"/>
    <p:sldId id="609" r:id="rId133"/>
    <p:sldId id="327" r:id="rId134"/>
    <p:sldId id="610" r:id="rId135"/>
    <p:sldId id="611" r:id="rId136"/>
    <p:sldId id="561" r:id="rId137"/>
    <p:sldId id="562" r:id="rId138"/>
    <p:sldId id="615" r:id="rId139"/>
    <p:sldId id="616" r:id="rId140"/>
    <p:sldId id="612" r:id="rId141"/>
    <p:sldId id="613" r:id="rId142"/>
    <p:sldId id="614" r:id="rId143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822D"/>
    <a:srgbClr val="EB666E"/>
    <a:srgbClr val="BFBFBF"/>
    <a:srgbClr val="E6E6E6"/>
    <a:srgbClr val="F1476E"/>
    <a:srgbClr val="FFE9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503" autoAdjust="0"/>
    <p:restoredTop sz="94660"/>
  </p:normalViewPr>
  <p:slideViewPr>
    <p:cSldViewPr snapToGrid="0">
      <p:cViewPr varScale="1">
        <p:scale>
          <a:sx n="78" d="100"/>
          <a:sy n="78" d="100"/>
        </p:scale>
        <p:origin x="150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-1620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756957-AC5E-45B8-8C65-922BF4FC696A}" type="datetimeFigureOut">
              <a:rPr lang="ko-KR" altLang="en-US" smtClean="0"/>
              <a:t>2025-03-09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A0482B-7498-4800-B9B8-DAD9653588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98425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2D1D9-3135-4253-B735-17130A14BA83}" type="datetimeFigureOut">
              <a:rPr lang="ko-KR" altLang="en-US" smtClean="0"/>
              <a:t>2025-03-09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9ABD6-7D3D-4278-B9E5-086605E916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32851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2D1D9-3135-4253-B735-17130A14BA83}" type="datetimeFigureOut">
              <a:rPr lang="ko-KR" altLang="en-US" smtClean="0"/>
              <a:t>2025-03-09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9ABD6-7D3D-4278-B9E5-086605E916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64864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2D1D9-3135-4253-B735-17130A14BA83}" type="datetimeFigureOut">
              <a:rPr lang="ko-KR" altLang="en-US" smtClean="0"/>
              <a:t>2025-03-09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9ABD6-7D3D-4278-B9E5-086605E916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50614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2D1D9-3135-4253-B735-17130A14BA83}" type="datetimeFigureOut">
              <a:rPr lang="ko-KR" altLang="en-US" smtClean="0"/>
              <a:t>2025-03-09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9ABD6-7D3D-4278-B9E5-086605E916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05201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2D1D9-3135-4253-B735-17130A14BA83}" type="datetimeFigureOut">
              <a:rPr lang="ko-KR" altLang="en-US" smtClean="0"/>
              <a:t>2025-03-09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9ABD6-7D3D-4278-B9E5-086605E916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23113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2D1D9-3135-4253-B735-17130A14BA83}" type="datetimeFigureOut">
              <a:rPr lang="ko-KR" altLang="en-US" smtClean="0"/>
              <a:t>2025-03-09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9ABD6-7D3D-4278-B9E5-086605E916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28931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2D1D9-3135-4253-B735-17130A14BA83}" type="datetimeFigureOut">
              <a:rPr lang="ko-KR" altLang="en-US" smtClean="0"/>
              <a:t>2025-03-09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9ABD6-7D3D-4278-B9E5-086605E916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06396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2D1D9-3135-4253-B735-17130A14BA83}" type="datetimeFigureOut">
              <a:rPr lang="ko-KR" altLang="en-US" smtClean="0"/>
              <a:t>2025-03-09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9ABD6-7D3D-4278-B9E5-086605E916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43142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2D1D9-3135-4253-B735-17130A14BA83}" type="datetimeFigureOut">
              <a:rPr lang="ko-KR" altLang="en-US" smtClean="0"/>
              <a:t>2025-03-09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9ABD6-7D3D-4278-B9E5-086605E916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11033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2D1D9-3135-4253-B735-17130A14BA83}" type="datetimeFigureOut">
              <a:rPr lang="ko-KR" altLang="en-US" smtClean="0"/>
              <a:t>2025-03-09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9ABD6-7D3D-4278-B9E5-086605E916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337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2D1D9-3135-4253-B735-17130A14BA83}" type="datetimeFigureOut">
              <a:rPr lang="ko-KR" altLang="en-US" smtClean="0"/>
              <a:t>2025-03-09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9ABD6-7D3D-4278-B9E5-086605E916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09143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D2D1D9-3135-4253-B735-17130A14BA83}" type="datetimeFigureOut">
              <a:rPr lang="ko-KR" altLang="en-US" smtClean="0"/>
              <a:t>2025-03-09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69ABD6-7D3D-4278-B9E5-086605E916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14824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/>
          <p:cNvGrpSpPr/>
          <p:nvPr/>
        </p:nvGrpSpPr>
        <p:grpSpPr>
          <a:xfrm>
            <a:off x="1211418" y="1467875"/>
            <a:ext cx="6774321" cy="3833100"/>
            <a:chOff x="1211418" y="1467875"/>
            <a:chExt cx="6774321" cy="3833100"/>
          </a:xfrm>
        </p:grpSpPr>
        <p:sp>
          <p:nvSpPr>
            <p:cNvPr id="11" name="직사각형 10"/>
            <p:cNvSpPr/>
            <p:nvPr/>
          </p:nvSpPr>
          <p:spPr>
            <a:xfrm>
              <a:off x="1211418" y="1467875"/>
              <a:ext cx="6774321" cy="3833100"/>
            </a:xfrm>
            <a:prstGeom prst="rect">
              <a:avLst/>
            </a:prstGeom>
            <a:solidFill>
              <a:srgbClr val="EB666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3" name="그림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843581" y="3902148"/>
              <a:ext cx="785529" cy="1396497"/>
            </a:xfrm>
            <a:prstGeom prst="rect">
              <a:avLst/>
            </a:prstGeom>
          </p:spPr>
        </p:pic>
      </p:grp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211417" y="2557554"/>
            <a:ext cx="6774321" cy="1014984"/>
          </a:xfrm>
        </p:spPr>
        <p:txBody>
          <a:bodyPr>
            <a:normAutofit/>
          </a:bodyPr>
          <a:lstStyle/>
          <a:p>
            <a:r>
              <a:rPr lang="ko-KR" altLang="en-US" sz="4400" b="1" dirty="0">
                <a:solidFill>
                  <a:schemeClr val="bg1"/>
                </a:solidFill>
              </a:rPr>
              <a:t>모두의 알고리즘 </a:t>
            </a:r>
            <a:r>
              <a:rPr lang="en-US" altLang="ko-KR" sz="3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with </a:t>
            </a:r>
            <a:r>
              <a:rPr lang="ko-KR" altLang="en-US" sz="3000" b="1" dirty="0" err="1">
                <a:solidFill>
                  <a:schemeClr val="bg1"/>
                </a:solidFill>
              </a:rPr>
              <a:t>파이썬</a:t>
            </a:r>
            <a:endParaRPr lang="ko-KR" altLang="en-US" sz="3000" b="1" dirty="0">
              <a:solidFill>
                <a:schemeClr val="bg1"/>
              </a:solidFill>
            </a:endParaRPr>
          </a:p>
        </p:txBody>
      </p:sp>
      <p:sp>
        <p:nvSpPr>
          <p:cNvPr id="8" name="제목 1"/>
          <p:cNvSpPr txBox="1">
            <a:spLocks/>
          </p:cNvSpPr>
          <p:nvPr/>
        </p:nvSpPr>
        <p:spPr>
          <a:xfrm>
            <a:off x="1391482" y="3498107"/>
            <a:ext cx="6547104" cy="50011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rPr>
              <a:t>컴퓨팅 사고를 위한 기초 알고리즘</a:t>
            </a:r>
            <a:endParaRPr lang="ko-KR" altLang="en-US" sz="14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  <a:ea typeface="+mn-ea"/>
            </a:endParaRPr>
          </a:p>
        </p:txBody>
      </p:sp>
      <p:cxnSp>
        <p:nvCxnSpPr>
          <p:cNvPr id="12" name="직선 연결선 11"/>
          <p:cNvCxnSpPr/>
          <p:nvPr/>
        </p:nvCxnSpPr>
        <p:spPr>
          <a:xfrm flipV="1">
            <a:off x="1391482" y="3551272"/>
            <a:ext cx="6414095" cy="401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그림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7532" y="6203550"/>
            <a:ext cx="478536" cy="481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5748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179512" y="144016"/>
            <a:ext cx="8820472" cy="6525344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0" y="980946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 dirty="0">
                <a:solidFill>
                  <a:srgbClr val="EB666E"/>
                </a:solidFill>
              </a:rPr>
              <a:t>셋째 마당 </a:t>
            </a:r>
            <a:r>
              <a:rPr lang="ko-KR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탐색과 정렬</a:t>
            </a:r>
          </a:p>
        </p:txBody>
      </p:sp>
      <p:cxnSp>
        <p:nvCxnSpPr>
          <p:cNvPr id="5" name="직선 연결선 4"/>
          <p:cNvCxnSpPr/>
          <p:nvPr/>
        </p:nvCxnSpPr>
        <p:spPr>
          <a:xfrm>
            <a:off x="2275114" y="1565721"/>
            <a:ext cx="4593772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/>
          <p:cNvSpPr/>
          <p:nvPr/>
        </p:nvSpPr>
        <p:spPr>
          <a:xfrm>
            <a:off x="1285014" y="2150496"/>
            <a:ext cx="6207674" cy="38595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70000"/>
              </a:lnSpc>
            </a:pPr>
            <a:r>
              <a:rPr lang="ko-KR" altLang="en-US" sz="24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4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07</a:t>
            </a:r>
            <a:r>
              <a:rPr lang="en-US" altLang="ko-KR" sz="2400" b="1" dirty="0">
                <a:latin typeface="+mn-ea"/>
              </a:rPr>
              <a:t>  </a:t>
            </a:r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순차 탐색</a:t>
            </a:r>
            <a:endParaRPr lang="en-US" altLang="ko-KR" sz="2400" b="1" dirty="0">
              <a:latin typeface="+mn-ea"/>
            </a:endParaRPr>
          </a:p>
          <a:p>
            <a:pPr>
              <a:lnSpc>
                <a:spcPct val="170000"/>
              </a:lnSpc>
            </a:pPr>
            <a:r>
              <a:rPr lang="ko-KR" altLang="en-US" sz="24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4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08  </a:t>
            </a:r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선택 정렬</a:t>
            </a:r>
            <a:endParaRPr lang="en-US" altLang="ko-KR" sz="2400" b="1" dirty="0">
              <a:latin typeface="+mn-ea"/>
            </a:endParaRPr>
          </a:p>
          <a:p>
            <a:pPr>
              <a:lnSpc>
                <a:spcPct val="170000"/>
              </a:lnSpc>
            </a:pPr>
            <a:r>
              <a:rPr lang="ko-KR" altLang="en-US" sz="24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4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09  </a:t>
            </a:r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삽입 정렬</a:t>
            </a:r>
            <a:endParaRPr lang="en-US" altLang="ko-KR" sz="24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pPr>
              <a:lnSpc>
                <a:spcPct val="170000"/>
              </a:lnSpc>
            </a:pPr>
            <a:r>
              <a:rPr lang="ko-KR" altLang="en-US" sz="24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4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10  </a:t>
            </a:r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병합 정렬</a:t>
            </a:r>
            <a:endParaRPr lang="en-US" altLang="ko-KR" sz="24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pPr>
              <a:lnSpc>
                <a:spcPct val="170000"/>
              </a:lnSpc>
            </a:pPr>
            <a:r>
              <a:rPr lang="ko-KR" altLang="en-US" sz="24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4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11  </a:t>
            </a:r>
            <a:r>
              <a:rPr lang="ko-KR" altLang="en-US" sz="24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퀵</a:t>
            </a:r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정렬</a:t>
            </a:r>
            <a:endParaRPr lang="en-US" altLang="ko-KR" sz="24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pPr>
              <a:lnSpc>
                <a:spcPct val="170000"/>
              </a:lnSpc>
            </a:pPr>
            <a:r>
              <a:rPr lang="ko-KR" altLang="en-US" sz="24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4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12 </a:t>
            </a:r>
            <a:r>
              <a:rPr lang="ko-KR" altLang="en-US" sz="24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 </a:t>
            </a:r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이분 탐색</a:t>
            </a:r>
            <a:endParaRPr lang="en-US" altLang="ko-KR" sz="24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852279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179512" y="144016"/>
            <a:ext cx="8820472" cy="6525344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" name="직선 연결선 3"/>
          <p:cNvCxnSpPr/>
          <p:nvPr/>
        </p:nvCxnSpPr>
        <p:spPr>
          <a:xfrm>
            <a:off x="2819400" y="3634895"/>
            <a:ext cx="3494314" cy="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/>
          <p:cNvSpPr/>
          <p:nvPr/>
        </p:nvSpPr>
        <p:spPr>
          <a:xfrm>
            <a:off x="1" y="3076950"/>
            <a:ext cx="9144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28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 </a:t>
            </a:r>
            <a:r>
              <a:rPr lang="en-US" altLang="ko-KR" sz="28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07 </a:t>
            </a:r>
            <a:r>
              <a:rPr lang="ko-KR" altLang="en-US" sz="26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순차 탐색</a:t>
            </a:r>
          </a:p>
        </p:txBody>
      </p:sp>
    </p:spTree>
    <p:extLst>
      <p:ext uri="{BB962C8B-B14F-4D97-AF65-F5344CB8AC3E}">
        <p14:creationId xmlns:p14="http://schemas.microsoft.com/office/powerpoint/2010/main" val="1561398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07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순차 탐색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1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순차 탐색으로 특정 값의 위치 찾기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056" y="1821131"/>
            <a:ext cx="8020383" cy="4205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/>
              <a:t>주어진 리스트 </a:t>
            </a:r>
            <a:r>
              <a:rPr lang="en-US" altLang="ko-KR" dirty="0"/>
              <a:t>v</a:t>
            </a:r>
            <a:r>
              <a:rPr lang="ko-KR" altLang="en-US" dirty="0"/>
              <a:t>에서 </a:t>
            </a:r>
            <a:r>
              <a:rPr lang="en-US" altLang="ko-KR" dirty="0"/>
              <a:t>18</a:t>
            </a:r>
            <a:r>
              <a:rPr lang="ko-KR" altLang="en-US" dirty="0"/>
              <a:t>을 순차 탐색으로 어떻게 찾을까</a:t>
            </a:r>
            <a:r>
              <a:rPr lang="en-US" altLang="ko-KR" dirty="0"/>
              <a:t>?</a:t>
            </a: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endParaRPr lang="en-US" altLang="ko-KR" dirty="0"/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endParaRPr lang="en-US" altLang="ko-KR" dirty="0"/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endParaRPr lang="en-US" altLang="ko-KR" dirty="0"/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endParaRPr lang="en-US" altLang="ko-KR" dirty="0"/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endParaRPr lang="en-US" altLang="ko-KR" dirty="0"/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endParaRPr lang="en-US" altLang="ko-KR" dirty="0"/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/>
              <a:t>첫 번째 값</a:t>
            </a:r>
            <a:r>
              <a:rPr lang="en-US" altLang="ko-KR" dirty="0"/>
              <a:t>(</a:t>
            </a:r>
            <a:r>
              <a:rPr lang="ko-KR" altLang="en-US" dirty="0"/>
              <a:t>위치 번호는 </a:t>
            </a:r>
            <a:r>
              <a:rPr lang="en-US" altLang="ko-KR" dirty="0"/>
              <a:t>0)</a:t>
            </a:r>
            <a:r>
              <a:rPr lang="ko-KR" altLang="en-US" dirty="0"/>
              <a:t>인 </a:t>
            </a:r>
            <a:r>
              <a:rPr lang="en-US" altLang="ko-KR" dirty="0"/>
              <a:t>17</a:t>
            </a:r>
            <a:r>
              <a:rPr lang="ko-KR" altLang="en-US" dirty="0"/>
              <a:t>부터 차례로 비교하면서 </a:t>
            </a:r>
            <a:r>
              <a:rPr lang="en-US" altLang="ko-KR" dirty="0"/>
              <a:t>18</a:t>
            </a:r>
            <a:r>
              <a:rPr lang="ko-KR" altLang="en-US" dirty="0"/>
              <a:t>을 찾으면 </a:t>
            </a:r>
            <a:br>
              <a:rPr lang="en-US" altLang="ko-KR" dirty="0"/>
            </a:br>
            <a:r>
              <a:rPr lang="ko-KR" altLang="en-US" dirty="0"/>
              <a:t>해당 위치 번호인 </a:t>
            </a:r>
            <a:r>
              <a:rPr lang="en-US" altLang="ko-KR" dirty="0"/>
              <a:t>2</a:t>
            </a:r>
            <a:r>
              <a:rPr lang="ko-KR" altLang="en-US" dirty="0"/>
              <a:t>를 돌려줌</a:t>
            </a:r>
            <a:r>
              <a:rPr lang="en-US" altLang="ko-KR" dirty="0"/>
              <a:t>(return </a:t>
            </a:r>
            <a:r>
              <a:rPr lang="en-US" altLang="ko-KR" dirty="0" err="1"/>
              <a:t>i</a:t>
            </a:r>
            <a:r>
              <a:rPr lang="en-US" altLang="ko-KR" dirty="0"/>
              <a:t>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4367964"/>
            <a:ext cx="9144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2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그림 </a:t>
            </a:r>
            <a:r>
              <a:rPr lang="en-US" altLang="ko-KR" sz="12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7-1</a:t>
            </a:r>
            <a:r>
              <a:rPr lang="en-US" altLang="ko-KR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</a:t>
            </a:r>
            <a:r>
              <a:rPr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리스트에서 </a:t>
            </a:r>
            <a:r>
              <a:rPr lang="en-US" altLang="ko-KR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18</a:t>
            </a:r>
            <a:r>
              <a:rPr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을 순차 탐색으로 찾는 과정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5050" y="2495550"/>
            <a:ext cx="4533900" cy="186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9494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07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순차 탐색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1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순차 탐색으로 특정 값의 위치 찾기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056" y="1821131"/>
            <a:ext cx="8020383" cy="4205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en-US" altLang="ko-KR" dirty="0"/>
              <a:t>900</a:t>
            </a:r>
            <a:r>
              <a:rPr lang="ko-KR" altLang="en-US" dirty="0"/>
              <a:t>과 같이 리스트에 없는 자료를 입력으로 넣을 경우 어떻게 될까</a:t>
            </a:r>
            <a:r>
              <a:rPr lang="en-US" altLang="ko-KR" dirty="0"/>
              <a:t>?</a:t>
            </a: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endParaRPr lang="en-US" altLang="ko-KR" dirty="0"/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endParaRPr lang="en-US" altLang="ko-KR" dirty="0"/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endParaRPr lang="en-US" altLang="ko-KR" dirty="0"/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endParaRPr lang="en-US" altLang="ko-KR" dirty="0"/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endParaRPr lang="en-US" altLang="ko-KR" dirty="0"/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endParaRPr lang="en-US" altLang="ko-KR" dirty="0"/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/>
              <a:t>리스트의 끝까지 차례로 비교해도 </a:t>
            </a:r>
            <a:r>
              <a:rPr lang="en-US" altLang="ko-KR" dirty="0"/>
              <a:t>900</a:t>
            </a:r>
            <a:r>
              <a:rPr lang="ko-KR" altLang="en-US" dirty="0"/>
              <a:t>과 같은 값이 없으므로 </a:t>
            </a:r>
            <a:r>
              <a:rPr lang="en-US" altLang="ko-KR" dirty="0"/>
              <a:t>-1</a:t>
            </a:r>
            <a:r>
              <a:rPr lang="ko-KR" altLang="en-US" dirty="0"/>
              <a:t>을 돌려줌</a:t>
            </a:r>
            <a:r>
              <a:rPr lang="en-US" altLang="ko-KR" dirty="0"/>
              <a:t>(return -1)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4390453"/>
            <a:ext cx="9144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2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그림 </a:t>
            </a:r>
            <a:r>
              <a:rPr lang="en-US" altLang="ko-KR" sz="12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7-2</a:t>
            </a:r>
            <a:r>
              <a:rPr lang="en-US" altLang="ko-KR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</a:t>
            </a:r>
            <a:r>
              <a:rPr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리스트에서 </a:t>
            </a:r>
            <a:r>
              <a:rPr lang="en-US" altLang="ko-KR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900(</a:t>
            </a:r>
            <a:r>
              <a:rPr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없는 자료</a:t>
            </a:r>
            <a:r>
              <a:rPr lang="en-US" altLang="ko-KR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)</a:t>
            </a:r>
            <a:r>
              <a:rPr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을 순차 탐색으로 찾는 과정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0712" y="2687002"/>
            <a:ext cx="5362575" cy="166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9633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07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순차 탐색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0</a:t>
            </a:r>
            <a:endParaRPr lang="ko-KR" altLang="en-US" sz="24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647057" y="1821131"/>
            <a:ext cx="7920872" cy="4205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65000"/>
              </a:lnSpc>
              <a:buClr>
                <a:srgbClr val="EB666E"/>
              </a:buClr>
            </a:pPr>
            <a:r>
              <a:rPr lang="ko-KR" altLang="en-US" b="1" dirty="0">
                <a:latin typeface="+mn-ea"/>
              </a:rPr>
              <a:t>주어진 리스트에 특정한 값이 있는지 찾아 그 위치를 돌려주는 알고리즘을 만들어 보세요</a:t>
            </a:r>
            <a:r>
              <a:rPr lang="en-US" altLang="ko-KR" b="1" dirty="0">
                <a:latin typeface="+mn-ea"/>
              </a:rPr>
              <a:t>.</a:t>
            </a:r>
          </a:p>
          <a:p>
            <a:pPr>
              <a:lnSpc>
                <a:spcPct val="165000"/>
              </a:lnSpc>
              <a:buClr>
                <a:srgbClr val="EB666E"/>
              </a:buClr>
            </a:pPr>
            <a:r>
              <a:rPr lang="ko-KR" altLang="en-US" b="1" dirty="0">
                <a:latin typeface="+mn-ea"/>
              </a:rPr>
              <a:t>리스트에 찾는 값이 없다면 </a:t>
            </a:r>
            <a:r>
              <a:rPr lang="en-US" altLang="ko-KR" b="1" dirty="0">
                <a:latin typeface="+mn-ea"/>
              </a:rPr>
              <a:t>-1</a:t>
            </a:r>
            <a:r>
              <a:rPr lang="ko-KR" altLang="en-US" b="1" dirty="0">
                <a:latin typeface="+mn-ea"/>
              </a:rPr>
              <a:t>을 돌려줍니다</a:t>
            </a:r>
            <a:r>
              <a:rPr lang="en-US" altLang="ko-KR" b="1" dirty="0">
                <a:latin typeface="+mn-ea"/>
              </a:rPr>
              <a:t>.</a:t>
            </a:r>
          </a:p>
          <a:p>
            <a:pPr>
              <a:lnSpc>
                <a:spcPct val="165000"/>
              </a:lnSpc>
              <a:buClr>
                <a:srgbClr val="EB666E"/>
              </a:buClr>
            </a:pP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리스트에 있는 첫 번째 자료부터 하나씩 비교하면서 같은 값이 나오면 </a:t>
            </a:r>
            <a:br>
              <a:rPr lang="en-US" altLang="ko-KR" dirty="0">
                <a:latin typeface="+mn-ea"/>
              </a:rPr>
            </a:br>
            <a:r>
              <a:rPr lang="ko-KR" altLang="en-US" dirty="0">
                <a:latin typeface="+mn-ea"/>
              </a:rPr>
              <a:t>그 위치를 결과로 돌려줌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리스트 끝까지 찾아도 같은 값이 나오지 않으면 </a:t>
            </a:r>
            <a:r>
              <a:rPr lang="en-US" altLang="ko-KR" dirty="0">
                <a:latin typeface="+mn-ea"/>
              </a:rPr>
              <a:t>-1</a:t>
            </a:r>
            <a:r>
              <a:rPr lang="ko-KR" altLang="en-US" dirty="0">
                <a:latin typeface="+mn-ea"/>
              </a:rPr>
              <a:t>을 돌려주면 됨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/>
              <a:t>순차 탐색</a:t>
            </a:r>
            <a:r>
              <a:rPr lang="en-US" altLang="ko-KR" dirty="0"/>
              <a:t>(sequential search): </a:t>
            </a:r>
            <a:r>
              <a:rPr lang="ko-KR" altLang="en-US" dirty="0"/>
              <a:t>리스트 안에 있는 원소를 하나씩 순차적으로 비교하면서 탐색</a:t>
            </a:r>
            <a:endParaRPr lang="en-US" altLang="ko-KR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5773719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07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순차 탐색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1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순차 탐색으로 특정 값의 위치 찾기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056" y="1821131"/>
            <a:ext cx="8020383" cy="100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/>
              <a:t>순차 탐색 알고리즘을 이용하여 주어진 리스트 </a:t>
            </a:r>
            <a:r>
              <a:rPr lang="en-US" altLang="ko-KR" dirty="0"/>
              <a:t>[17, 92, 18, 33, 58, 5, 33, 42]</a:t>
            </a:r>
            <a:br>
              <a:rPr lang="en-US" altLang="ko-KR" dirty="0"/>
            </a:br>
            <a:r>
              <a:rPr lang="ko-KR" altLang="en-US" dirty="0"/>
              <a:t>에서 특정 값</a:t>
            </a:r>
            <a:r>
              <a:rPr lang="en-US" altLang="ko-KR" dirty="0"/>
              <a:t>(18, 33, 900)</a:t>
            </a:r>
            <a:r>
              <a:rPr lang="ko-KR" altLang="en-US" dirty="0"/>
              <a:t>을 찾아서 해당 위치 번호를 돌려주는 프로그램</a:t>
            </a:r>
            <a:endParaRPr lang="en-US" altLang="ko-KR" dirty="0"/>
          </a:p>
        </p:txBody>
      </p:sp>
      <p:sp>
        <p:nvSpPr>
          <p:cNvPr id="9" name="TextBox 8"/>
          <p:cNvSpPr txBox="1"/>
          <p:nvPr/>
        </p:nvSpPr>
        <p:spPr>
          <a:xfrm>
            <a:off x="647056" y="3235916"/>
            <a:ext cx="8020383" cy="549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solidFill>
                  <a:srgbClr val="EB666E"/>
                </a:solidFill>
                <a:latin typeface="+mn-ea"/>
              </a:rPr>
              <a:t>프로그램 </a:t>
            </a:r>
            <a:r>
              <a:rPr lang="en-US" altLang="ko-KR" dirty="0">
                <a:solidFill>
                  <a:srgbClr val="EB666E"/>
                </a:solidFill>
                <a:latin typeface="+mn-ea"/>
              </a:rPr>
              <a:t>7-1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/>
              <a:t>순차 탐색 알고리즘</a:t>
            </a:r>
            <a:endParaRPr lang="en-US" altLang="ko-KR" dirty="0"/>
          </a:p>
        </p:txBody>
      </p:sp>
      <p:sp>
        <p:nvSpPr>
          <p:cNvPr id="10" name="직사각형 9"/>
          <p:cNvSpPr/>
          <p:nvPr/>
        </p:nvSpPr>
        <p:spPr>
          <a:xfrm>
            <a:off x="1045269" y="4332241"/>
            <a:ext cx="7088957" cy="1593071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리스트에서 특정 숫자 위치 찾기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입력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: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리스트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a,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찾는 값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x 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출력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: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찾으면 그 값의 위치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,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찾지 못하면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-1</a:t>
            </a:r>
          </a:p>
          <a:p>
            <a:pPr>
              <a:lnSpc>
                <a:spcPct val="120000"/>
              </a:lnSpc>
            </a:pPr>
            <a:endParaRPr lang="en-US" altLang="ko-KR" sz="1400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400" dirty="0" err="1">
                <a:solidFill>
                  <a:srgbClr val="FF822D"/>
                </a:solidFill>
                <a:latin typeface="+mn-ea"/>
              </a:rPr>
              <a:t>def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 err="1">
                <a:solidFill>
                  <a:srgbClr val="0070C0"/>
                </a:solidFill>
                <a:latin typeface="+mn-ea"/>
              </a:rPr>
              <a:t>search_list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(a, x):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n = </a:t>
            </a:r>
            <a:r>
              <a:rPr lang="en-US" altLang="ko-KR" sz="1400" dirty="0" err="1">
                <a:solidFill>
                  <a:srgbClr val="0070C0"/>
                </a:solidFill>
                <a:latin typeface="+mn-ea"/>
              </a:rPr>
              <a:t>len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(a)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입력 크기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1001" y="4024466"/>
            <a:ext cx="31265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EB666E"/>
                </a:solidFill>
                <a:latin typeface="+mn-ea"/>
              </a:rPr>
              <a:t>▼</a:t>
            </a:r>
            <a:r>
              <a:rPr lang="ko-KR" altLang="en-US" sz="1400" dirty="0">
                <a:latin typeface="+mn-ea"/>
              </a:rPr>
              <a:t> </a:t>
            </a:r>
            <a:r>
              <a:rPr lang="ko-KR" altLang="en-US" sz="1400" dirty="0">
                <a:solidFill>
                  <a:srgbClr val="EB666E"/>
                </a:solidFill>
                <a:latin typeface="+mn-ea"/>
              </a:rPr>
              <a:t>예제 소스 </a:t>
            </a:r>
            <a:r>
              <a:rPr lang="en-US" altLang="ko-KR" sz="1400" dirty="0">
                <a:latin typeface="+mn-ea"/>
              </a:rPr>
              <a:t>p07-1-search.py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아래쪽 화살표 14"/>
          <p:cNvSpPr/>
          <p:nvPr/>
        </p:nvSpPr>
        <p:spPr>
          <a:xfrm>
            <a:off x="4502546" y="6149159"/>
            <a:ext cx="174402" cy="197963"/>
          </a:xfrm>
          <a:prstGeom prst="downArrow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55190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07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순차 탐색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1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순차 탐색으로 특정 값의 위치 찾기</a:t>
            </a:r>
          </a:p>
        </p:txBody>
      </p:sp>
      <p:sp>
        <p:nvSpPr>
          <p:cNvPr id="16" name="직사각형 15"/>
          <p:cNvSpPr/>
          <p:nvPr/>
        </p:nvSpPr>
        <p:spPr>
          <a:xfrm>
            <a:off x="1045269" y="2376615"/>
            <a:ext cx="7088957" cy="2661729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for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i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in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>
                <a:solidFill>
                  <a:srgbClr val="0070C0"/>
                </a:solidFill>
                <a:latin typeface="+mn-ea"/>
              </a:rPr>
              <a:t>range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(0, n):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리스트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a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의 모든 값을 차례로</a:t>
            </a:r>
          </a:p>
          <a:p>
            <a:pPr>
              <a:lnSpc>
                <a:spcPct val="120000"/>
              </a:lnSpc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      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if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x == a[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i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]:    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x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값과 비교하여</a:t>
            </a:r>
          </a:p>
          <a:p>
            <a:pPr>
              <a:lnSpc>
                <a:spcPct val="120000"/>
              </a:lnSpc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          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return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i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 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같으면 위치 돌려줍니다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return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-1 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끝까지 비교해서 없으면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-1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을 돌려줍니다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v = [17, 92, 18, 33, 58, 7, 33, 42]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rgbClr val="0070C0"/>
                </a:solidFill>
                <a:latin typeface="+mn-ea"/>
              </a:rPr>
              <a:t>print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search_list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(v, 18)) 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2(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순서상 세 번째지만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,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위치 번호는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2)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rgbClr val="0070C0"/>
                </a:solidFill>
                <a:latin typeface="+mn-ea"/>
              </a:rPr>
              <a:t>print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search_list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(v, 33)) 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3(33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은 리스트에 두 번 나오지만 처음 나온 위치만 출력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rgbClr val="0070C0"/>
                </a:solidFill>
                <a:latin typeface="+mn-ea"/>
              </a:rPr>
              <a:t>print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search_list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(v, 900))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-1(900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은 리스트에 없음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)</a:t>
            </a:r>
          </a:p>
        </p:txBody>
      </p:sp>
      <p:sp>
        <p:nvSpPr>
          <p:cNvPr id="17" name="아래쪽 화살표 16"/>
          <p:cNvSpPr/>
          <p:nvPr/>
        </p:nvSpPr>
        <p:spPr>
          <a:xfrm rot="10800000">
            <a:off x="4502546" y="1989127"/>
            <a:ext cx="174402" cy="197963"/>
          </a:xfrm>
          <a:prstGeom prst="downArrow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18725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07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순차 탐색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1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순차 탐색으로 특정 값의 위치 찾기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056" y="1821131"/>
            <a:ext cx="8020383" cy="485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solidFill>
                  <a:srgbClr val="EB666E"/>
                </a:solidFill>
                <a:latin typeface="+mn-ea"/>
              </a:rPr>
              <a:t>실행 결과</a:t>
            </a:r>
            <a:endParaRPr lang="en-US" altLang="ko-KR" dirty="0">
              <a:solidFill>
                <a:srgbClr val="EB666E"/>
              </a:solidFill>
              <a:latin typeface="+mn-ea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1045269" y="2535811"/>
            <a:ext cx="7088957" cy="838325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pt-BR" altLang="ko-KR" sz="1400" dirty="0">
                <a:solidFill>
                  <a:schemeClr val="tx1"/>
                </a:solidFill>
              </a:rPr>
              <a:t>2</a:t>
            </a:r>
          </a:p>
          <a:p>
            <a:pPr>
              <a:lnSpc>
                <a:spcPct val="120000"/>
              </a:lnSpc>
            </a:pPr>
            <a:r>
              <a:rPr lang="pt-BR" altLang="ko-KR" sz="1400" dirty="0">
                <a:solidFill>
                  <a:schemeClr val="tx1"/>
                </a:solidFill>
              </a:rPr>
              <a:t>3</a:t>
            </a:r>
          </a:p>
          <a:p>
            <a:pPr>
              <a:lnSpc>
                <a:spcPct val="120000"/>
              </a:lnSpc>
            </a:pPr>
            <a:r>
              <a:rPr lang="pt-BR" altLang="ko-KR" sz="1400" dirty="0">
                <a:solidFill>
                  <a:schemeClr val="tx1"/>
                </a:solidFill>
              </a:rPr>
              <a:t>-1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29398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07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순차 탐색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연습 문제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057" y="1821131"/>
            <a:ext cx="7920872" cy="28346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en-US" altLang="ko-KR" dirty="0">
                <a:solidFill>
                  <a:srgbClr val="EB666E"/>
                </a:solidFill>
                <a:latin typeface="+mn-ea"/>
              </a:rPr>
              <a:t>7-1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프로그램 </a:t>
            </a:r>
            <a:r>
              <a:rPr lang="en-US" altLang="ko-KR" dirty="0">
                <a:latin typeface="+mn-ea"/>
              </a:rPr>
              <a:t>7-1</a:t>
            </a:r>
            <a:r>
              <a:rPr lang="ko-KR" altLang="en-US" dirty="0">
                <a:latin typeface="+mn-ea"/>
              </a:rPr>
              <a:t>은 리스트에 찾는 값이 여러 개 있더라도 첫 번째 위치만 결과로 돌려줍니다</a:t>
            </a:r>
            <a:r>
              <a:rPr lang="en-US" altLang="ko-KR" dirty="0">
                <a:latin typeface="+mn-ea"/>
              </a:rPr>
              <a:t>. </a:t>
            </a:r>
            <a:r>
              <a:rPr lang="ko-KR" altLang="en-US" dirty="0">
                <a:latin typeface="+mn-ea"/>
              </a:rPr>
              <a:t>찾는 값이 나오는 모든 위치를 리스트로 돌려주는 탐색 알고리즘을 만들어 보세요</a:t>
            </a:r>
            <a:r>
              <a:rPr lang="en-US" altLang="ko-KR" dirty="0">
                <a:latin typeface="+mn-ea"/>
              </a:rPr>
              <a:t>. </a:t>
            </a:r>
            <a:r>
              <a:rPr lang="ko-KR" altLang="en-US" dirty="0">
                <a:latin typeface="+mn-ea"/>
              </a:rPr>
              <a:t>찾는 값이 리스트에 없다면 빈 리스트인 </a:t>
            </a:r>
            <a:r>
              <a:rPr lang="en-US" altLang="ko-KR" dirty="0">
                <a:latin typeface="+mn-ea"/>
              </a:rPr>
              <a:t>[  ]</a:t>
            </a:r>
            <a:r>
              <a:rPr lang="ko-KR" altLang="en-US" dirty="0">
                <a:latin typeface="+mn-ea"/>
              </a:rPr>
              <a:t>를 돌려줍니다</a:t>
            </a:r>
            <a:r>
              <a:rPr lang="en-US" altLang="ko-KR" dirty="0">
                <a:latin typeface="+mn-ea"/>
              </a:rPr>
              <a:t>.</a:t>
            </a: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en-US" altLang="ko-KR" dirty="0">
                <a:solidFill>
                  <a:srgbClr val="EB666E"/>
                </a:solidFill>
                <a:latin typeface="+mn-ea"/>
              </a:rPr>
              <a:t>7-2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/>
              <a:t>연습 문제 </a:t>
            </a:r>
            <a:r>
              <a:rPr lang="en-US" altLang="ko-KR" dirty="0"/>
              <a:t>7-1 </a:t>
            </a:r>
            <a:r>
              <a:rPr lang="ko-KR" altLang="en-US" dirty="0"/>
              <a:t>프로그램의 계산 복잡도는 무엇일까요</a:t>
            </a:r>
            <a:r>
              <a:rPr lang="en-US" altLang="ko-KR" dirty="0"/>
              <a:t>?</a:t>
            </a:r>
            <a:endParaRPr lang="ko-KR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79904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07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순차 탐색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연습 문제 풀이</a:t>
            </a:r>
          </a:p>
        </p:txBody>
      </p:sp>
      <p:sp>
        <p:nvSpPr>
          <p:cNvPr id="8" name="모서리가 둥근 직사각형 7"/>
          <p:cNvSpPr/>
          <p:nvPr/>
        </p:nvSpPr>
        <p:spPr>
          <a:xfrm>
            <a:off x="3227832" y="673656"/>
            <a:ext cx="740664" cy="380917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</a:rPr>
              <a:t>부록 </a:t>
            </a:r>
            <a:r>
              <a:rPr lang="en-US" altLang="ko-KR" sz="1400" b="1" dirty="0">
                <a:solidFill>
                  <a:schemeClr val="bg1"/>
                </a:solidFill>
              </a:rPr>
              <a:t>A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7057" y="1821131"/>
            <a:ext cx="7920872" cy="485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en-US" altLang="ko-KR" dirty="0">
                <a:solidFill>
                  <a:srgbClr val="EB666E"/>
                </a:solidFill>
                <a:latin typeface="+mn-ea"/>
              </a:rPr>
              <a:t>7-1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리스트에서 특정 숫자의 위치를 전부 찾기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1045269" y="2917455"/>
            <a:ext cx="7088957" cy="3081009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리스트에서 특정 숫자 위치 전부 찾기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입력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: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리스트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a,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찾는 값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x 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출력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: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찾는 값의 위치 번호가 담긴 리스트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,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찾는 값이 없으면 빈 리스트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[]</a:t>
            </a:r>
          </a:p>
          <a:p>
            <a:pPr>
              <a:lnSpc>
                <a:spcPct val="120000"/>
              </a:lnSpc>
            </a:pPr>
            <a:endParaRPr lang="en-US" altLang="ko-KR" sz="1400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400" dirty="0" err="1">
                <a:solidFill>
                  <a:srgbClr val="FF822D"/>
                </a:solidFill>
                <a:latin typeface="+mn-ea"/>
              </a:rPr>
              <a:t>def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 err="1">
                <a:solidFill>
                  <a:srgbClr val="0070C0"/>
                </a:solidFill>
                <a:latin typeface="+mn-ea"/>
              </a:rPr>
              <a:t>search_list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(a, x):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n = </a:t>
            </a:r>
            <a:r>
              <a:rPr lang="en-US" altLang="ko-KR" sz="1400" dirty="0" err="1">
                <a:solidFill>
                  <a:srgbClr val="0070C0"/>
                </a:solidFill>
                <a:latin typeface="+mn-ea"/>
              </a:rPr>
              <a:t>len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(a)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입력 크기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n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result = []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새 리스트를 만들어 </a:t>
            </a:r>
            <a:r>
              <a:rPr lang="ko-KR" altLang="en-US" sz="1400" dirty="0" err="1">
                <a:solidFill>
                  <a:schemeClr val="accent2">
                    <a:lumMod val="50000"/>
                  </a:schemeClr>
                </a:solidFill>
                <a:latin typeface="+mn-ea"/>
              </a:rPr>
              <a:t>결괏값을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 저장</a:t>
            </a:r>
          </a:p>
          <a:p>
            <a:pPr>
              <a:lnSpc>
                <a:spcPct val="120000"/>
              </a:lnSpc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for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i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in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>
                <a:solidFill>
                  <a:srgbClr val="0070C0"/>
                </a:solidFill>
                <a:latin typeface="+mn-ea"/>
              </a:rPr>
              <a:t>range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(0, n):   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리스트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a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의 모든 값을 차례로</a:t>
            </a:r>
          </a:p>
          <a:p>
            <a:pPr>
              <a:lnSpc>
                <a:spcPct val="120000"/>
              </a:lnSpc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      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if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x == a[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i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]:       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x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값과 비교하여</a:t>
            </a:r>
          </a:p>
          <a:p>
            <a:pPr>
              <a:lnSpc>
                <a:spcPct val="120000"/>
              </a:lnSpc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          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result.append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i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)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같으면 위치 번호를 결과 리스트에 추가</a:t>
            </a:r>
            <a:endParaRPr lang="en-US" altLang="ko-KR" sz="1400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endParaRPr lang="en-US" altLang="ko-KR" sz="1400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return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result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만들어진 결과 리스트를 돌려줌</a:t>
            </a:r>
            <a:endParaRPr lang="en-US" altLang="ko-KR" sz="1400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51001" y="2609681"/>
            <a:ext cx="31265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EB666E"/>
                </a:solidFill>
                <a:latin typeface="+mn-ea"/>
              </a:rPr>
              <a:t>▼</a:t>
            </a:r>
            <a:r>
              <a:rPr lang="ko-KR" altLang="en-US" sz="1400" dirty="0">
                <a:latin typeface="+mn-ea"/>
              </a:rPr>
              <a:t> </a:t>
            </a:r>
            <a:r>
              <a:rPr lang="ko-KR" altLang="en-US" sz="1400" dirty="0">
                <a:solidFill>
                  <a:srgbClr val="EB666E"/>
                </a:solidFill>
                <a:latin typeface="+mn-ea"/>
              </a:rPr>
              <a:t>예제 소스 </a:t>
            </a:r>
            <a:r>
              <a:rPr lang="en-US" altLang="ko-KR" sz="1400" dirty="0">
                <a:latin typeface="+mn-ea"/>
              </a:rPr>
              <a:t>e07-1-searchall.py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6" name="아래쪽 화살표 15"/>
          <p:cNvSpPr/>
          <p:nvPr/>
        </p:nvSpPr>
        <p:spPr>
          <a:xfrm>
            <a:off x="4502546" y="6142478"/>
            <a:ext cx="174402" cy="197963"/>
          </a:xfrm>
          <a:prstGeom prst="downArrow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50145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07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순차 탐색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연습 문제 풀이</a:t>
            </a:r>
          </a:p>
        </p:txBody>
      </p:sp>
      <p:sp>
        <p:nvSpPr>
          <p:cNvPr id="8" name="모서리가 둥근 직사각형 7"/>
          <p:cNvSpPr/>
          <p:nvPr/>
        </p:nvSpPr>
        <p:spPr>
          <a:xfrm>
            <a:off x="3227832" y="673656"/>
            <a:ext cx="740664" cy="380917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</a:rPr>
              <a:t>부록 </a:t>
            </a:r>
            <a:r>
              <a:rPr lang="en-US" altLang="ko-KR" sz="1400" b="1" dirty="0">
                <a:solidFill>
                  <a:schemeClr val="bg1"/>
                </a:solidFill>
              </a:rPr>
              <a:t>A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1045269" y="2376615"/>
            <a:ext cx="7088957" cy="1143825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v = [17, 92, 18, 33, 58, 7, 33, 42]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rgbClr val="0070C0"/>
                </a:solidFill>
                <a:latin typeface="+mn-ea"/>
              </a:rPr>
              <a:t>print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search_list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(v, 18)) 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[2]    (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순서상 세 번째지만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,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위치 번호는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2)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rgbClr val="0070C0"/>
                </a:solidFill>
                <a:latin typeface="+mn-ea"/>
              </a:rPr>
              <a:t>print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search_list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(v, 33)) 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[3, 6] (33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은 리스트에 두 번 나옴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rgbClr val="0070C0"/>
                </a:solidFill>
                <a:latin typeface="+mn-ea"/>
              </a:rPr>
              <a:t>print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search_list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(v, 900))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[]     (900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은 리스트에 없음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)</a:t>
            </a:r>
          </a:p>
        </p:txBody>
      </p:sp>
      <p:sp>
        <p:nvSpPr>
          <p:cNvPr id="18" name="아래쪽 화살표 17"/>
          <p:cNvSpPr/>
          <p:nvPr/>
        </p:nvSpPr>
        <p:spPr>
          <a:xfrm rot="10800000">
            <a:off x="4502546" y="1989127"/>
            <a:ext cx="174402" cy="197963"/>
          </a:xfrm>
          <a:prstGeom prst="downArrow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647056" y="3882730"/>
            <a:ext cx="8020383" cy="485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solidFill>
                  <a:srgbClr val="EB666E"/>
                </a:solidFill>
                <a:latin typeface="+mn-ea"/>
              </a:rPr>
              <a:t>실행 결과</a:t>
            </a:r>
            <a:endParaRPr lang="en-US" altLang="ko-KR" dirty="0">
              <a:solidFill>
                <a:srgbClr val="EB666E"/>
              </a:solidFill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1045269" y="4597410"/>
            <a:ext cx="7088957" cy="838325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pt-BR" altLang="ko-KR" sz="1400" dirty="0">
                <a:solidFill>
                  <a:schemeClr val="tx1"/>
                </a:solidFill>
              </a:rPr>
              <a:t>[2]</a:t>
            </a:r>
          </a:p>
          <a:p>
            <a:pPr>
              <a:lnSpc>
                <a:spcPct val="120000"/>
              </a:lnSpc>
            </a:pPr>
            <a:r>
              <a:rPr lang="pt-BR" altLang="ko-KR" sz="1400" dirty="0">
                <a:solidFill>
                  <a:schemeClr val="tx1"/>
                </a:solidFill>
              </a:rPr>
              <a:t>[3, 6]</a:t>
            </a:r>
          </a:p>
          <a:p>
            <a:pPr>
              <a:lnSpc>
                <a:spcPct val="120000"/>
              </a:lnSpc>
            </a:pPr>
            <a:r>
              <a:rPr lang="pt-BR" altLang="ko-KR" sz="1400" dirty="0">
                <a:solidFill>
                  <a:schemeClr val="tx1"/>
                </a:solidFill>
              </a:rPr>
              <a:t>[]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72665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07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순차 탐색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2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알고리즘 분석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056" y="1821131"/>
            <a:ext cx="8020383" cy="4205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/>
              <a:t>순차 탐색 알고리즘으로 원하는 값을 찾으려면 비교를 몇 번 해야 할까</a:t>
            </a:r>
            <a:r>
              <a:rPr lang="en-US" altLang="ko-KR" dirty="0"/>
              <a:t>?</a:t>
            </a:r>
          </a:p>
          <a:p>
            <a:pPr>
              <a:lnSpc>
                <a:spcPct val="165000"/>
              </a:lnSpc>
              <a:buClr>
                <a:srgbClr val="EB666E"/>
              </a:buClr>
            </a:pPr>
            <a:r>
              <a:rPr lang="en-US" altLang="ko-KR" dirty="0"/>
              <a:t>Ans_</a:t>
            </a:r>
            <a:r>
              <a:rPr lang="ko-KR" altLang="en-US" dirty="0"/>
              <a:t>경우에 따라 다름</a:t>
            </a:r>
            <a:r>
              <a:rPr lang="en-US" altLang="ko-KR" dirty="0"/>
              <a:t>, </a:t>
            </a:r>
            <a:r>
              <a:rPr lang="ko-KR" altLang="en-US" dirty="0"/>
              <a:t>찾는 값이 리스트의 맨 앞에 있다면 단 한 번만 비교해도 결과를 얻을 수 있지만 찾는 값이 리스트의 마지막에 있거나 아예 없다면 </a:t>
            </a:r>
            <a:br>
              <a:rPr lang="en-US" altLang="ko-KR" dirty="0"/>
            </a:br>
            <a:r>
              <a:rPr lang="ko-KR" altLang="en-US" dirty="0"/>
              <a:t>리스트의 끝까지 하나하나 비교해야 함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경우에 따라 계산 횟수가 다를 때는 최선의 경우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>
                <a:latin typeface="+mn-ea"/>
              </a:rPr>
              <a:t>평균적인 경우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>
                <a:latin typeface="+mn-ea"/>
              </a:rPr>
              <a:t>최악의 경우로 나누어 각각 계산 복잡도를 생각해 보기도 함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/>
              <a:t>최악의 경우를 분석하면 어떤 경우라도 그보다는 빨리 계산할 수 있을 것</a:t>
            </a:r>
            <a:endParaRPr lang="en-US" altLang="ko-KR" dirty="0"/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/>
              <a:t>따라서 보수적인 관점에서 이 알고리즘을 최악의 경우로 분석해 보면 </a:t>
            </a:r>
            <a:br>
              <a:rPr lang="en-US" altLang="ko-KR" dirty="0"/>
            </a:br>
            <a:r>
              <a:rPr lang="ko-KR" altLang="en-US" dirty="0"/>
              <a:t>비교가 최대 </a:t>
            </a:r>
            <a:r>
              <a:rPr lang="en-US" altLang="ko-KR" dirty="0"/>
              <a:t>n</a:t>
            </a:r>
            <a:r>
              <a:rPr lang="ko-KR" altLang="en-US" dirty="0"/>
              <a:t>번 필요하고 계산 복잡도는 </a:t>
            </a:r>
            <a:r>
              <a:rPr lang="en-US" altLang="ko-KR" dirty="0"/>
              <a:t>O(n)</a:t>
            </a:r>
            <a:endParaRPr lang="en-US" altLang="ko-KR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119452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07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순차 탐색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연습 문제 풀이</a:t>
            </a:r>
          </a:p>
        </p:txBody>
      </p:sp>
      <p:sp>
        <p:nvSpPr>
          <p:cNvPr id="8" name="모서리가 둥근 직사각형 7"/>
          <p:cNvSpPr/>
          <p:nvPr/>
        </p:nvSpPr>
        <p:spPr>
          <a:xfrm>
            <a:off x="3227832" y="673656"/>
            <a:ext cx="740664" cy="380917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</a:rPr>
              <a:t>부록 </a:t>
            </a:r>
            <a:r>
              <a:rPr lang="en-US" altLang="ko-KR" sz="1400" b="1" dirty="0">
                <a:solidFill>
                  <a:schemeClr val="bg1"/>
                </a:solidFill>
              </a:rPr>
              <a:t>A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7057" y="1821131"/>
            <a:ext cx="7920872" cy="32916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en-US" altLang="ko-KR" dirty="0">
                <a:solidFill>
                  <a:srgbClr val="EB666E"/>
                </a:solidFill>
                <a:latin typeface="+mn-ea"/>
              </a:rPr>
              <a:t>7-2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프로그램 </a:t>
            </a:r>
            <a:r>
              <a:rPr lang="en-US" altLang="ko-KR" dirty="0">
                <a:latin typeface="+mn-ea"/>
              </a:rPr>
              <a:t>7-1</a:t>
            </a:r>
            <a:r>
              <a:rPr lang="ko-KR" altLang="en-US" dirty="0">
                <a:latin typeface="+mn-ea"/>
              </a:rPr>
              <a:t>의 계산 복잡도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연습 문제 </a:t>
            </a:r>
            <a:r>
              <a:rPr lang="en-US" altLang="ko-KR" dirty="0">
                <a:latin typeface="+mn-ea"/>
              </a:rPr>
              <a:t>7-1 </a:t>
            </a:r>
            <a:r>
              <a:rPr lang="ko-KR" altLang="en-US" dirty="0">
                <a:latin typeface="+mn-ea"/>
              </a:rPr>
              <a:t>프로그램은 찾는 값이 탐색 중간에 나오더라도 탐색을 </a:t>
            </a:r>
            <a:br>
              <a:rPr lang="en-US" altLang="ko-KR" dirty="0">
                <a:latin typeface="+mn-ea"/>
              </a:rPr>
            </a:br>
            <a:r>
              <a:rPr lang="ko-KR" altLang="en-US" dirty="0">
                <a:latin typeface="+mn-ea"/>
              </a:rPr>
              <a:t>멈추지 않고 혹시 더 있을 자료 값을 찾기 위해 끝까지 탐색을 해야 함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따라서 어떤 경우에도 비교가 </a:t>
            </a:r>
            <a:r>
              <a:rPr lang="en-US" altLang="ko-KR" dirty="0">
                <a:latin typeface="+mn-ea"/>
              </a:rPr>
              <a:t>n</a:t>
            </a:r>
            <a:r>
              <a:rPr lang="ko-KR" altLang="en-US" dirty="0">
                <a:latin typeface="+mn-ea"/>
              </a:rPr>
              <a:t>번 필요</a:t>
            </a:r>
            <a:endParaRPr lang="en-US" altLang="ko-KR" dirty="0">
              <a:latin typeface="+mn-ea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045269" y="2639024"/>
            <a:ext cx="7088957" cy="652411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</a:pPr>
            <a:r>
              <a:rPr lang="en-US" altLang="ko-KR" dirty="0">
                <a:solidFill>
                  <a:schemeClr val="tx1"/>
                </a:solidFill>
              </a:rPr>
              <a:t>O(n)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63913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07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순차 탐색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연습 문제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057" y="1821131"/>
            <a:ext cx="7920872" cy="23775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en-US" altLang="ko-KR" dirty="0">
                <a:solidFill>
                  <a:srgbClr val="EB666E"/>
                </a:solidFill>
                <a:latin typeface="+mn-ea"/>
              </a:rPr>
              <a:t>7-3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다음과 같이 학생 번호와 이름이 리스트로 주어졌을 때 학생 번호를 입력하면 학생 번호에 해당하는 이름을 순차 탐색으로 찾아 돌려주는 </a:t>
            </a:r>
            <a:br>
              <a:rPr lang="en-US" altLang="ko-KR" dirty="0">
                <a:latin typeface="+mn-ea"/>
              </a:rPr>
            </a:br>
            <a:r>
              <a:rPr lang="ko-KR" altLang="en-US" dirty="0">
                <a:latin typeface="+mn-ea"/>
              </a:rPr>
              <a:t>함수를 만들어 보세요</a:t>
            </a:r>
            <a:r>
              <a:rPr lang="en-US" altLang="ko-KR" dirty="0">
                <a:latin typeface="+mn-ea"/>
              </a:rPr>
              <a:t>. </a:t>
            </a:r>
            <a:r>
              <a:rPr lang="ko-KR" altLang="en-US" dirty="0">
                <a:latin typeface="+mn-ea"/>
              </a:rPr>
              <a:t>해당하는 학생 번호가 없으면 물음표</a:t>
            </a:r>
            <a:r>
              <a:rPr lang="en-US" altLang="ko-KR" dirty="0">
                <a:latin typeface="+mn-ea"/>
              </a:rPr>
              <a:t>(?)</a:t>
            </a:r>
            <a:r>
              <a:rPr lang="ko-KR" altLang="en-US" dirty="0">
                <a:latin typeface="+mn-ea"/>
              </a:rPr>
              <a:t>를 </a:t>
            </a:r>
            <a:br>
              <a:rPr lang="en-US" altLang="ko-KR" dirty="0">
                <a:latin typeface="+mn-ea"/>
              </a:rPr>
            </a:br>
            <a:r>
              <a:rPr lang="ko-KR" altLang="en-US" dirty="0">
                <a:latin typeface="+mn-ea"/>
              </a:rPr>
              <a:t>돌려줍니다</a:t>
            </a:r>
            <a:r>
              <a:rPr lang="en-US" altLang="ko-KR" dirty="0">
                <a:latin typeface="+mn-ea"/>
              </a:rPr>
              <a:t>. </a:t>
            </a:r>
            <a:r>
              <a:rPr lang="ko-KR" altLang="en-US" dirty="0">
                <a:latin typeface="+mn-ea"/>
              </a:rPr>
              <a:t>참고로 학생 번호가 </a:t>
            </a:r>
            <a:r>
              <a:rPr lang="en-US" altLang="ko-KR" dirty="0">
                <a:latin typeface="+mn-ea"/>
              </a:rPr>
              <a:t>39</a:t>
            </a:r>
            <a:r>
              <a:rPr lang="ko-KR" altLang="en-US" dirty="0">
                <a:latin typeface="+mn-ea"/>
              </a:rPr>
              <a:t>번이면 “</a:t>
            </a:r>
            <a:r>
              <a:rPr lang="en-US" altLang="ko-KR" dirty="0">
                <a:latin typeface="+mn-ea"/>
              </a:rPr>
              <a:t>Justin”, 14</a:t>
            </a:r>
            <a:r>
              <a:rPr lang="ko-KR" altLang="en-US" dirty="0">
                <a:latin typeface="+mn-ea"/>
              </a:rPr>
              <a:t>번이면 “</a:t>
            </a:r>
            <a:r>
              <a:rPr lang="en-US" altLang="ko-KR" dirty="0">
                <a:latin typeface="+mn-ea"/>
              </a:rPr>
              <a:t>John”</a:t>
            </a:r>
            <a:r>
              <a:rPr lang="ko-KR" altLang="en-US" dirty="0">
                <a:latin typeface="+mn-ea"/>
              </a:rPr>
              <a:t>을 </a:t>
            </a:r>
            <a:br>
              <a:rPr lang="en-US" altLang="ko-KR" dirty="0">
                <a:latin typeface="+mn-ea"/>
              </a:rPr>
            </a:br>
            <a:r>
              <a:rPr lang="ko-KR" altLang="en-US" dirty="0">
                <a:latin typeface="+mn-ea"/>
              </a:rPr>
              <a:t>돌려줍니다</a:t>
            </a:r>
            <a:r>
              <a:rPr lang="en-US" altLang="ko-KR" dirty="0">
                <a:latin typeface="+mn-ea"/>
              </a:rPr>
              <a:t>.</a:t>
            </a:r>
            <a:endParaRPr lang="ko-KR" altLang="en-US" dirty="0">
              <a:latin typeface="+mn-ea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1045269" y="4342719"/>
            <a:ext cx="7088957" cy="576753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ko-KR" sz="1400" dirty="0" err="1">
                <a:solidFill>
                  <a:schemeClr val="tx1"/>
                </a:solidFill>
              </a:rPr>
              <a:t>stu_no</a:t>
            </a:r>
            <a:r>
              <a:rPr lang="en-US" altLang="ko-KR" sz="1400" dirty="0">
                <a:solidFill>
                  <a:schemeClr val="tx1"/>
                </a:solidFill>
              </a:rPr>
              <a:t> = [39, 14, 67, 105]</a:t>
            </a:r>
          </a:p>
          <a:p>
            <a:pPr>
              <a:lnSpc>
                <a:spcPct val="120000"/>
              </a:lnSpc>
            </a:pPr>
            <a:r>
              <a:rPr lang="en-US" altLang="ko-KR" sz="1400" dirty="0" err="1">
                <a:solidFill>
                  <a:schemeClr val="tx1"/>
                </a:solidFill>
              </a:rPr>
              <a:t>stu_name</a:t>
            </a:r>
            <a:r>
              <a:rPr lang="en-US" altLang="ko-KR" sz="1400" dirty="0">
                <a:solidFill>
                  <a:schemeClr val="tx1"/>
                </a:solidFill>
              </a:rPr>
              <a:t> = [</a:t>
            </a:r>
            <a:r>
              <a:rPr lang="en-US" altLang="ko-KR" sz="1400" dirty="0">
                <a:solidFill>
                  <a:srgbClr val="00B050"/>
                </a:solidFill>
              </a:rPr>
              <a:t>"Justin"</a:t>
            </a:r>
            <a:r>
              <a:rPr lang="en-US" altLang="ko-KR" sz="1400" dirty="0">
                <a:solidFill>
                  <a:schemeClr val="tx1"/>
                </a:solidFill>
              </a:rPr>
              <a:t>, </a:t>
            </a:r>
            <a:r>
              <a:rPr lang="en-US" altLang="ko-KR" sz="1400" dirty="0">
                <a:solidFill>
                  <a:srgbClr val="00B050"/>
                </a:solidFill>
              </a:rPr>
              <a:t>"John"</a:t>
            </a:r>
            <a:r>
              <a:rPr lang="en-US" altLang="ko-KR" sz="1400" dirty="0">
                <a:solidFill>
                  <a:schemeClr val="tx1"/>
                </a:solidFill>
              </a:rPr>
              <a:t>, </a:t>
            </a:r>
            <a:r>
              <a:rPr lang="en-US" altLang="ko-KR" sz="1400" dirty="0">
                <a:solidFill>
                  <a:srgbClr val="00B050"/>
                </a:solidFill>
              </a:rPr>
              <a:t>"Mike"</a:t>
            </a:r>
            <a:r>
              <a:rPr lang="en-US" altLang="ko-KR" sz="1400" dirty="0">
                <a:solidFill>
                  <a:schemeClr val="tx1"/>
                </a:solidFill>
              </a:rPr>
              <a:t>, </a:t>
            </a:r>
            <a:r>
              <a:rPr lang="en-US" altLang="ko-KR" sz="1400" dirty="0">
                <a:solidFill>
                  <a:srgbClr val="00B050"/>
                </a:solidFill>
              </a:rPr>
              <a:t>"Summer"</a:t>
            </a:r>
            <a:r>
              <a:rPr lang="en-US" altLang="ko-KR" sz="1400" dirty="0">
                <a:solidFill>
                  <a:schemeClr val="tx1"/>
                </a:solidFill>
              </a:rPr>
              <a:t>]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42310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07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순차 탐색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연습 문제 풀이</a:t>
            </a:r>
          </a:p>
        </p:txBody>
      </p:sp>
      <p:sp>
        <p:nvSpPr>
          <p:cNvPr id="8" name="모서리가 둥근 직사각형 7"/>
          <p:cNvSpPr/>
          <p:nvPr/>
        </p:nvSpPr>
        <p:spPr>
          <a:xfrm>
            <a:off x="3227832" y="673656"/>
            <a:ext cx="740664" cy="380917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</a:rPr>
              <a:t>부록 </a:t>
            </a:r>
            <a:r>
              <a:rPr lang="en-US" altLang="ko-KR" sz="1400" b="1" dirty="0">
                <a:solidFill>
                  <a:schemeClr val="bg1"/>
                </a:solidFill>
              </a:rPr>
              <a:t>A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7057" y="1821131"/>
            <a:ext cx="7920872" cy="485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en-US" altLang="ko-KR" dirty="0">
                <a:solidFill>
                  <a:srgbClr val="EB666E"/>
                </a:solidFill>
                <a:latin typeface="+mn-ea"/>
              </a:rPr>
              <a:t>7-3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학생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번호에 해당하는 학생 이름 찾기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1045269" y="2917455"/>
            <a:ext cx="7088957" cy="2888985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학생 번호에 해당하는 학생 이름 찾기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입력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: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학생 번호 리스트 </a:t>
            </a:r>
            <a:r>
              <a:rPr lang="en-US" altLang="ko-KR" sz="1400" dirty="0" err="1">
                <a:solidFill>
                  <a:schemeClr val="accent2">
                    <a:lumMod val="50000"/>
                  </a:schemeClr>
                </a:solidFill>
                <a:latin typeface="+mn-ea"/>
              </a:rPr>
              <a:t>s_no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,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학생 이름 리스트 </a:t>
            </a:r>
            <a:r>
              <a:rPr lang="en-US" altLang="ko-KR" sz="1400" dirty="0" err="1">
                <a:solidFill>
                  <a:schemeClr val="accent2">
                    <a:lumMod val="50000"/>
                  </a:schemeClr>
                </a:solidFill>
                <a:latin typeface="+mn-ea"/>
              </a:rPr>
              <a:t>s_name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,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찾는 학생 번호 </a:t>
            </a:r>
            <a:r>
              <a:rPr lang="en-US" altLang="ko-KR" sz="1400" dirty="0" err="1">
                <a:solidFill>
                  <a:schemeClr val="accent2">
                    <a:lumMod val="50000"/>
                  </a:schemeClr>
                </a:solidFill>
                <a:latin typeface="+mn-ea"/>
              </a:rPr>
              <a:t>find_no</a:t>
            </a:r>
            <a:endParaRPr lang="en-US" altLang="ko-KR" sz="1400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출력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: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해당하는 학생 이름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,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학생 이름이 없으면 물음표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"?"</a:t>
            </a:r>
          </a:p>
          <a:p>
            <a:pPr>
              <a:lnSpc>
                <a:spcPct val="120000"/>
              </a:lnSpc>
            </a:pPr>
            <a:endParaRPr lang="en-US" altLang="ko-KR" sz="1400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400" dirty="0" err="1">
                <a:solidFill>
                  <a:srgbClr val="FF822D"/>
                </a:solidFill>
                <a:latin typeface="+mn-ea"/>
              </a:rPr>
              <a:t>def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 err="1">
                <a:solidFill>
                  <a:srgbClr val="0070C0"/>
                </a:solidFill>
                <a:latin typeface="+mn-ea"/>
              </a:rPr>
              <a:t>get_name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s_no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,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s_name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,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find_no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):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n = </a:t>
            </a:r>
            <a:r>
              <a:rPr lang="en-US" altLang="ko-KR" sz="1400" dirty="0" err="1">
                <a:solidFill>
                  <a:srgbClr val="0070C0"/>
                </a:solidFill>
                <a:latin typeface="+mn-ea"/>
              </a:rPr>
              <a:t>len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s_no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)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입력 크기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n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for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i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in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>
                <a:solidFill>
                  <a:srgbClr val="0070C0"/>
                </a:solidFill>
                <a:latin typeface="+mn-ea"/>
              </a:rPr>
              <a:t>range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(0, n):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   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if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find_no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==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s_no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[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i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]: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학생 번호가 찾는 학생 번호와 같으면</a:t>
            </a:r>
          </a:p>
          <a:p>
            <a:pPr>
              <a:lnSpc>
                <a:spcPct val="120000"/>
              </a:lnSpc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          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return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s_name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[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i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] 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해당하는 학생 이름을 결과로 반환</a:t>
            </a:r>
          </a:p>
          <a:p>
            <a:pPr>
              <a:lnSpc>
                <a:spcPct val="120000"/>
              </a:lnSpc>
            </a:pPr>
            <a:endParaRPr lang="ko-KR" altLang="en-US" sz="1400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return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>
                <a:solidFill>
                  <a:srgbClr val="00B050"/>
                </a:solidFill>
                <a:latin typeface="+mn-ea"/>
              </a:rPr>
              <a:t>"?"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자료를 다 뒤져서 못 찾았으면 물음표 반환</a:t>
            </a:r>
            <a:endParaRPr lang="en-US" altLang="ko-KR" sz="1400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51001" y="2609681"/>
            <a:ext cx="31265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EB666E"/>
                </a:solidFill>
                <a:latin typeface="+mn-ea"/>
              </a:rPr>
              <a:t>▼</a:t>
            </a:r>
            <a:r>
              <a:rPr lang="ko-KR" altLang="en-US" sz="1400" dirty="0">
                <a:latin typeface="+mn-ea"/>
              </a:rPr>
              <a:t> </a:t>
            </a:r>
            <a:r>
              <a:rPr lang="ko-KR" altLang="en-US" sz="1400" dirty="0">
                <a:solidFill>
                  <a:srgbClr val="EB666E"/>
                </a:solidFill>
                <a:latin typeface="+mn-ea"/>
              </a:rPr>
              <a:t>예제 소스 </a:t>
            </a:r>
            <a:r>
              <a:rPr lang="en-US" altLang="ko-KR" sz="1400" dirty="0">
                <a:latin typeface="+mn-ea"/>
              </a:rPr>
              <a:t>e07-3-getname.py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아래쪽 화살표 14"/>
          <p:cNvSpPr/>
          <p:nvPr/>
        </p:nvSpPr>
        <p:spPr>
          <a:xfrm>
            <a:off x="4502546" y="5950454"/>
            <a:ext cx="174402" cy="197963"/>
          </a:xfrm>
          <a:prstGeom prst="downArrow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31017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07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순차 탐색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연습 문제 풀이</a:t>
            </a:r>
          </a:p>
        </p:txBody>
      </p:sp>
      <p:sp>
        <p:nvSpPr>
          <p:cNvPr id="8" name="모서리가 둥근 직사각형 7"/>
          <p:cNvSpPr/>
          <p:nvPr/>
        </p:nvSpPr>
        <p:spPr>
          <a:xfrm>
            <a:off x="3227832" y="673656"/>
            <a:ext cx="740664" cy="380917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</a:rPr>
              <a:t>부록 </a:t>
            </a:r>
            <a:r>
              <a:rPr lang="en-US" altLang="ko-KR" sz="1400" b="1" dirty="0">
                <a:solidFill>
                  <a:schemeClr val="bg1"/>
                </a:solidFill>
              </a:rPr>
              <a:t>A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1045269" y="2376615"/>
            <a:ext cx="7088957" cy="1143825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</a:pP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sample_no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= [39, 14, 67, 105]</a:t>
            </a:r>
          </a:p>
          <a:p>
            <a:pPr>
              <a:lnSpc>
                <a:spcPct val="120000"/>
              </a:lnSpc>
            </a:pP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sample_name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= [</a:t>
            </a:r>
            <a:r>
              <a:rPr lang="en-US" altLang="ko-KR" sz="1400" dirty="0">
                <a:solidFill>
                  <a:srgbClr val="00B050"/>
                </a:solidFill>
                <a:latin typeface="+mn-ea"/>
              </a:rPr>
              <a:t>"Justin"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, </a:t>
            </a:r>
            <a:r>
              <a:rPr lang="en-US" altLang="ko-KR" sz="1400" dirty="0">
                <a:solidFill>
                  <a:srgbClr val="00B050"/>
                </a:solidFill>
                <a:latin typeface="+mn-ea"/>
              </a:rPr>
              <a:t>"John"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, </a:t>
            </a:r>
            <a:r>
              <a:rPr lang="en-US" altLang="ko-KR" sz="1400" dirty="0">
                <a:solidFill>
                  <a:srgbClr val="00B050"/>
                </a:solidFill>
                <a:latin typeface="+mn-ea"/>
              </a:rPr>
              <a:t>"Mike"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, </a:t>
            </a:r>
            <a:r>
              <a:rPr lang="en-US" altLang="ko-KR" sz="1400" dirty="0">
                <a:solidFill>
                  <a:srgbClr val="00B050"/>
                </a:solidFill>
                <a:latin typeface="+mn-ea"/>
              </a:rPr>
              <a:t>"Summer"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]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rgbClr val="0070C0"/>
                </a:solidFill>
                <a:latin typeface="+mn-ea"/>
              </a:rPr>
              <a:t>print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get_name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sample_no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,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sample_name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, 105))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rgbClr val="0070C0"/>
                </a:solidFill>
                <a:latin typeface="+mn-ea"/>
              </a:rPr>
              <a:t>print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get_name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sample_no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,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sample_name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, 777))</a:t>
            </a:r>
          </a:p>
        </p:txBody>
      </p:sp>
      <p:sp>
        <p:nvSpPr>
          <p:cNvPr id="10" name="아래쪽 화살표 9"/>
          <p:cNvSpPr/>
          <p:nvPr/>
        </p:nvSpPr>
        <p:spPr>
          <a:xfrm rot="10800000">
            <a:off x="4502546" y="1989127"/>
            <a:ext cx="174402" cy="197963"/>
          </a:xfrm>
          <a:prstGeom prst="downArrow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647056" y="3882730"/>
            <a:ext cx="8020383" cy="485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solidFill>
                  <a:srgbClr val="EB666E"/>
                </a:solidFill>
                <a:latin typeface="+mn-ea"/>
              </a:rPr>
              <a:t>실행 결과</a:t>
            </a:r>
            <a:endParaRPr lang="en-US" altLang="ko-KR" dirty="0">
              <a:solidFill>
                <a:srgbClr val="EB666E"/>
              </a:solidFill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1045269" y="4597411"/>
            <a:ext cx="7088957" cy="559806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</a:rPr>
              <a:t>Summer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</a:rPr>
              <a:t>?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07706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179512" y="144016"/>
            <a:ext cx="8820472" cy="6525344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" name="직선 연결선 3"/>
          <p:cNvCxnSpPr/>
          <p:nvPr/>
        </p:nvCxnSpPr>
        <p:spPr>
          <a:xfrm>
            <a:off x="2819400" y="3634895"/>
            <a:ext cx="3494314" cy="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/>
          <p:cNvSpPr/>
          <p:nvPr/>
        </p:nvSpPr>
        <p:spPr>
          <a:xfrm>
            <a:off x="1" y="3076950"/>
            <a:ext cx="9144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28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 </a:t>
            </a:r>
            <a:r>
              <a:rPr lang="en-US" altLang="ko-KR" sz="28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08 </a:t>
            </a:r>
            <a:r>
              <a:rPr lang="ko-KR" altLang="en-US" sz="26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선택 정렬</a:t>
            </a:r>
          </a:p>
        </p:txBody>
      </p:sp>
    </p:spTree>
    <p:extLst>
      <p:ext uri="{BB962C8B-B14F-4D97-AF65-F5344CB8AC3E}">
        <p14:creationId xmlns:p14="http://schemas.microsoft.com/office/powerpoint/2010/main" val="37657644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08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선택 정렬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0</a:t>
            </a:r>
            <a:endParaRPr lang="ko-KR" altLang="en-US" sz="24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647057" y="1821131"/>
            <a:ext cx="7920872" cy="4205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65000"/>
              </a:lnSpc>
              <a:buClr>
                <a:srgbClr val="EB666E"/>
              </a:buClr>
            </a:pPr>
            <a:r>
              <a:rPr lang="ko-KR" altLang="en-US" b="1" dirty="0">
                <a:latin typeface="+mn-ea"/>
              </a:rPr>
              <a:t>주어진 리스트 안의 자료를 작은 수부터 큰 수 순서로 배열하는 정렬 </a:t>
            </a:r>
            <a:br>
              <a:rPr lang="en-US" altLang="ko-KR" b="1" dirty="0">
                <a:latin typeface="+mn-ea"/>
              </a:rPr>
            </a:br>
            <a:r>
              <a:rPr lang="ko-KR" altLang="en-US" b="1" dirty="0">
                <a:latin typeface="+mn-ea"/>
              </a:rPr>
              <a:t>알고리즘을 만들어 보세요</a:t>
            </a:r>
            <a:r>
              <a:rPr lang="en-US" altLang="ko-KR" b="1" dirty="0">
                <a:latin typeface="+mn-ea"/>
              </a:rPr>
              <a:t>.</a:t>
            </a:r>
          </a:p>
          <a:p>
            <a:pPr>
              <a:lnSpc>
                <a:spcPct val="165000"/>
              </a:lnSpc>
              <a:buClr>
                <a:srgbClr val="EB666E"/>
              </a:buClr>
            </a:pP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정렬</a:t>
            </a:r>
            <a:r>
              <a:rPr lang="en-US" altLang="ko-KR" dirty="0">
                <a:latin typeface="+mn-ea"/>
              </a:rPr>
              <a:t>(sort): </a:t>
            </a:r>
            <a:r>
              <a:rPr lang="ko-KR" altLang="en-US" dirty="0"/>
              <a:t>자료를 크기 순서대로 맞춰 일렬로 나열하는 것</a:t>
            </a:r>
            <a:endParaRPr lang="en-US" altLang="ko-KR" dirty="0"/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endParaRPr lang="en-US" altLang="ko-KR" sz="1200" dirty="0">
              <a:latin typeface="+mn-ea"/>
            </a:endParaRPr>
          </a:p>
          <a:p>
            <a:pPr>
              <a:lnSpc>
                <a:spcPct val="165000"/>
              </a:lnSpc>
              <a:buClr>
                <a:srgbClr val="EB666E"/>
              </a:buClr>
            </a:pPr>
            <a:r>
              <a:rPr lang="ko-KR" altLang="en-US" dirty="0">
                <a:solidFill>
                  <a:srgbClr val="EB666E"/>
                </a:solidFill>
              </a:rPr>
              <a:t>리스트에 들어 있는 숫자를 크기 순으로 나열하는 정렬 알고리즘의 입출력</a:t>
            </a:r>
            <a:endParaRPr lang="en-US" altLang="ko-KR" dirty="0">
              <a:solidFill>
                <a:srgbClr val="EB666E"/>
              </a:solidFill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/>
              <a:t>문제</a:t>
            </a:r>
            <a:r>
              <a:rPr lang="en-US" altLang="ko-KR" dirty="0"/>
              <a:t>: </a:t>
            </a:r>
            <a:r>
              <a:rPr lang="ko-KR" altLang="en-US" dirty="0"/>
              <a:t>리스트 안에 있는 자료를 순서대로 배열하기</a:t>
            </a:r>
            <a:endParaRPr lang="en-US" altLang="ko-KR" dirty="0"/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/>
              <a:t>입력</a:t>
            </a:r>
            <a:r>
              <a:rPr lang="en-US" altLang="ko-KR" dirty="0"/>
              <a:t>: </a:t>
            </a:r>
            <a:r>
              <a:rPr lang="ko-KR" altLang="en-US" dirty="0"/>
              <a:t>정렬할 리스트</a:t>
            </a:r>
            <a:r>
              <a:rPr lang="en-US" altLang="ko-KR" dirty="0"/>
              <a:t>(</a:t>
            </a:r>
            <a:r>
              <a:rPr lang="ko-KR" altLang="en-US" dirty="0"/>
              <a:t>예</a:t>
            </a:r>
            <a:r>
              <a:rPr lang="en-US" altLang="ko-KR" dirty="0"/>
              <a:t>: [35, 9, 2, 85, 17])</a:t>
            </a: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/>
              <a:t>출력</a:t>
            </a:r>
            <a:r>
              <a:rPr lang="en-US" altLang="ko-KR" dirty="0"/>
              <a:t>: </a:t>
            </a:r>
            <a:r>
              <a:rPr lang="ko-KR" altLang="en-US" dirty="0"/>
              <a:t>순서대로 정렬된 리스트</a:t>
            </a:r>
            <a:r>
              <a:rPr lang="en-US" altLang="ko-KR" dirty="0"/>
              <a:t>(</a:t>
            </a:r>
            <a:r>
              <a:rPr lang="ko-KR" altLang="en-US" dirty="0"/>
              <a:t>예</a:t>
            </a:r>
            <a:r>
              <a:rPr lang="en-US" altLang="ko-KR" dirty="0"/>
              <a:t>: [2, 9, 17, 35, 85])</a:t>
            </a:r>
            <a:endParaRPr lang="en-US" altLang="ko-KR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111213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08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선택 정렬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2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쉽게 설명한 선택 정렬 알고리즘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7297" y="1948942"/>
            <a:ext cx="4505240" cy="4338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1732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08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선택 정렬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2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쉽게 설명한 선택 정렬 알고리즘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056" y="1821131"/>
            <a:ext cx="8020383" cy="549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/>
              <a:t>입력으로 주어진 리스트 </a:t>
            </a:r>
            <a:r>
              <a:rPr lang="en-US" altLang="ko-KR" dirty="0"/>
              <a:t>[2, 4, 5, 1, 3]</a:t>
            </a:r>
            <a:r>
              <a:rPr lang="ko-KR" altLang="en-US" dirty="0"/>
              <a:t>을 정렬하는 과정</a:t>
            </a:r>
            <a:endParaRPr lang="en-US" altLang="ko-KR" dirty="0">
              <a:latin typeface="+mn-ea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7297" y="2623757"/>
            <a:ext cx="4843463" cy="3144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9169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08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선택 정렬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1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선택 정렬로 줄 세우기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056" y="1821131"/>
            <a:ext cx="8020383" cy="493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/>
              <a:t>운동장에 모인 학생을 키 순서에 맞춰 일렬로 줄 세우는 방법</a:t>
            </a:r>
            <a:endParaRPr lang="en-US" altLang="ko-KR" dirty="0">
              <a:latin typeface="+mn-ea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7056" y="2631836"/>
            <a:ext cx="8020383" cy="36847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65000"/>
              </a:lnSpc>
              <a:buClr>
                <a:srgbClr val="EB666E"/>
              </a:buClr>
              <a:buFont typeface="+mj-lt"/>
              <a:buAutoNum type="arabicParenR"/>
            </a:pPr>
            <a:r>
              <a:rPr lang="ko-KR" altLang="en-US" dirty="0">
                <a:latin typeface="+mn-ea"/>
              </a:rPr>
              <a:t>학생 열 명이 모여 있는 운동장에 선생님이 등장</a:t>
            </a:r>
          </a:p>
          <a:p>
            <a:pPr marL="342900" indent="-342900">
              <a:lnSpc>
                <a:spcPct val="165000"/>
              </a:lnSpc>
              <a:buClr>
                <a:srgbClr val="EB666E"/>
              </a:buClr>
              <a:buFont typeface="+mj-lt"/>
              <a:buAutoNum type="arabicParenR"/>
            </a:pPr>
            <a:r>
              <a:rPr lang="ko-KR" altLang="en-US" dirty="0">
                <a:latin typeface="+mn-ea"/>
              </a:rPr>
              <a:t>선생님은 학생들을 둘러보며 키가 가장 작은 사람을 찾음</a:t>
            </a:r>
            <a:r>
              <a:rPr lang="en-US" altLang="ko-KR" dirty="0">
                <a:latin typeface="+mn-ea"/>
              </a:rPr>
              <a:t>. </a:t>
            </a:r>
            <a:r>
              <a:rPr lang="ko-KR" altLang="en-US" dirty="0">
                <a:latin typeface="+mn-ea"/>
              </a:rPr>
              <a:t>키가 가장 작은 학생으로 ‘</a:t>
            </a:r>
            <a:r>
              <a:rPr lang="ko-KR" altLang="en-US" dirty="0" err="1">
                <a:latin typeface="+mn-ea"/>
              </a:rPr>
              <a:t>선택’된</a:t>
            </a:r>
            <a:r>
              <a:rPr lang="ko-KR" altLang="en-US" dirty="0">
                <a:latin typeface="+mn-ea"/>
              </a:rPr>
              <a:t> 민준이가 불려 나와 맨 앞에 섬</a:t>
            </a:r>
            <a:r>
              <a:rPr lang="en-US" altLang="ko-KR" dirty="0">
                <a:latin typeface="+mn-ea"/>
              </a:rPr>
              <a:t>. </a:t>
            </a:r>
            <a:r>
              <a:rPr lang="ko-KR" altLang="en-US" dirty="0">
                <a:latin typeface="+mn-ea"/>
              </a:rPr>
              <a:t>민준이가 나갔으므로 이제 학생은 아홉 명 남았음</a:t>
            </a:r>
            <a:endParaRPr lang="en-US" altLang="ko-KR" dirty="0">
              <a:latin typeface="+mn-ea"/>
            </a:endParaRPr>
          </a:p>
          <a:p>
            <a:pPr marL="342900" indent="-342900">
              <a:lnSpc>
                <a:spcPct val="165000"/>
              </a:lnSpc>
              <a:buClr>
                <a:srgbClr val="EB666E"/>
              </a:buClr>
              <a:buFont typeface="+mj-lt"/>
              <a:buAutoNum type="arabicParenR"/>
            </a:pPr>
            <a:r>
              <a:rPr lang="ko-KR" altLang="en-US" dirty="0">
                <a:latin typeface="+mn-ea"/>
              </a:rPr>
              <a:t>이번에는 선생님이 학생 아홉 명 중 키가 가장 작은 </a:t>
            </a:r>
            <a:r>
              <a:rPr lang="ko-KR" altLang="en-US" dirty="0" err="1">
                <a:latin typeface="+mn-ea"/>
              </a:rPr>
              <a:t>성진이를</a:t>
            </a:r>
            <a:r>
              <a:rPr lang="ko-KR" altLang="en-US" dirty="0">
                <a:latin typeface="+mn-ea"/>
              </a:rPr>
              <a:t> 선택</a:t>
            </a:r>
            <a:r>
              <a:rPr lang="en-US" altLang="ko-KR" dirty="0">
                <a:latin typeface="+mn-ea"/>
              </a:rPr>
              <a:t>. </a:t>
            </a:r>
            <a:br>
              <a:rPr lang="en-US" altLang="ko-KR" dirty="0">
                <a:latin typeface="+mn-ea"/>
              </a:rPr>
            </a:br>
            <a:r>
              <a:rPr lang="ko-KR" altLang="en-US" dirty="0">
                <a:latin typeface="+mn-ea"/>
              </a:rPr>
              <a:t>선택된 </a:t>
            </a:r>
            <a:r>
              <a:rPr lang="ko-KR" altLang="en-US" dirty="0" err="1">
                <a:latin typeface="+mn-ea"/>
              </a:rPr>
              <a:t>성진이가</a:t>
            </a:r>
            <a:r>
              <a:rPr lang="ko-KR" altLang="en-US" dirty="0">
                <a:latin typeface="+mn-ea"/>
              </a:rPr>
              <a:t> 불려 나와 민준이 뒤로 줄을 섬</a:t>
            </a:r>
            <a:endParaRPr lang="en-US" altLang="ko-KR" dirty="0">
              <a:latin typeface="+mn-ea"/>
            </a:endParaRPr>
          </a:p>
          <a:p>
            <a:pPr marL="342900" indent="-342900">
              <a:lnSpc>
                <a:spcPct val="165000"/>
              </a:lnSpc>
              <a:buClr>
                <a:srgbClr val="EB666E"/>
              </a:buClr>
              <a:buFont typeface="+mj-lt"/>
              <a:buAutoNum type="arabicParenR"/>
            </a:pPr>
            <a:r>
              <a:rPr lang="ko-KR" altLang="en-US" dirty="0">
                <a:latin typeface="+mn-ea"/>
              </a:rPr>
              <a:t>이처럼 남아 있는 학생 중에서 키가 가장 작은 학생을 한 명씩 뽑아 줄에 세우는 과정을 반복하면 모든 학생이 키 순서에 맞춰 줄을 서게 됨</a:t>
            </a:r>
          </a:p>
        </p:txBody>
      </p:sp>
    </p:spTree>
    <p:extLst>
      <p:ext uri="{BB962C8B-B14F-4D97-AF65-F5344CB8AC3E}">
        <p14:creationId xmlns:p14="http://schemas.microsoft.com/office/powerpoint/2010/main" val="10302537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08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선택 정렬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1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선택 정렬로 줄 세우기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260" y="1884425"/>
            <a:ext cx="7038975" cy="1466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7056" y="3914365"/>
            <a:ext cx="8020383" cy="22252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en-US" altLang="ko-KR" dirty="0"/>
              <a:t>‘</a:t>
            </a:r>
            <a:r>
              <a:rPr lang="ko-KR" altLang="en-US" dirty="0"/>
              <a:t>키 순서로 줄 세우기</a:t>
            </a:r>
            <a:r>
              <a:rPr lang="en-US" altLang="ko-KR" dirty="0"/>
              <a:t>’</a:t>
            </a:r>
            <a:r>
              <a:rPr lang="ko-KR" altLang="en-US" dirty="0"/>
              <a:t>는 대표적인 정렬 문제의 예</a:t>
            </a:r>
            <a:br>
              <a:rPr lang="en-US" altLang="ko-KR" dirty="0"/>
            </a:br>
            <a:r>
              <a:rPr lang="ko-KR" altLang="en-US" dirty="0"/>
              <a:t>→ ‘학생의 키라는 자료 값을 작은 것부터 큰 순서로 나열하라’</a:t>
            </a:r>
            <a:endParaRPr lang="en-US" altLang="ko-KR" dirty="0"/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endParaRPr lang="en-US" altLang="ko-KR" sz="1200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/>
              <a:t>쉽게 설명한 정렬 알고리즘</a:t>
            </a:r>
            <a:r>
              <a:rPr lang="en-US" altLang="ko-KR" dirty="0"/>
              <a:t>: </a:t>
            </a:r>
            <a:r>
              <a:rPr lang="ko-KR" altLang="en-US" dirty="0"/>
              <a:t>정렬 원리를 이해하기 위한 참고용 프로그램</a:t>
            </a:r>
            <a:endParaRPr lang="en-US" altLang="ko-KR" dirty="0"/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/>
              <a:t>일반적인 정렬 알고리즘</a:t>
            </a:r>
            <a:r>
              <a:rPr lang="en-US" altLang="ko-KR" dirty="0"/>
              <a:t>: </a:t>
            </a:r>
            <a:r>
              <a:rPr lang="ko-KR" altLang="en-US" dirty="0"/>
              <a:t>정렬 알고리즘을 정식으로 구현한 프로그램</a:t>
            </a:r>
            <a:endParaRPr lang="en-US" altLang="ko-KR" dirty="0">
              <a:latin typeface="+mn-ea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0" y="3351275"/>
            <a:ext cx="9144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2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그림 </a:t>
            </a:r>
            <a:r>
              <a:rPr lang="en-US" altLang="ko-KR" sz="12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8-1</a:t>
            </a:r>
            <a:r>
              <a:rPr lang="en-US" altLang="ko-KR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</a:t>
            </a:r>
            <a:r>
              <a:rPr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선택 정렬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7513988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08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선택 정렬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2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쉽게 설명한 선택 정렬 알고리즘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057" y="1821131"/>
            <a:ext cx="7920872" cy="549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solidFill>
                  <a:srgbClr val="EB666E"/>
                </a:solidFill>
                <a:latin typeface="+mn-ea"/>
              </a:rPr>
              <a:t>프로그램 </a:t>
            </a:r>
            <a:r>
              <a:rPr lang="en-US" altLang="ko-KR" dirty="0">
                <a:solidFill>
                  <a:srgbClr val="EB666E"/>
                </a:solidFill>
                <a:latin typeface="+mn-ea"/>
              </a:rPr>
              <a:t>8-1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쉽게 설명한 선택 정렬 알고리즘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1045269" y="2917455"/>
            <a:ext cx="7088957" cy="3126729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쉽게 설명한 선택 정렬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입력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: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리스트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a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출력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: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정렬된 새 리스트</a:t>
            </a:r>
          </a:p>
          <a:p>
            <a:pPr>
              <a:lnSpc>
                <a:spcPct val="120000"/>
              </a:lnSpc>
            </a:pPr>
            <a:endParaRPr lang="ko-KR" altLang="en-US" sz="1400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주어진 리스트에서 최솟값의 위치를 돌려주는 함수</a:t>
            </a:r>
          </a:p>
          <a:p>
            <a:pPr>
              <a:lnSpc>
                <a:spcPct val="120000"/>
              </a:lnSpc>
            </a:pPr>
            <a:r>
              <a:rPr lang="en-US" altLang="ko-KR" sz="1400" dirty="0" err="1">
                <a:solidFill>
                  <a:srgbClr val="FF822D"/>
                </a:solidFill>
                <a:latin typeface="+mn-ea"/>
              </a:rPr>
              <a:t>def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 err="1">
                <a:solidFill>
                  <a:srgbClr val="0070C0"/>
                </a:solidFill>
                <a:latin typeface="+mn-ea"/>
              </a:rPr>
              <a:t>find_min_idx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(a):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n = </a:t>
            </a:r>
            <a:r>
              <a:rPr lang="en-US" altLang="ko-KR" sz="1400" dirty="0" err="1">
                <a:solidFill>
                  <a:srgbClr val="0070C0"/>
                </a:solidFill>
                <a:latin typeface="+mn-ea"/>
              </a:rPr>
              <a:t>len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(a)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min_idx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= 0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for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i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in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>
                <a:solidFill>
                  <a:srgbClr val="0070C0"/>
                </a:solidFill>
                <a:latin typeface="+mn-ea"/>
              </a:rPr>
              <a:t>range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(1, n):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   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if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a[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i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] &lt; a[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min_idx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]: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       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min_idx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=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i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return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min_idx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51001" y="2609681"/>
            <a:ext cx="31265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EB666E"/>
                </a:solidFill>
                <a:latin typeface="+mn-ea"/>
              </a:rPr>
              <a:t>▼</a:t>
            </a:r>
            <a:r>
              <a:rPr lang="ko-KR" altLang="en-US" sz="1400" dirty="0">
                <a:latin typeface="+mn-ea"/>
              </a:rPr>
              <a:t> </a:t>
            </a:r>
            <a:r>
              <a:rPr lang="ko-KR" altLang="en-US" sz="1400" dirty="0">
                <a:solidFill>
                  <a:srgbClr val="EB666E"/>
                </a:solidFill>
                <a:latin typeface="+mn-ea"/>
              </a:rPr>
              <a:t>예제 소스 </a:t>
            </a:r>
            <a:r>
              <a:rPr lang="en-US" altLang="ko-KR" sz="1400" dirty="0">
                <a:latin typeface="+mn-ea"/>
              </a:rPr>
              <a:t>p08-1-ssort.py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4" name="아래쪽 화살표 13"/>
          <p:cNvSpPr/>
          <p:nvPr/>
        </p:nvSpPr>
        <p:spPr>
          <a:xfrm>
            <a:off x="4502546" y="6153995"/>
            <a:ext cx="174402" cy="197963"/>
          </a:xfrm>
          <a:prstGeom prst="downArrow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18541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08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선택 정렬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2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쉽게 설명한 선택 정렬 알고리즘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1045269" y="2144243"/>
            <a:ext cx="7088957" cy="2652585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</a:pPr>
            <a:r>
              <a:rPr lang="en-US" altLang="ko-KR" sz="1400" dirty="0" err="1">
                <a:solidFill>
                  <a:srgbClr val="FF822D"/>
                </a:solidFill>
                <a:latin typeface="+mn-ea"/>
              </a:rPr>
              <a:t>def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 err="1">
                <a:solidFill>
                  <a:srgbClr val="0070C0"/>
                </a:solidFill>
                <a:latin typeface="+mn-ea"/>
              </a:rPr>
              <a:t>sel_sort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(a):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result = []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새 리스트를 만들어 정렬된 값을 저장</a:t>
            </a:r>
          </a:p>
          <a:p>
            <a:pPr>
              <a:lnSpc>
                <a:spcPct val="120000"/>
              </a:lnSpc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while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a:   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주어진 리스트에 값이 남아있는 동안 계속</a:t>
            </a:r>
          </a:p>
          <a:p>
            <a:pPr>
              <a:lnSpc>
                <a:spcPct val="120000"/>
              </a:lnSpc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      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min_idx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=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find_min_idx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(a)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리스트에 남아 있는 값 중 최솟값의 위치</a:t>
            </a:r>
          </a:p>
          <a:p>
            <a:pPr>
              <a:lnSpc>
                <a:spcPct val="120000"/>
              </a:lnSpc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       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value =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a.pop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min_idx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)  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찾은 최솟값을 빼내어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value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에 저장</a:t>
            </a:r>
          </a:p>
          <a:p>
            <a:pPr>
              <a:lnSpc>
                <a:spcPct val="120000"/>
              </a:lnSpc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      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result.append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(value)   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value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를 결과 리스트 끝에 추가</a:t>
            </a:r>
          </a:p>
          <a:p>
            <a:pPr>
              <a:lnSpc>
                <a:spcPct val="120000"/>
              </a:lnSpc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return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result</a:t>
            </a:r>
          </a:p>
          <a:p>
            <a:pPr>
              <a:lnSpc>
                <a:spcPct val="120000"/>
              </a:lnSpc>
            </a:pP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d = [2, 4, 5, 1, 3]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rgbClr val="0070C0"/>
                </a:solidFill>
                <a:latin typeface="+mn-ea"/>
              </a:rPr>
              <a:t>print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sel_sort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(d))</a:t>
            </a:r>
          </a:p>
        </p:txBody>
      </p:sp>
      <p:sp>
        <p:nvSpPr>
          <p:cNvPr id="9" name="아래쪽 화살표 8"/>
          <p:cNvSpPr/>
          <p:nvPr/>
        </p:nvSpPr>
        <p:spPr>
          <a:xfrm rot="10800000">
            <a:off x="4502546" y="1874273"/>
            <a:ext cx="174402" cy="197963"/>
          </a:xfrm>
          <a:prstGeom prst="downArrow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5" name="TextBox 13"/>
          <p:cNvSpPr txBox="1"/>
          <p:nvPr/>
        </p:nvSpPr>
        <p:spPr>
          <a:xfrm>
            <a:off x="561809" y="5042842"/>
            <a:ext cx="8020383" cy="485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solidFill>
                  <a:srgbClr val="EB666E"/>
                </a:solidFill>
                <a:latin typeface="+mn-ea"/>
              </a:rPr>
              <a:t>실행 결과</a:t>
            </a:r>
            <a:endParaRPr lang="en-US" altLang="ko-KR" dirty="0">
              <a:solidFill>
                <a:srgbClr val="EB666E"/>
              </a:solidFill>
              <a:latin typeface="+mn-ea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960022" y="5757523"/>
            <a:ext cx="7088957" cy="3699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</a:rPr>
              <a:t>[1, 2, 3, 4, 5]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11534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08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선택 정렬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2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쉽게 설명한 선택 정렬 알고리즘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056" y="1821131"/>
            <a:ext cx="8020383" cy="493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/>
              <a:t>프로그램을 차근히 읽어 보면 앞에서 설명한 줄 서기 원리가 잘 녹아 있음</a:t>
            </a:r>
            <a:endParaRPr lang="en-US" altLang="ko-KR" dirty="0">
              <a:latin typeface="+mn-ea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7056" y="2631836"/>
            <a:ext cx="8020383" cy="23775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65000"/>
              </a:lnSpc>
              <a:buClr>
                <a:srgbClr val="EB666E"/>
              </a:buClr>
              <a:buFont typeface="+mj-lt"/>
              <a:buAutoNum type="arabicParenR"/>
            </a:pPr>
            <a:r>
              <a:rPr lang="ko-KR" altLang="en-US" dirty="0"/>
              <a:t>리스트 </a:t>
            </a:r>
            <a:r>
              <a:rPr lang="en-US" altLang="ko-KR" dirty="0"/>
              <a:t>a</a:t>
            </a:r>
            <a:r>
              <a:rPr lang="ko-KR" altLang="en-US" dirty="0"/>
              <a:t>에 아직 자료가 남아 있다면 → </a:t>
            </a:r>
            <a:r>
              <a:rPr lang="en-US" altLang="ko-KR" dirty="0"/>
              <a:t>while a:</a:t>
            </a:r>
          </a:p>
          <a:p>
            <a:pPr marL="342900" indent="-342900">
              <a:lnSpc>
                <a:spcPct val="165000"/>
              </a:lnSpc>
              <a:buClr>
                <a:srgbClr val="EB666E"/>
              </a:buClr>
              <a:buFont typeface="+mj-lt"/>
              <a:buAutoNum type="arabicParenR"/>
            </a:pPr>
            <a:r>
              <a:rPr lang="ko-KR" altLang="en-US" dirty="0"/>
              <a:t>남은 자료 중에서 최솟값의 위치를 찾음 </a:t>
            </a:r>
            <a:r>
              <a:rPr lang="en-US" altLang="ko-KR" dirty="0"/>
              <a:t>→ </a:t>
            </a:r>
            <a:r>
              <a:rPr lang="en-US" altLang="ko-KR" dirty="0" err="1"/>
              <a:t>min_idx</a:t>
            </a:r>
            <a:r>
              <a:rPr lang="en-US" altLang="ko-KR" dirty="0"/>
              <a:t> = </a:t>
            </a:r>
            <a:r>
              <a:rPr lang="en-US" altLang="ko-KR" dirty="0" err="1"/>
              <a:t>find_min_idx</a:t>
            </a:r>
            <a:r>
              <a:rPr lang="en-US" altLang="ko-KR" dirty="0"/>
              <a:t>(a)</a:t>
            </a:r>
          </a:p>
          <a:p>
            <a:pPr marL="342900" indent="-342900">
              <a:lnSpc>
                <a:spcPct val="165000"/>
              </a:lnSpc>
              <a:buClr>
                <a:srgbClr val="EB666E"/>
              </a:buClr>
              <a:buFont typeface="+mj-lt"/>
              <a:buAutoNum type="arabicParenR"/>
            </a:pPr>
            <a:r>
              <a:rPr lang="ko-KR" altLang="en-US" dirty="0"/>
              <a:t>찾은 최솟값을 리스트 </a:t>
            </a:r>
            <a:r>
              <a:rPr lang="en-US" altLang="ko-KR" dirty="0"/>
              <a:t>a</a:t>
            </a:r>
            <a:r>
              <a:rPr lang="ko-KR" altLang="en-US" dirty="0"/>
              <a:t>에서 빼내어 </a:t>
            </a:r>
            <a:r>
              <a:rPr lang="en-US" altLang="ko-KR" dirty="0"/>
              <a:t>value</a:t>
            </a:r>
            <a:r>
              <a:rPr lang="ko-KR" altLang="en-US" dirty="0"/>
              <a:t>에 저장 </a:t>
            </a:r>
            <a:r>
              <a:rPr lang="en-US" altLang="ko-KR" dirty="0"/>
              <a:t>→ value = </a:t>
            </a:r>
            <a:r>
              <a:rPr lang="en-US" altLang="ko-KR" dirty="0" err="1"/>
              <a:t>a.pop</a:t>
            </a:r>
            <a:r>
              <a:rPr lang="en-US" altLang="ko-KR" dirty="0"/>
              <a:t>(</a:t>
            </a:r>
            <a:r>
              <a:rPr lang="en-US" altLang="ko-KR" dirty="0" err="1"/>
              <a:t>min_idx</a:t>
            </a:r>
            <a:r>
              <a:rPr lang="en-US" altLang="ko-KR" dirty="0"/>
              <a:t>)</a:t>
            </a:r>
          </a:p>
          <a:p>
            <a:pPr marL="342900" indent="-342900">
              <a:lnSpc>
                <a:spcPct val="165000"/>
              </a:lnSpc>
              <a:buClr>
                <a:srgbClr val="EB666E"/>
              </a:buClr>
              <a:buFont typeface="+mj-lt"/>
              <a:buAutoNum type="arabicParenR"/>
            </a:pPr>
            <a:r>
              <a:rPr lang="en-US" altLang="ko-KR" dirty="0"/>
              <a:t>Value</a:t>
            </a:r>
            <a:r>
              <a:rPr lang="ko-KR" altLang="en-US" dirty="0"/>
              <a:t>를 </a:t>
            </a:r>
            <a:r>
              <a:rPr lang="en-US" altLang="ko-KR" dirty="0"/>
              <a:t>result </a:t>
            </a:r>
            <a:r>
              <a:rPr lang="ko-KR" altLang="en-US" dirty="0"/>
              <a:t>리스트의 맨 끝에 추가</a:t>
            </a:r>
            <a:r>
              <a:rPr lang="en-US" altLang="ko-KR" dirty="0"/>
              <a:t> → </a:t>
            </a:r>
            <a:r>
              <a:rPr lang="en-US" altLang="ko-KR" dirty="0" err="1"/>
              <a:t>result.append</a:t>
            </a:r>
            <a:r>
              <a:rPr lang="en-US" altLang="ko-KR" dirty="0"/>
              <a:t>(value)</a:t>
            </a:r>
          </a:p>
          <a:p>
            <a:pPr marL="342900" indent="-342900">
              <a:lnSpc>
                <a:spcPct val="165000"/>
              </a:lnSpc>
              <a:buClr>
                <a:srgbClr val="EB666E"/>
              </a:buClr>
              <a:buFont typeface="+mj-lt"/>
              <a:buAutoNum type="arabicParenR"/>
            </a:pPr>
            <a:r>
              <a:rPr lang="en-US" altLang="ko-KR" dirty="0"/>
              <a:t>1</a:t>
            </a:r>
            <a:r>
              <a:rPr lang="ko-KR" altLang="en-US" dirty="0"/>
              <a:t>번 과정으로 돌아가 자료가 없을 때까지 반복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6986592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08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선택 정렬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3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일반적인 선택 정렬 알고리즘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056" y="1821131"/>
            <a:ext cx="8020383" cy="1920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/>
              <a:t>‘일반적인 선택 정렬 </a:t>
            </a:r>
            <a:r>
              <a:rPr lang="ko-KR" altLang="en-US" dirty="0" err="1"/>
              <a:t>알고리즘’은</a:t>
            </a:r>
            <a:r>
              <a:rPr lang="ko-KR" altLang="en-US" dirty="0"/>
              <a:t> 입력으로 주어진 리스트 </a:t>
            </a:r>
            <a:r>
              <a:rPr lang="en-US" altLang="ko-KR" dirty="0"/>
              <a:t>a </a:t>
            </a:r>
            <a:r>
              <a:rPr lang="ko-KR" altLang="en-US" dirty="0"/>
              <a:t>안에서 직접 </a:t>
            </a:r>
            <a:br>
              <a:rPr lang="en-US" altLang="ko-KR" dirty="0"/>
            </a:br>
            <a:r>
              <a:rPr lang="ko-KR" altLang="en-US" dirty="0"/>
              <a:t>자료의 위치를 바꾸면서 정렬시키는 프로그램</a:t>
            </a:r>
            <a:endParaRPr lang="en-US" altLang="ko-KR" dirty="0"/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/>
              <a:t>리스트 </a:t>
            </a:r>
            <a:r>
              <a:rPr lang="en-US" altLang="ko-KR" dirty="0"/>
              <a:t>a</a:t>
            </a:r>
            <a:r>
              <a:rPr lang="ko-KR" altLang="en-US" dirty="0"/>
              <a:t>에서 자료를 하나씩 빼낸 후 다시 </a:t>
            </a:r>
            <a:r>
              <a:rPr lang="en-US" altLang="ko-KR" dirty="0"/>
              <a:t>result</a:t>
            </a:r>
            <a:r>
              <a:rPr lang="ko-KR" altLang="en-US" dirty="0"/>
              <a:t>에 넣는 방식인 ‘쉽게 설명한 선택 정렬 </a:t>
            </a:r>
            <a:r>
              <a:rPr lang="ko-KR" altLang="en-US" dirty="0" err="1"/>
              <a:t>알고리즘’보다</a:t>
            </a:r>
            <a:r>
              <a:rPr lang="ko-KR" altLang="en-US" dirty="0"/>
              <a:t> 더 효율적으로 정렬할 수 있음</a:t>
            </a:r>
            <a:endParaRPr lang="en-US" altLang="ko-KR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610452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08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선택 정렬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3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일반적인 선택 정렬 알고리즘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057" y="1821131"/>
            <a:ext cx="7920872" cy="549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solidFill>
                  <a:srgbClr val="EB666E"/>
                </a:solidFill>
                <a:latin typeface="+mn-ea"/>
              </a:rPr>
              <a:t>프로그램 </a:t>
            </a:r>
            <a:r>
              <a:rPr lang="en-US" altLang="ko-KR" dirty="0">
                <a:solidFill>
                  <a:srgbClr val="EB666E"/>
                </a:solidFill>
                <a:latin typeface="+mn-ea"/>
              </a:rPr>
              <a:t>8-2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일반적인 선택 정렬 알고리즘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1045269" y="2917455"/>
            <a:ext cx="7088957" cy="3126729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선택 정렬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입력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: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리스트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a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출력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: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없음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(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입력으로 주어진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a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가 정렬됨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)</a:t>
            </a:r>
          </a:p>
          <a:p>
            <a:pPr>
              <a:lnSpc>
                <a:spcPct val="120000"/>
              </a:lnSpc>
            </a:pPr>
            <a:endParaRPr lang="en-US" altLang="ko-KR" sz="1400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400" dirty="0" err="1">
                <a:solidFill>
                  <a:srgbClr val="FF822D"/>
                </a:solidFill>
                <a:latin typeface="+mn-ea"/>
              </a:rPr>
              <a:t>def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 err="1">
                <a:solidFill>
                  <a:srgbClr val="0070C0"/>
                </a:solidFill>
                <a:latin typeface="+mn-ea"/>
              </a:rPr>
              <a:t>sel_sort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(a):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n = </a:t>
            </a:r>
            <a:r>
              <a:rPr lang="en-US" altLang="ko-KR" sz="1400" dirty="0" err="1">
                <a:solidFill>
                  <a:srgbClr val="0070C0"/>
                </a:solidFill>
                <a:latin typeface="+mn-ea"/>
              </a:rPr>
              <a:t>len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(a)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for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i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in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>
                <a:solidFill>
                  <a:srgbClr val="0070C0"/>
                </a:solidFill>
                <a:latin typeface="+mn-ea"/>
              </a:rPr>
              <a:t>range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(0, n - 1):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0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부터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n-2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까지 반복</a:t>
            </a:r>
          </a:p>
          <a:p>
            <a:pPr>
              <a:lnSpc>
                <a:spcPct val="120000"/>
              </a:lnSpc>
            </a:pP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      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en-US" altLang="ko-KR" sz="1400" dirty="0" err="1">
                <a:solidFill>
                  <a:schemeClr val="accent2">
                    <a:lumMod val="50000"/>
                  </a:schemeClr>
                </a:solidFill>
                <a:latin typeface="+mn-ea"/>
              </a:rPr>
              <a:t>i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번 위치부터 끝까지 자료 값 중 최솟값의 위치를 찾음</a:t>
            </a:r>
          </a:p>
          <a:p>
            <a:pPr>
              <a:lnSpc>
                <a:spcPct val="120000"/>
              </a:lnSpc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      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min_idx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=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i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   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for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j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in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>
                <a:solidFill>
                  <a:srgbClr val="0070C0"/>
                </a:solidFill>
                <a:latin typeface="+mn-ea"/>
              </a:rPr>
              <a:t>range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i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+ 1, n):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       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if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a[j] &lt; a[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min_idx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]: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           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min_idx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= j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1001" y="2609681"/>
            <a:ext cx="31265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EB666E"/>
                </a:solidFill>
                <a:latin typeface="+mn-ea"/>
              </a:rPr>
              <a:t>▼</a:t>
            </a:r>
            <a:r>
              <a:rPr lang="ko-KR" altLang="en-US" sz="1400" dirty="0">
                <a:latin typeface="+mn-ea"/>
              </a:rPr>
              <a:t> </a:t>
            </a:r>
            <a:r>
              <a:rPr lang="ko-KR" altLang="en-US" sz="1400" dirty="0">
                <a:solidFill>
                  <a:srgbClr val="EB666E"/>
                </a:solidFill>
                <a:latin typeface="+mn-ea"/>
              </a:rPr>
              <a:t>예제 소스 </a:t>
            </a:r>
            <a:r>
              <a:rPr lang="en-US" altLang="ko-KR" sz="1400" dirty="0">
                <a:latin typeface="+mn-ea"/>
              </a:rPr>
              <a:t>p08-2-ssort.py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4" name="아래쪽 화살표 13"/>
          <p:cNvSpPr/>
          <p:nvPr/>
        </p:nvSpPr>
        <p:spPr>
          <a:xfrm>
            <a:off x="4502546" y="6153995"/>
            <a:ext cx="174402" cy="197963"/>
          </a:xfrm>
          <a:prstGeom prst="downArrow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01891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08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선택 정렬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3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일반적인 선택 정렬 알고리즘</a:t>
            </a:r>
          </a:p>
        </p:txBody>
      </p:sp>
      <p:sp>
        <p:nvSpPr>
          <p:cNvPr id="15" name="직사각형 14"/>
          <p:cNvSpPr/>
          <p:nvPr/>
        </p:nvSpPr>
        <p:spPr>
          <a:xfrm>
            <a:off x="960022" y="2232443"/>
            <a:ext cx="7088957" cy="1598893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      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찾은 최솟값을 </a:t>
            </a:r>
            <a:r>
              <a:rPr lang="en-US" altLang="ko-KR" sz="1400" dirty="0" err="1">
                <a:solidFill>
                  <a:schemeClr val="accent2">
                    <a:lumMod val="50000"/>
                  </a:schemeClr>
                </a:solidFill>
                <a:latin typeface="+mn-ea"/>
              </a:rPr>
              <a:t>i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번 위치로</a:t>
            </a:r>
          </a:p>
          <a:p>
            <a:pPr>
              <a:lnSpc>
                <a:spcPct val="120000"/>
              </a:lnSpc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       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a[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i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], a[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min_idx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] = a[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min_idx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], a[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i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]</a:t>
            </a:r>
          </a:p>
          <a:p>
            <a:pPr>
              <a:lnSpc>
                <a:spcPct val="120000"/>
              </a:lnSpc>
            </a:pP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d = [2, 4, 5, 1, 3]</a:t>
            </a:r>
          </a:p>
          <a:p>
            <a:pPr>
              <a:lnSpc>
                <a:spcPct val="120000"/>
              </a:lnSpc>
            </a:pP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sel_sort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(d)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rgbClr val="0070C0"/>
                </a:solidFill>
                <a:latin typeface="+mn-ea"/>
              </a:rPr>
              <a:t>print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(d)</a:t>
            </a:r>
          </a:p>
        </p:txBody>
      </p:sp>
      <p:sp>
        <p:nvSpPr>
          <p:cNvPr id="16" name="아래쪽 화살표 15"/>
          <p:cNvSpPr/>
          <p:nvPr/>
        </p:nvSpPr>
        <p:spPr>
          <a:xfrm rot="10800000">
            <a:off x="4417299" y="1844955"/>
            <a:ext cx="174402" cy="197963"/>
          </a:xfrm>
          <a:prstGeom prst="downArrow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7" name="TextBox 13"/>
          <p:cNvSpPr txBox="1"/>
          <p:nvPr/>
        </p:nvSpPr>
        <p:spPr>
          <a:xfrm>
            <a:off x="561809" y="4165550"/>
            <a:ext cx="8020383" cy="485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solidFill>
                  <a:srgbClr val="EB666E"/>
                </a:solidFill>
                <a:latin typeface="+mn-ea"/>
              </a:rPr>
              <a:t>실행 결과</a:t>
            </a:r>
            <a:endParaRPr lang="en-US" altLang="ko-KR" dirty="0">
              <a:solidFill>
                <a:srgbClr val="EB666E"/>
              </a:solidFill>
              <a:latin typeface="+mn-ea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960022" y="4880231"/>
            <a:ext cx="7088957" cy="377569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</a:rPr>
              <a:t>[1, 2, 3, 4, 5]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76621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08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선택 정렬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3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일반적인 선택 정렬 알고리즘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056" y="1821131"/>
            <a:ext cx="8020383" cy="25299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65000"/>
              </a:lnSpc>
              <a:buClr>
                <a:srgbClr val="EB666E"/>
              </a:buClr>
            </a:pPr>
            <a:r>
              <a:rPr lang="ko-KR" altLang="en-US" dirty="0" err="1">
                <a:solidFill>
                  <a:srgbClr val="EB666E"/>
                </a:solidFill>
              </a:rPr>
              <a:t>파이썬에서</a:t>
            </a:r>
            <a:r>
              <a:rPr lang="ko-KR" altLang="en-US" dirty="0">
                <a:solidFill>
                  <a:srgbClr val="EB666E"/>
                </a:solidFill>
              </a:rPr>
              <a:t> 두 자료 값 서로 바꾸기</a:t>
            </a:r>
            <a:endParaRPr lang="en-US" altLang="ko-KR" dirty="0">
              <a:solidFill>
                <a:srgbClr val="EB666E"/>
              </a:solidFill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/>
              <a:t>리스트 안에서 두 자료 값의 위치를 서로 바꾸는 데 다음과 같은 문장 사용</a:t>
            </a:r>
            <a:endParaRPr lang="en-US" altLang="ko-KR" dirty="0"/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endParaRPr lang="en-US" altLang="ko-KR" sz="1200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endParaRPr lang="en-US" altLang="ko-KR" sz="1200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 err="1"/>
              <a:t>파이썬에서</a:t>
            </a:r>
            <a:r>
              <a:rPr lang="ko-KR" altLang="en-US" dirty="0"/>
              <a:t> 두 변수의 값을 서로 바꾸려면 다음과 같이 쉼표를 이용해 </a:t>
            </a:r>
            <a:br>
              <a:rPr lang="en-US" altLang="ko-KR" dirty="0"/>
            </a:br>
            <a:r>
              <a:rPr lang="ko-KR" altLang="en-US" dirty="0"/>
              <a:t>변수를 뒤집어 표현</a:t>
            </a:r>
            <a:r>
              <a:rPr lang="en-US" altLang="ko-KR" dirty="0"/>
              <a:t> </a:t>
            </a:r>
            <a:r>
              <a:rPr lang="ko-KR" altLang="en-US" dirty="0"/>
              <a:t>→ </a:t>
            </a:r>
            <a:r>
              <a:rPr lang="en-US" altLang="ko-KR" dirty="0"/>
              <a:t>x, y = y, x</a:t>
            </a:r>
            <a:endParaRPr lang="en-US" altLang="ko-KR" dirty="0">
              <a:latin typeface="+mn-ea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960021" y="2897307"/>
            <a:ext cx="7088957" cy="377569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</a:rPr>
              <a:t>a[</a:t>
            </a:r>
            <a:r>
              <a:rPr lang="en-US" altLang="ko-KR" sz="1400" dirty="0" err="1">
                <a:solidFill>
                  <a:schemeClr val="tx1"/>
                </a:solidFill>
              </a:rPr>
              <a:t>i</a:t>
            </a:r>
            <a:r>
              <a:rPr lang="en-US" altLang="ko-KR" sz="1400" dirty="0">
                <a:solidFill>
                  <a:schemeClr val="tx1"/>
                </a:solidFill>
              </a:rPr>
              <a:t>], a[</a:t>
            </a:r>
            <a:r>
              <a:rPr lang="en-US" altLang="ko-KR" sz="1400" dirty="0" err="1">
                <a:solidFill>
                  <a:schemeClr val="tx1"/>
                </a:solidFill>
              </a:rPr>
              <a:t>min_idx</a:t>
            </a:r>
            <a:r>
              <a:rPr lang="en-US" altLang="ko-KR" sz="1400" dirty="0">
                <a:solidFill>
                  <a:schemeClr val="tx1"/>
                </a:solidFill>
              </a:rPr>
              <a:t>] = a[</a:t>
            </a:r>
            <a:r>
              <a:rPr lang="en-US" altLang="ko-KR" sz="1400" dirty="0" err="1">
                <a:solidFill>
                  <a:schemeClr val="tx1"/>
                </a:solidFill>
              </a:rPr>
              <a:t>min_idx</a:t>
            </a:r>
            <a:r>
              <a:rPr lang="en-US" altLang="ko-KR" sz="1400" dirty="0">
                <a:solidFill>
                  <a:schemeClr val="tx1"/>
                </a:solidFill>
              </a:rPr>
              <a:t>], a[</a:t>
            </a:r>
            <a:r>
              <a:rPr lang="en-US" altLang="ko-KR" sz="1400" dirty="0" err="1">
                <a:solidFill>
                  <a:schemeClr val="tx1"/>
                </a:solidFill>
              </a:rPr>
              <a:t>i</a:t>
            </a:r>
            <a:r>
              <a:rPr lang="en-US" altLang="ko-KR" sz="1400" dirty="0">
                <a:solidFill>
                  <a:schemeClr val="tx1"/>
                </a:solidFill>
              </a:rPr>
              <a:t>]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960022" y="4424819"/>
            <a:ext cx="7088957" cy="1920475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s-ES" altLang="ko-KR" sz="1400" dirty="0">
                <a:solidFill>
                  <a:schemeClr val="tx1"/>
                </a:solidFill>
              </a:rPr>
              <a:t>&gt;&gt;&gt; x = 1</a:t>
            </a:r>
          </a:p>
          <a:p>
            <a:pPr>
              <a:lnSpc>
                <a:spcPct val="120000"/>
              </a:lnSpc>
            </a:pPr>
            <a:r>
              <a:rPr lang="es-ES" altLang="ko-KR" sz="1400" dirty="0">
                <a:solidFill>
                  <a:schemeClr val="tx1"/>
                </a:solidFill>
              </a:rPr>
              <a:t>&gt;&gt;&gt; y = 2</a:t>
            </a:r>
          </a:p>
          <a:p>
            <a:pPr>
              <a:lnSpc>
                <a:spcPct val="120000"/>
              </a:lnSpc>
            </a:pPr>
            <a:r>
              <a:rPr lang="es-ES" altLang="ko-KR" sz="1400" dirty="0">
                <a:solidFill>
                  <a:schemeClr val="tx1"/>
                </a:solidFill>
              </a:rPr>
              <a:t>&gt;&gt;&gt; x, y = y, x</a:t>
            </a:r>
          </a:p>
          <a:p>
            <a:pPr>
              <a:lnSpc>
                <a:spcPct val="120000"/>
              </a:lnSpc>
            </a:pPr>
            <a:r>
              <a:rPr lang="es-ES" altLang="ko-KR" sz="1400" dirty="0">
                <a:solidFill>
                  <a:schemeClr val="tx1"/>
                </a:solidFill>
              </a:rPr>
              <a:t>&gt;&gt;&gt; x</a:t>
            </a:r>
          </a:p>
          <a:p>
            <a:pPr>
              <a:lnSpc>
                <a:spcPct val="120000"/>
              </a:lnSpc>
            </a:pPr>
            <a:r>
              <a:rPr lang="es-ES" altLang="ko-KR" sz="1400" dirty="0">
                <a:solidFill>
                  <a:schemeClr val="tx1"/>
                </a:solidFill>
              </a:rPr>
              <a:t>2</a:t>
            </a:r>
          </a:p>
          <a:p>
            <a:pPr>
              <a:lnSpc>
                <a:spcPct val="120000"/>
              </a:lnSpc>
            </a:pPr>
            <a:r>
              <a:rPr lang="es-ES" altLang="ko-KR" sz="1400" dirty="0">
                <a:solidFill>
                  <a:schemeClr val="tx1"/>
                </a:solidFill>
              </a:rPr>
              <a:t>&gt;&gt;&gt; y</a:t>
            </a:r>
          </a:p>
          <a:p>
            <a:pPr>
              <a:lnSpc>
                <a:spcPct val="120000"/>
              </a:lnSpc>
            </a:pPr>
            <a:r>
              <a:rPr lang="es-ES" altLang="ko-KR" sz="1400" dirty="0">
                <a:solidFill>
                  <a:schemeClr val="tx1"/>
                </a:solidFill>
              </a:rPr>
              <a:t>1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351453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08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선택 정렬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4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알고리즘 분석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056" y="1821131"/>
            <a:ext cx="8020383" cy="32916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/>
              <a:t>자료를 크기 순서로 정렬하려면 반드시 두 수의 크기를 비교해야 함</a:t>
            </a:r>
            <a:endParaRPr lang="en-US" altLang="ko-KR" dirty="0"/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/>
              <a:t>따라서 정렬 알고리즘의 계산 복잡도는 보통 비교 횟수를 기준으로 따짐</a:t>
            </a:r>
            <a:endParaRPr lang="en-US" altLang="ko-KR" dirty="0"/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/>
              <a:t>선택 정렬의 비교 방법은 문제 </a:t>
            </a:r>
            <a:r>
              <a:rPr lang="en-US" altLang="ko-KR" dirty="0"/>
              <a:t>3</a:t>
            </a:r>
            <a:r>
              <a:rPr lang="ko-KR" altLang="en-US" dirty="0"/>
              <a:t>의 동명이인 찾기에서 살펴본</a:t>
            </a:r>
            <a:r>
              <a:rPr lang="en-US" altLang="ko-KR" dirty="0"/>
              <a:t>, </a:t>
            </a:r>
            <a:r>
              <a:rPr lang="ko-KR" altLang="en-US" dirty="0"/>
              <a:t>리스트 안의 자료를 한 번씩 비교하는 방법과 거의 같음</a:t>
            </a:r>
            <a:endParaRPr lang="en-US" altLang="ko-KR" dirty="0"/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이 알고리즘은 비교를 총           번 해야 하며 계산 복잡도가 </a:t>
            </a:r>
            <a:r>
              <a:rPr lang="en-US" altLang="ko-KR" dirty="0">
                <a:latin typeface="+mn-ea"/>
              </a:rPr>
              <a:t>O(n</a:t>
            </a:r>
            <a:r>
              <a:rPr lang="en-US" altLang="ko-KR" baseline="30000" dirty="0">
                <a:latin typeface="+mn-ea"/>
              </a:rPr>
              <a:t>2</a:t>
            </a:r>
            <a:r>
              <a:rPr lang="en-US" altLang="ko-KR" dirty="0">
                <a:latin typeface="+mn-ea"/>
              </a:rPr>
              <a:t>)</a:t>
            </a: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/>
              <a:t>비교 횟수가 입력 크기의 제곱에 비례</a:t>
            </a:r>
            <a:endParaRPr lang="en-US" altLang="ko-KR" dirty="0"/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/>
              <a:t>입력 크기가 커지면 커질수록 정렬하는 데 시간이 굉장히 오래 걸림</a:t>
            </a:r>
            <a:endParaRPr lang="en-US" altLang="ko-KR" dirty="0">
              <a:latin typeface="+mn-ea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4453" y="3683375"/>
            <a:ext cx="801243" cy="457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5235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08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선택 정렬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연습 문제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056" y="1821131"/>
            <a:ext cx="811289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en-US" altLang="ko-KR" dirty="0">
                <a:solidFill>
                  <a:srgbClr val="EB666E"/>
                </a:solidFill>
                <a:latin typeface="+mn-ea"/>
              </a:rPr>
              <a:t>8-1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일반적인 선택 정렬 알고리즘을 사용해서 리스트 </a:t>
            </a:r>
            <a:r>
              <a:rPr lang="en-US" altLang="ko-KR" dirty="0">
                <a:latin typeface="+mn-ea"/>
              </a:rPr>
              <a:t>[2, 4, 5, 1, 3]</a:t>
            </a:r>
            <a:r>
              <a:rPr lang="ko-KR" altLang="en-US" dirty="0">
                <a:latin typeface="+mn-ea"/>
              </a:rPr>
              <a:t>을 </a:t>
            </a:r>
            <a:br>
              <a:rPr lang="en-US" altLang="ko-KR" dirty="0">
                <a:latin typeface="+mn-ea"/>
              </a:rPr>
            </a:br>
            <a:r>
              <a:rPr lang="ko-KR" altLang="en-US" dirty="0">
                <a:latin typeface="+mn-ea"/>
              </a:rPr>
              <a:t>정렬하는 과정을 적어 보세요</a:t>
            </a:r>
            <a:r>
              <a:rPr lang="en-US" altLang="ko-KR" dirty="0">
                <a:latin typeface="+mn-ea"/>
              </a:rPr>
              <a:t>.</a:t>
            </a: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endParaRPr lang="en-US" altLang="ko-KR" sz="1200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en-US" altLang="ko-KR" dirty="0">
                <a:solidFill>
                  <a:srgbClr val="EB666E"/>
                </a:solidFill>
                <a:latin typeface="+mn-ea"/>
              </a:rPr>
              <a:t>8-2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프로그램 </a:t>
            </a:r>
            <a:r>
              <a:rPr lang="en-US" altLang="ko-KR" dirty="0">
                <a:latin typeface="+mn-ea"/>
              </a:rPr>
              <a:t>8-1</a:t>
            </a:r>
            <a:r>
              <a:rPr lang="ko-KR" altLang="en-US" dirty="0">
                <a:latin typeface="+mn-ea"/>
              </a:rPr>
              <a:t>과 </a:t>
            </a:r>
            <a:r>
              <a:rPr lang="en-US" altLang="ko-KR" dirty="0">
                <a:latin typeface="+mn-ea"/>
              </a:rPr>
              <a:t>8-2</a:t>
            </a:r>
            <a:r>
              <a:rPr lang="ko-KR" altLang="en-US" dirty="0">
                <a:latin typeface="+mn-ea"/>
              </a:rPr>
              <a:t>의 정렬 알고리즘은 숫자를 작은 수에서 큰 수 </a:t>
            </a:r>
            <a:br>
              <a:rPr lang="en-US" altLang="ko-KR" dirty="0">
                <a:latin typeface="+mn-ea"/>
              </a:rPr>
            </a:br>
            <a:r>
              <a:rPr lang="ko-KR" altLang="en-US" dirty="0">
                <a:latin typeface="+mn-ea"/>
              </a:rPr>
              <a:t>순서로 나열하는 오름차순 정렬이었습니다</a:t>
            </a:r>
            <a:r>
              <a:rPr lang="en-US" altLang="ko-KR" dirty="0">
                <a:latin typeface="+mn-ea"/>
              </a:rPr>
              <a:t>. </a:t>
            </a:r>
            <a:r>
              <a:rPr lang="ko-KR" altLang="en-US" dirty="0">
                <a:latin typeface="+mn-ea"/>
              </a:rPr>
              <a:t>이 알고리즘을 큰 수에서 작은 수 순서로 나열하는 내림차순 정렬로 바꾸려면 프로그램의 어느 부분을 </a:t>
            </a:r>
            <a:br>
              <a:rPr lang="en-US" altLang="ko-KR" dirty="0">
                <a:latin typeface="+mn-ea"/>
              </a:rPr>
            </a:br>
            <a:r>
              <a:rPr lang="ko-KR" altLang="en-US" dirty="0">
                <a:latin typeface="+mn-ea"/>
              </a:rPr>
              <a:t>바꿔야 할까요</a:t>
            </a:r>
            <a:r>
              <a:rPr lang="en-US" altLang="ko-KR" dirty="0">
                <a:latin typeface="+mn-ea"/>
              </a:rPr>
              <a:t>?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960021" y="5104466"/>
            <a:ext cx="7088957" cy="866566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Clr>
                <a:srgbClr val="EB666E"/>
              </a:buClr>
            </a:pPr>
            <a:r>
              <a:rPr lang="ko-KR" altLang="en-US" sz="1400" dirty="0">
                <a:solidFill>
                  <a:srgbClr val="EB666E"/>
                </a:solidFill>
              </a:rPr>
              <a:t>오름차순과 내림차순 정렬 예</a:t>
            </a:r>
          </a:p>
          <a:p>
            <a:pPr marL="285750" indent="-285750">
              <a:lnSpc>
                <a:spcPct val="120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sz="1400" dirty="0">
                <a:solidFill>
                  <a:schemeClr val="tx1"/>
                </a:solidFill>
              </a:rPr>
              <a:t>오름차순 정렬의 예</a:t>
            </a:r>
            <a:r>
              <a:rPr lang="en-US" altLang="ko-KR" sz="1400" dirty="0">
                <a:solidFill>
                  <a:schemeClr val="tx1"/>
                </a:solidFill>
              </a:rPr>
              <a:t>: </a:t>
            </a:r>
            <a:r>
              <a:rPr lang="ko-KR" altLang="en-US" sz="1400" dirty="0">
                <a:solidFill>
                  <a:schemeClr val="tx1"/>
                </a:solidFill>
              </a:rPr>
              <a:t>가나다순</a:t>
            </a:r>
            <a:r>
              <a:rPr lang="en-US" altLang="ko-KR" sz="1400" dirty="0">
                <a:solidFill>
                  <a:schemeClr val="tx1"/>
                </a:solidFill>
              </a:rPr>
              <a:t>, </a:t>
            </a:r>
            <a:r>
              <a:rPr lang="ko-KR" altLang="en-US" sz="1400" dirty="0">
                <a:solidFill>
                  <a:schemeClr val="tx1"/>
                </a:solidFill>
              </a:rPr>
              <a:t>쇼핑몰에서 낮은 </a:t>
            </a:r>
            <a:r>
              <a:rPr lang="ko-KR" altLang="en-US" sz="1400" dirty="0" err="1">
                <a:solidFill>
                  <a:schemeClr val="tx1"/>
                </a:solidFill>
              </a:rPr>
              <a:t>가격순으로</a:t>
            </a:r>
            <a:r>
              <a:rPr lang="ko-KR" altLang="en-US" sz="1400" dirty="0">
                <a:solidFill>
                  <a:schemeClr val="tx1"/>
                </a:solidFill>
              </a:rPr>
              <a:t> 보기</a:t>
            </a:r>
          </a:p>
          <a:p>
            <a:pPr marL="285750" indent="-285750">
              <a:lnSpc>
                <a:spcPct val="120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sz="1400" dirty="0">
                <a:solidFill>
                  <a:schemeClr val="tx1"/>
                </a:solidFill>
              </a:rPr>
              <a:t>내림차순 정렬의 예</a:t>
            </a:r>
            <a:r>
              <a:rPr lang="en-US" altLang="ko-KR" sz="1400" dirty="0">
                <a:solidFill>
                  <a:schemeClr val="tx1"/>
                </a:solidFill>
              </a:rPr>
              <a:t>: </a:t>
            </a:r>
            <a:r>
              <a:rPr lang="ko-KR" altLang="en-US" sz="1400" dirty="0">
                <a:solidFill>
                  <a:schemeClr val="tx1"/>
                </a:solidFill>
              </a:rPr>
              <a:t>시험 점수로 등수 구하기</a:t>
            </a:r>
            <a:r>
              <a:rPr lang="en-US" altLang="ko-KR" sz="1400" dirty="0">
                <a:solidFill>
                  <a:schemeClr val="tx1"/>
                </a:solidFill>
              </a:rPr>
              <a:t>, </a:t>
            </a:r>
            <a:r>
              <a:rPr lang="ko-KR" altLang="en-US" sz="1400" dirty="0">
                <a:solidFill>
                  <a:schemeClr val="tx1"/>
                </a:solidFill>
              </a:rPr>
              <a:t>최신 뉴스부터 보기</a:t>
            </a:r>
          </a:p>
        </p:txBody>
      </p:sp>
    </p:spTree>
    <p:extLst>
      <p:ext uri="{BB962C8B-B14F-4D97-AF65-F5344CB8AC3E}">
        <p14:creationId xmlns:p14="http://schemas.microsoft.com/office/powerpoint/2010/main" val="23720113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08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선택 정렬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연습 문제 풀이</a:t>
            </a:r>
          </a:p>
        </p:txBody>
      </p:sp>
      <p:sp>
        <p:nvSpPr>
          <p:cNvPr id="8" name="모서리가 둥근 직사각형 7"/>
          <p:cNvSpPr/>
          <p:nvPr/>
        </p:nvSpPr>
        <p:spPr>
          <a:xfrm>
            <a:off x="3227832" y="673656"/>
            <a:ext cx="740664" cy="380917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</a:rPr>
              <a:t>부록 </a:t>
            </a:r>
            <a:r>
              <a:rPr lang="en-US" altLang="ko-KR" sz="1400" b="1" dirty="0">
                <a:solidFill>
                  <a:schemeClr val="bg1"/>
                </a:solidFill>
              </a:rPr>
              <a:t>A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7056" y="1821131"/>
            <a:ext cx="8176904" cy="35963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en-US" altLang="ko-KR" dirty="0">
                <a:solidFill>
                  <a:srgbClr val="EB666E"/>
                </a:solidFill>
                <a:latin typeface="+mn-ea"/>
              </a:rPr>
              <a:t>8-1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선택 정렬 과정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endParaRPr lang="en-US" altLang="ko-KR" sz="1200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일반적인 선택 정렬은 처리할 대상 범위에서 최솟값을 찾아 그 값과 범위의 맨 앞에 있는 값을 서로 바꾸는 과정을 반복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이 과정이 한 번 끝날 때마다 범위 안의 맨 앞에 있는 값은 정렬이 끝난 </a:t>
            </a:r>
            <a:br>
              <a:rPr lang="en-US" altLang="ko-KR" dirty="0">
                <a:latin typeface="+mn-ea"/>
              </a:rPr>
            </a:br>
            <a:r>
              <a:rPr lang="ko-KR" altLang="en-US" dirty="0">
                <a:latin typeface="+mn-ea"/>
              </a:rPr>
              <a:t>것이므로 정렬 대상 범위에서 제외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이미 정렬이 끝난 부분과 앞으로 처리될 대상 범위 사이에 세로 선</a:t>
            </a:r>
            <a:r>
              <a:rPr lang="en-US" altLang="ko-KR" dirty="0">
                <a:latin typeface="+mn-ea"/>
              </a:rPr>
              <a:t>(|)</a:t>
            </a:r>
            <a:r>
              <a:rPr lang="ko-KR" altLang="en-US" dirty="0">
                <a:latin typeface="+mn-ea"/>
              </a:rPr>
              <a:t>을 </a:t>
            </a:r>
            <a:br>
              <a:rPr lang="en-US" altLang="ko-KR" dirty="0">
                <a:latin typeface="+mn-ea"/>
              </a:rPr>
            </a:br>
            <a:r>
              <a:rPr lang="ko-KR" altLang="en-US" dirty="0">
                <a:latin typeface="+mn-ea"/>
              </a:rPr>
              <a:t>넣어 구분</a:t>
            </a:r>
            <a:endParaRPr lang="en-US" altLang="ko-KR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95837766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08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선택 정렬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연습 문제 풀이</a:t>
            </a:r>
          </a:p>
        </p:txBody>
      </p:sp>
      <p:sp>
        <p:nvSpPr>
          <p:cNvPr id="8" name="모서리가 둥근 직사각형 7"/>
          <p:cNvSpPr/>
          <p:nvPr/>
        </p:nvSpPr>
        <p:spPr>
          <a:xfrm>
            <a:off x="3227832" y="673656"/>
            <a:ext cx="740664" cy="380917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</a:rPr>
              <a:t>부록 </a:t>
            </a:r>
            <a:r>
              <a:rPr lang="en-US" altLang="ko-KR" sz="1400" b="1" dirty="0">
                <a:solidFill>
                  <a:schemeClr val="bg1"/>
                </a:solidFill>
              </a:rPr>
              <a:t>A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1285" y="2209666"/>
            <a:ext cx="5876925" cy="376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377402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1490472" y="5065776"/>
            <a:ext cx="594360" cy="20116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960022" y="2955576"/>
            <a:ext cx="7088957" cy="337372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s-ES" altLang="ko-KR" sz="1400" dirty="0">
                <a:solidFill>
                  <a:srgbClr val="FF822D"/>
                </a:solidFill>
              </a:rPr>
              <a:t>def</a:t>
            </a:r>
            <a:r>
              <a:rPr lang="es-ES" altLang="ko-KR" sz="1400" dirty="0">
                <a:solidFill>
                  <a:schemeClr val="tx1"/>
                </a:solidFill>
              </a:rPr>
              <a:t> </a:t>
            </a:r>
            <a:r>
              <a:rPr lang="es-ES" altLang="ko-KR" sz="1400" dirty="0">
                <a:solidFill>
                  <a:srgbClr val="0070C0"/>
                </a:solidFill>
              </a:rPr>
              <a:t>sel_sort</a:t>
            </a:r>
            <a:r>
              <a:rPr lang="es-ES" altLang="ko-KR" sz="1400" dirty="0">
                <a:solidFill>
                  <a:schemeClr val="tx1"/>
                </a:solidFill>
              </a:rPr>
              <a:t>(a):</a:t>
            </a:r>
          </a:p>
          <a:p>
            <a:pPr>
              <a:lnSpc>
                <a:spcPct val="120000"/>
              </a:lnSpc>
            </a:pPr>
            <a:r>
              <a:rPr lang="es-ES" altLang="ko-KR" sz="1400" dirty="0">
                <a:solidFill>
                  <a:schemeClr val="tx1"/>
                </a:solidFill>
              </a:rPr>
              <a:t>    n = </a:t>
            </a:r>
            <a:r>
              <a:rPr lang="es-ES" altLang="ko-KR" sz="1400" dirty="0">
                <a:solidFill>
                  <a:srgbClr val="0070C0"/>
                </a:solidFill>
              </a:rPr>
              <a:t>len</a:t>
            </a:r>
            <a:r>
              <a:rPr lang="es-ES" altLang="ko-KR" sz="1400" dirty="0">
                <a:solidFill>
                  <a:schemeClr val="tx1"/>
                </a:solidFill>
              </a:rPr>
              <a:t>(a)</a:t>
            </a:r>
          </a:p>
          <a:p>
            <a:pPr>
              <a:lnSpc>
                <a:spcPct val="120000"/>
              </a:lnSpc>
            </a:pPr>
            <a:r>
              <a:rPr lang="es-ES" altLang="ko-KR" sz="1400" dirty="0">
                <a:solidFill>
                  <a:schemeClr val="tx1"/>
                </a:solidFill>
              </a:rPr>
              <a:t>    </a:t>
            </a:r>
            <a:r>
              <a:rPr lang="es-ES" altLang="ko-KR" sz="1400" dirty="0">
                <a:solidFill>
                  <a:srgbClr val="FF822D"/>
                </a:solidFill>
              </a:rPr>
              <a:t>for</a:t>
            </a:r>
            <a:r>
              <a:rPr lang="es-ES" altLang="ko-KR" sz="1400" dirty="0">
                <a:solidFill>
                  <a:schemeClr val="tx1"/>
                </a:solidFill>
              </a:rPr>
              <a:t> i </a:t>
            </a:r>
            <a:r>
              <a:rPr lang="es-ES" altLang="ko-KR" sz="1400" dirty="0">
                <a:solidFill>
                  <a:srgbClr val="FF822D"/>
                </a:solidFill>
              </a:rPr>
              <a:t>in</a:t>
            </a:r>
            <a:r>
              <a:rPr lang="es-ES" altLang="ko-KR" sz="1400" dirty="0">
                <a:solidFill>
                  <a:schemeClr val="tx1"/>
                </a:solidFill>
              </a:rPr>
              <a:t> </a:t>
            </a:r>
            <a:r>
              <a:rPr lang="es-ES" altLang="ko-KR" sz="1400" dirty="0">
                <a:solidFill>
                  <a:srgbClr val="0070C0"/>
                </a:solidFill>
              </a:rPr>
              <a:t>range</a:t>
            </a:r>
            <a:r>
              <a:rPr lang="es-ES" altLang="ko-KR" sz="1400" dirty="0">
                <a:solidFill>
                  <a:schemeClr val="tx1"/>
                </a:solidFill>
              </a:rPr>
              <a:t>(0, n - 1):</a:t>
            </a:r>
          </a:p>
          <a:p>
            <a:pPr>
              <a:lnSpc>
                <a:spcPct val="120000"/>
              </a:lnSpc>
            </a:pPr>
            <a:r>
              <a:rPr lang="es-ES" altLang="ko-KR" sz="1400" dirty="0">
                <a:solidFill>
                  <a:schemeClr val="tx1"/>
                </a:solidFill>
              </a:rPr>
              <a:t>        min_idx = i</a:t>
            </a:r>
          </a:p>
          <a:p>
            <a:pPr>
              <a:lnSpc>
                <a:spcPct val="120000"/>
              </a:lnSpc>
            </a:pPr>
            <a:r>
              <a:rPr lang="es-ES" altLang="ko-KR" sz="1400" dirty="0">
                <a:solidFill>
                  <a:schemeClr val="tx1"/>
                </a:solidFill>
              </a:rPr>
              <a:t>        </a:t>
            </a:r>
            <a:r>
              <a:rPr lang="es-ES" altLang="ko-KR" sz="1400" dirty="0">
                <a:solidFill>
                  <a:srgbClr val="FF822D"/>
                </a:solidFill>
              </a:rPr>
              <a:t>for</a:t>
            </a:r>
            <a:r>
              <a:rPr lang="es-ES" altLang="ko-KR" sz="1400" dirty="0">
                <a:solidFill>
                  <a:schemeClr val="tx1"/>
                </a:solidFill>
              </a:rPr>
              <a:t> j </a:t>
            </a:r>
            <a:r>
              <a:rPr lang="es-ES" altLang="ko-KR" sz="1400" dirty="0">
                <a:solidFill>
                  <a:srgbClr val="FF822D"/>
                </a:solidFill>
              </a:rPr>
              <a:t>in</a:t>
            </a:r>
            <a:r>
              <a:rPr lang="es-ES" altLang="ko-KR" sz="1400" dirty="0">
                <a:solidFill>
                  <a:schemeClr val="tx1"/>
                </a:solidFill>
              </a:rPr>
              <a:t> </a:t>
            </a:r>
            <a:r>
              <a:rPr lang="es-ES" altLang="ko-KR" sz="1400" dirty="0">
                <a:solidFill>
                  <a:srgbClr val="0070C0"/>
                </a:solidFill>
              </a:rPr>
              <a:t>range</a:t>
            </a:r>
            <a:r>
              <a:rPr lang="es-ES" altLang="ko-KR" sz="1400" dirty="0">
                <a:solidFill>
                  <a:schemeClr val="tx1"/>
                </a:solidFill>
              </a:rPr>
              <a:t>(i + 1, n):</a:t>
            </a:r>
          </a:p>
          <a:p>
            <a:pPr>
              <a:lnSpc>
                <a:spcPct val="120000"/>
              </a:lnSpc>
            </a:pPr>
            <a:r>
              <a:rPr lang="es-ES" altLang="ko-KR" sz="1400" dirty="0">
                <a:solidFill>
                  <a:schemeClr val="tx1"/>
                </a:solidFill>
              </a:rPr>
              <a:t>            </a:t>
            </a:r>
            <a:r>
              <a:rPr lang="es-ES" altLang="ko-KR" sz="1400" dirty="0">
                <a:solidFill>
                  <a:srgbClr val="FF822D"/>
                </a:solidFill>
              </a:rPr>
              <a:t>if</a:t>
            </a:r>
            <a:r>
              <a:rPr lang="es-ES" altLang="ko-KR" sz="1400" dirty="0">
                <a:solidFill>
                  <a:schemeClr val="tx1"/>
                </a:solidFill>
              </a:rPr>
              <a:t> a[j] &lt; a[min_idx]:</a:t>
            </a:r>
          </a:p>
          <a:p>
            <a:pPr>
              <a:lnSpc>
                <a:spcPct val="120000"/>
              </a:lnSpc>
            </a:pPr>
            <a:r>
              <a:rPr lang="es-ES" altLang="ko-KR" sz="1400" dirty="0">
                <a:solidFill>
                  <a:schemeClr val="tx1"/>
                </a:solidFill>
              </a:rPr>
              <a:t>                min_idx = j</a:t>
            </a:r>
          </a:p>
          <a:p>
            <a:pPr>
              <a:lnSpc>
                <a:spcPct val="120000"/>
              </a:lnSpc>
            </a:pPr>
            <a:r>
              <a:rPr lang="es-ES" altLang="ko-KR" sz="1400" dirty="0">
                <a:solidFill>
                  <a:schemeClr val="tx1"/>
                </a:solidFill>
              </a:rPr>
              <a:t>            a[i], a[min_idx] = a[min_idx], a[i]</a:t>
            </a:r>
          </a:p>
          <a:p>
            <a:pPr>
              <a:lnSpc>
                <a:spcPct val="120000"/>
              </a:lnSpc>
            </a:pPr>
            <a:r>
              <a:rPr lang="es-ES" altLang="ko-KR" sz="1400" dirty="0">
                <a:solidFill>
                  <a:schemeClr val="tx1"/>
                </a:solidFill>
              </a:rPr>
              <a:t>            </a:t>
            </a:r>
            <a:r>
              <a:rPr lang="es-ES" altLang="ko-KR" sz="1400" dirty="0">
                <a:solidFill>
                  <a:srgbClr val="0070C0"/>
                </a:solidFill>
              </a:rPr>
              <a:t>print</a:t>
            </a:r>
            <a:r>
              <a:rPr lang="es-ES" altLang="ko-KR" sz="1400" dirty="0">
                <a:solidFill>
                  <a:schemeClr val="tx1"/>
                </a:solidFill>
              </a:rPr>
              <a:t>(a)  </a:t>
            </a:r>
            <a:r>
              <a:rPr lang="es-ES" altLang="ko-KR" sz="1400" dirty="0">
                <a:solidFill>
                  <a:schemeClr val="accent2">
                    <a:lumMod val="50000"/>
                  </a:schemeClr>
                </a:solidFill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</a:rPr>
              <a:t>정렬 과정 출력하기</a:t>
            </a:r>
          </a:p>
          <a:p>
            <a:pPr>
              <a:lnSpc>
                <a:spcPct val="120000"/>
              </a:lnSpc>
            </a:pPr>
            <a:endParaRPr lang="es-ES" altLang="ko-KR" sz="1400" dirty="0">
              <a:solidFill>
                <a:schemeClr val="tx1"/>
              </a:solidFill>
            </a:endParaRPr>
          </a:p>
          <a:p>
            <a:pPr>
              <a:lnSpc>
                <a:spcPct val="120000"/>
              </a:lnSpc>
            </a:pPr>
            <a:r>
              <a:rPr lang="es-ES" altLang="ko-KR" sz="1400" dirty="0">
                <a:solidFill>
                  <a:schemeClr val="tx1"/>
                </a:solidFill>
              </a:rPr>
              <a:t>d = [2, 4, 5, 1, 3]</a:t>
            </a:r>
          </a:p>
          <a:p>
            <a:pPr>
              <a:lnSpc>
                <a:spcPct val="120000"/>
              </a:lnSpc>
            </a:pPr>
            <a:r>
              <a:rPr lang="es-ES" altLang="ko-KR" sz="1400" dirty="0">
                <a:solidFill>
                  <a:schemeClr val="tx1"/>
                </a:solidFill>
              </a:rPr>
              <a:t>sel_sort(d)</a:t>
            </a:r>
          </a:p>
          <a:p>
            <a:pPr>
              <a:lnSpc>
                <a:spcPct val="120000"/>
              </a:lnSpc>
            </a:pPr>
            <a:r>
              <a:rPr lang="es-ES" altLang="ko-KR" sz="1400" dirty="0">
                <a:solidFill>
                  <a:srgbClr val="0070C0"/>
                </a:solidFill>
              </a:rPr>
              <a:t>print</a:t>
            </a:r>
            <a:r>
              <a:rPr lang="es-ES" altLang="ko-KR" sz="1400" dirty="0">
                <a:solidFill>
                  <a:schemeClr val="tx1"/>
                </a:solidFill>
              </a:rPr>
              <a:t>(d)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08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선택 정렬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연습 문제 풀이</a:t>
            </a:r>
          </a:p>
        </p:txBody>
      </p:sp>
      <p:sp>
        <p:nvSpPr>
          <p:cNvPr id="8" name="모서리가 둥근 직사각형 7"/>
          <p:cNvSpPr/>
          <p:nvPr/>
        </p:nvSpPr>
        <p:spPr>
          <a:xfrm>
            <a:off x="3227832" y="673656"/>
            <a:ext cx="740664" cy="380917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</a:rPr>
              <a:t>부록 </a:t>
            </a:r>
            <a:r>
              <a:rPr lang="en-US" altLang="ko-KR" sz="1400" b="1" dirty="0">
                <a:solidFill>
                  <a:schemeClr val="bg1"/>
                </a:solidFill>
              </a:rPr>
              <a:t>A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7056" y="1821131"/>
            <a:ext cx="8176904" cy="100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65000"/>
              </a:lnSpc>
              <a:buClr>
                <a:srgbClr val="EB666E"/>
              </a:buClr>
            </a:pPr>
            <a:r>
              <a:rPr lang="ko-KR" altLang="en-US" dirty="0">
                <a:solidFill>
                  <a:srgbClr val="EB666E"/>
                </a:solidFill>
                <a:latin typeface="+mn-ea"/>
              </a:rPr>
              <a:t>정렬 중간 결과 출력하기</a:t>
            </a:r>
            <a:endParaRPr lang="en-US" altLang="ko-KR" dirty="0">
              <a:solidFill>
                <a:srgbClr val="EB666E"/>
              </a:solidFill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/>
              <a:t>함수 반복 부분에 </a:t>
            </a:r>
            <a:r>
              <a:rPr lang="en-US" altLang="ko-KR" dirty="0"/>
              <a:t>print(a)</a:t>
            </a:r>
            <a:r>
              <a:rPr lang="ko-KR" altLang="en-US" dirty="0"/>
              <a:t> 추가 → 정렬 과정의 중간 결과 쉽게 확인 가능</a:t>
            </a:r>
            <a:endParaRPr lang="en-US" altLang="ko-KR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64655925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08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선택 정렬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연습 문제 풀이</a:t>
            </a:r>
          </a:p>
        </p:txBody>
      </p:sp>
      <p:sp>
        <p:nvSpPr>
          <p:cNvPr id="8" name="모서리가 둥근 직사각형 7"/>
          <p:cNvSpPr/>
          <p:nvPr/>
        </p:nvSpPr>
        <p:spPr>
          <a:xfrm>
            <a:off x="3227832" y="673656"/>
            <a:ext cx="740664" cy="380917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</a:rPr>
              <a:t>부록 </a:t>
            </a:r>
            <a:r>
              <a:rPr lang="en-US" altLang="ko-KR" sz="1400" b="1" dirty="0">
                <a:solidFill>
                  <a:schemeClr val="bg1"/>
                </a:solidFill>
              </a:rPr>
              <a:t>A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7056" y="1830462"/>
            <a:ext cx="817690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en-US" altLang="ko-KR" dirty="0">
                <a:solidFill>
                  <a:srgbClr val="EB666E"/>
                </a:solidFill>
                <a:latin typeface="+mn-ea"/>
              </a:rPr>
              <a:t>8-2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내림차순 선택 정렬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endParaRPr lang="en-US" altLang="ko-KR" sz="1200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오름차순 선택 정렬에서 최솟값 대신 최댓값을 선택하면 내림차순 정렬</a:t>
            </a:r>
            <a:br>
              <a:rPr lang="en-US" altLang="ko-KR" dirty="0">
                <a:latin typeface="+mn-ea"/>
              </a:rPr>
            </a:b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큰 수에서 작은 수로 나열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>
                <a:latin typeface="+mn-ea"/>
              </a:rPr>
              <a:t>이 됨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비교 부등호 방향을 작다</a:t>
            </a:r>
            <a:r>
              <a:rPr lang="en-US" altLang="ko-KR" dirty="0">
                <a:latin typeface="+mn-ea"/>
              </a:rPr>
              <a:t>(&lt;)</a:t>
            </a:r>
            <a:r>
              <a:rPr lang="ko-KR" altLang="en-US" dirty="0">
                <a:latin typeface="+mn-ea"/>
              </a:rPr>
              <a:t>에서 크다</a:t>
            </a:r>
            <a:r>
              <a:rPr lang="en-US" altLang="ko-KR" dirty="0">
                <a:latin typeface="+mn-ea"/>
              </a:rPr>
              <a:t>(&gt;)</a:t>
            </a:r>
            <a:r>
              <a:rPr lang="ko-KR" altLang="en-US" dirty="0">
                <a:latin typeface="+mn-ea"/>
              </a:rPr>
              <a:t>로 바꾸기만 해도 내림차순 정렬 프로그램이 됨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/>
              <a:t>변수 이름의 의미를 맞추려고 변수 </a:t>
            </a:r>
            <a:r>
              <a:rPr lang="en-US" altLang="ko-KR" dirty="0" err="1"/>
              <a:t>min_idx</a:t>
            </a:r>
            <a:r>
              <a:rPr lang="en-US" altLang="ko-KR" dirty="0"/>
              <a:t> </a:t>
            </a:r>
            <a:r>
              <a:rPr lang="ko-KR" altLang="en-US" dirty="0"/>
              <a:t>를 </a:t>
            </a:r>
            <a:r>
              <a:rPr lang="en-US" altLang="ko-KR" dirty="0" err="1"/>
              <a:t>max_idx</a:t>
            </a:r>
            <a:r>
              <a:rPr lang="ko-KR" altLang="en-US" dirty="0"/>
              <a:t>로 바꿈</a:t>
            </a:r>
            <a:endParaRPr lang="en-US" altLang="ko-KR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0536944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/>
          <p:cNvSpPr/>
          <p:nvPr/>
        </p:nvSpPr>
        <p:spPr>
          <a:xfrm>
            <a:off x="2024582" y="4596970"/>
            <a:ext cx="1435055" cy="2107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/>
          <p:cNvSpPr/>
          <p:nvPr/>
        </p:nvSpPr>
        <p:spPr>
          <a:xfrm>
            <a:off x="1631873" y="4090854"/>
            <a:ext cx="979351" cy="19834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08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선택 정렬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연습 문제 풀이</a:t>
            </a:r>
          </a:p>
        </p:txBody>
      </p:sp>
      <p:sp>
        <p:nvSpPr>
          <p:cNvPr id="8" name="모서리가 둥근 직사각형 7"/>
          <p:cNvSpPr/>
          <p:nvPr/>
        </p:nvSpPr>
        <p:spPr>
          <a:xfrm>
            <a:off x="3227832" y="673656"/>
            <a:ext cx="740664" cy="380917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</a:rPr>
              <a:t>부록 </a:t>
            </a:r>
            <a:r>
              <a:rPr lang="en-US" altLang="ko-KR" sz="1400" b="1" dirty="0">
                <a:solidFill>
                  <a:schemeClr val="bg1"/>
                </a:solidFill>
              </a:rPr>
              <a:t>A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045269" y="2248152"/>
            <a:ext cx="7088957" cy="4124368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내림차순 선택 정렬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입력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: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리스트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a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출력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: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없음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(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입력으로 주어진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a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가 정렬됨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)</a:t>
            </a:r>
          </a:p>
          <a:p>
            <a:pPr>
              <a:lnSpc>
                <a:spcPct val="120000"/>
              </a:lnSpc>
            </a:pPr>
            <a:endParaRPr lang="en-US" altLang="ko-KR" sz="1400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400" dirty="0" err="1">
                <a:solidFill>
                  <a:srgbClr val="FF822D"/>
                </a:solidFill>
                <a:latin typeface="+mn-ea"/>
              </a:rPr>
              <a:t>def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 err="1">
                <a:solidFill>
                  <a:srgbClr val="0070C0"/>
                </a:solidFill>
                <a:latin typeface="+mn-ea"/>
              </a:rPr>
              <a:t>sel_sort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(a):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n = </a:t>
            </a:r>
            <a:r>
              <a:rPr lang="en-US" altLang="ko-KR" sz="1400" dirty="0" err="1">
                <a:solidFill>
                  <a:srgbClr val="0070C0"/>
                </a:solidFill>
                <a:latin typeface="+mn-ea"/>
              </a:rPr>
              <a:t>len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(a)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for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i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in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>
                <a:solidFill>
                  <a:srgbClr val="0070C0"/>
                </a:solidFill>
                <a:latin typeface="+mn-ea"/>
              </a:rPr>
              <a:t>range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(0, n - 1):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   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max_idx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=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i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최솟값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(min)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대신 최댓값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(max)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을 찾아야 함</a:t>
            </a:r>
          </a:p>
          <a:p>
            <a:pPr>
              <a:lnSpc>
                <a:spcPct val="120000"/>
              </a:lnSpc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      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for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j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in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>
                <a:solidFill>
                  <a:srgbClr val="0070C0"/>
                </a:solidFill>
                <a:latin typeface="+mn-ea"/>
              </a:rPr>
              <a:t>range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i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+ 1, n):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       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if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a[j] &gt; a[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max_idx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]: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부등호 방향 뒤집기</a:t>
            </a:r>
          </a:p>
          <a:p>
            <a:pPr>
              <a:lnSpc>
                <a:spcPct val="120000"/>
              </a:lnSpc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              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max_idx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= j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    a[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i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], a[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max_idx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] = a[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max_idx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], a[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i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]</a:t>
            </a:r>
          </a:p>
          <a:p>
            <a:pPr>
              <a:lnSpc>
                <a:spcPct val="120000"/>
              </a:lnSpc>
            </a:pP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d = [2, 4, 5, 1, 3]</a:t>
            </a:r>
          </a:p>
          <a:p>
            <a:pPr>
              <a:lnSpc>
                <a:spcPct val="120000"/>
              </a:lnSpc>
            </a:pP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sel_sort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(d)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rgbClr val="0070C0"/>
                </a:solidFill>
                <a:latin typeface="+mn-ea"/>
              </a:rPr>
              <a:t>print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1001" y="1940378"/>
            <a:ext cx="31265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EB666E"/>
                </a:solidFill>
                <a:latin typeface="+mn-ea"/>
              </a:rPr>
              <a:t>▼</a:t>
            </a:r>
            <a:r>
              <a:rPr lang="ko-KR" altLang="en-US" sz="1400" dirty="0">
                <a:latin typeface="+mn-ea"/>
              </a:rPr>
              <a:t> </a:t>
            </a:r>
            <a:r>
              <a:rPr lang="ko-KR" altLang="en-US" sz="1400" dirty="0">
                <a:solidFill>
                  <a:srgbClr val="EB666E"/>
                </a:solidFill>
                <a:latin typeface="+mn-ea"/>
              </a:rPr>
              <a:t>예제 소스 </a:t>
            </a:r>
            <a:r>
              <a:rPr lang="en-US" altLang="ko-KR" sz="1400" dirty="0">
                <a:latin typeface="+mn-ea"/>
              </a:rPr>
              <a:t>e08-2-ssort.py</a:t>
            </a:r>
            <a:endParaRPr lang="ko-KR" altLang="en-US" sz="1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4302647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08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선택 정렬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연습 문제 풀이</a:t>
            </a:r>
          </a:p>
        </p:txBody>
      </p:sp>
      <p:sp>
        <p:nvSpPr>
          <p:cNvPr id="8" name="모서리가 둥근 직사각형 7"/>
          <p:cNvSpPr/>
          <p:nvPr/>
        </p:nvSpPr>
        <p:spPr>
          <a:xfrm>
            <a:off x="3227832" y="673656"/>
            <a:ext cx="740664" cy="380917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</a:rPr>
              <a:t>부록 </a:t>
            </a:r>
            <a:r>
              <a:rPr lang="en-US" altLang="ko-KR" sz="1400" b="1" dirty="0">
                <a:solidFill>
                  <a:schemeClr val="bg1"/>
                </a:solidFill>
              </a:rPr>
              <a:t>A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7056" y="1821131"/>
            <a:ext cx="8176904" cy="485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solidFill>
                  <a:srgbClr val="EB666E"/>
                </a:solidFill>
                <a:latin typeface="+mn-ea"/>
              </a:rPr>
              <a:t>실행 결과</a:t>
            </a:r>
            <a:endParaRPr lang="en-US" altLang="ko-KR" dirty="0">
              <a:latin typeface="+mn-ea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960022" y="2575866"/>
            <a:ext cx="7088957" cy="3699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</a:rPr>
              <a:t>[5, 4, 3, 2, 1]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405952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179512" y="144016"/>
            <a:ext cx="8820472" cy="6525344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" name="직선 연결선 3"/>
          <p:cNvCxnSpPr/>
          <p:nvPr/>
        </p:nvCxnSpPr>
        <p:spPr>
          <a:xfrm>
            <a:off x="2819400" y="3634895"/>
            <a:ext cx="3494314" cy="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/>
          <p:cNvSpPr/>
          <p:nvPr/>
        </p:nvSpPr>
        <p:spPr>
          <a:xfrm>
            <a:off x="1" y="3076950"/>
            <a:ext cx="9144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28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 </a:t>
            </a:r>
            <a:r>
              <a:rPr lang="en-US" altLang="ko-KR" sz="28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09 </a:t>
            </a:r>
            <a:r>
              <a:rPr lang="ko-KR" altLang="en-US" sz="26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삽입 정렬</a:t>
            </a:r>
          </a:p>
        </p:txBody>
      </p:sp>
    </p:spTree>
    <p:extLst>
      <p:ext uri="{BB962C8B-B14F-4D97-AF65-F5344CB8AC3E}">
        <p14:creationId xmlns:p14="http://schemas.microsoft.com/office/powerpoint/2010/main" val="190912847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09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삽입 정렬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0</a:t>
            </a:r>
            <a:endParaRPr lang="ko-KR" altLang="en-US" sz="24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647057" y="1821131"/>
            <a:ext cx="7920872" cy="1920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65000"/>
              </a:lnSpc>
              <a:buClr>
                <a:srgbClr val="EB666E"/>
              </a:buClr>
            </a:pPr>
            <a:r>
              <a:rPr lang="ko-KR" altLang="en-US" b="1" dirty="0">
                <a:latin typeface="+mn-ea"/>
              </a:rPr>
              <a:t>리스트 안의 자료를 작은 수부터 큰 수 순서로 배열하는 정렬 알고리즘을 만들어 보세요</a:t>
            </a:r>
            <a:r>
              <a:rPr lang="en-US" altLang="ko-KR" b="1" dirty="0">
                <a:latin typeface="+mn-ea"/>
              </a:rPr>
              <a:t>.</a:t>
            </a:r>
          </a:p>
          <a:p>
            <a:pPr>
              <a:lnSpc>
                <a:spcPct val="165000"/>
              </a:lnSpc>
              <a:buClr>
                <a:srgbClr val="EB666E"/>
              </a:buClr>
            </a:pP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/>
              <a:t>문제 </a:t>
            </a:r>
            <a:r>
              <a:rPr lang="en-US" altLang="ko-KR" dirty="0"/>
              <a:t>8</a:t>
            </a:r>
            <a:r>
              <a:rPr lang="ko-KR" altLang="en-US" dirty="0"/>
              <a:t>과 같지만 이번에는 삽입 정렬</a:t>
            </a:r>
            <a:r>
              <a:rPr lang="en-US" altLang="ko-KR" dirty="0"/>
              <a:t>(Insertion sort)</a:t>
            </a:r>
            <a:r>
              <a:rPr lang="ko-KR" altLang="en-US" dirty="0"/>
              <a:t>으로 문제를 풀어 보자</a:t>
            </a:r>
            <a:endParaRPr lang="en-US" altLang="ko-KR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00431030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09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삽입 정렬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1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삽입 정렬로 줄 세우기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056" y="1821131"/>
            <a:ext cx="8020383" cy="493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/>
              <a:t>문제를 풀기 전에 줄 서기부터 시작해 보자</a:t>
            </a:r>
            <a:endParaRPr lang="en-US" altLang="ko-KR" dirty="0">
              <a:latin typeface="+mn-ea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7056" y="2631836"/>
            <a:ext cx="8020383" cy="374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65000"/>
              </a:lnSpc>
              <a:buClr>
                <a:srgbClr val="EB666E"/>
              </a:buClr>
              <a:buFont typeface="+mj-lt"/>
              <a:buAutoNum type="arabicParenR"/>
            </a:pPr>
            <a:r>
              <a:rPr lang="ko-KR" altLang="en-US" dirty="0"/>
              <a:t>학생이 열 명 모인 운동장에 선생님이 등장</a:t>
            </a:r>
            <a:endParaRPr lang="en-US" altLang="ko-KR" dirty="0"/>
          </a:p>
          <a:p>
            <a:pPr marL="342900" indent="-342900">
              <a:lnSpc>
                <a:spcPct val="165000"/>
              </a:lnSpc>
              <a:buClr>
                <a:srgbClr val="EB666E"/>
              </a:buClr>
              <a:buFont typeface="+mj-lt"/>
              <a:buAutoNum type="arabicParenR"/>
            </a:pPr>
            <a:r>
              <a:rPr lang="ko-KR" altLang="en-US" dirty="0"/>
              <a:t>선생님은 열 명 중 제일 앞에 있던 </a:t>
            </a:r>
            <a:r>
              <a:rPr lang="ko-KR" altLang="en-US" dirty="0" err="1"/>
              <a:t>승규에게</a:t>
            </a:r>
            <a:r>
              <a:rPr lang="ko-KR" altLang="en-US" dirty="0"/>
              <a:t> 나와서 줄을 서라고 함</a:t>
            </a:r>
            <a:br>
              <a:rPr lang="en-US" altLang="ko-KR" dirty="0"/>
            </a:br>
            <a:r>
              <a:rPr lang="ko-KR" altLang="en-US" dirty="0"/>
              <a:t>승규가 나갔으니 이제 학생이 아홉 명 남음</a:t>
            </a:r>
            <a:endParaRPr lang="en-US" altLang="ko-KR" dirty="0"/>
          </a:p>
          <a:p>
            <a:pPr marL="342900" indent="-342900">
              <a:lnSpc>
                <a:spcPct val="165000"/>
              </a:lnSpc>
              <a:buClr>
                <a:srgbClr val="EB666E"/>
              </a:buClr>
              <a:buFont typeface="+mj-lt"/>
              <a:buAutoNum type="arabicParenR"/>
            </a:pPr>
            <a:r>
              <a:rPr lang="ko-KR" altLang="en-US" dirty="0"/>
              <a:t>이번에는 선생님이 준호에게 키를 맞춰 줄을 서라고 함</a:t>
            </a:r>
            <a:br>
              <a:rPr lang="en-US" altLang="ko-KR" dirty="0"/>
            </a:br>
            <a:r>
              <a:rPr lang="ko-KR" altLang="en-US" dirty="0"/>
              <a:t>준호는 이미 줄 선 승규보다 자신이 키가 작은 것을 확인하고 승규 앞에 섬</a:t>
            </a:r>
            <a:endParaRPr lang="en-US" altLang="ko-KR" dirty="0"/>
          </a:p>
          <a:p>
            <a:pPr marL="342900" indent="-342900">
              <a:lnSpc>
                <a:spcPct val="165000"/>
              </a:lnSpc>
              <a:buClr>
                <a:srgbClr val="EB666E"/>
              </a:buClr>
              <a:buFont typeface="+mj-lt"/>
              <a:buAutoNum type="arabicParenR"/>
            </a:pPr>
            <a:r>
              <a:rPr lang="ko-KR" altLang="en-US" dirty="0"/>
              <a:t>남은 여덟 명 중 이번에는 </a:t>
            </a:r>
            <a:r>
              <a:rPr lang="ko-KR" altLang="en-US" dirty="0" err="1"/>
              <a:t>민성이가</a:t>
            </a:r>
            <a:r>
              <a:rPr lang="ko-KR" altLang="en-US" dirty="0"/>
              <a:t> 뽑혀 줄을 섬</a:t>
            </a:r>
            <a:br>
              <a:rPr lang="en-US" altLang="ko-KR" dirty="0"/>
            </a:br>
            <a:r>
              <a:rPr lang="ko-KR" altLang="en-US" dirty="0"/>
              <a:t>민성이는 준호보다 크고 승규보다는 작으므로</a:t>
            </a:r>
            <a:r>
              <a:rPr lang="en-US" altLang="ko-KR" dirty="0"/>
              <a:t> </a:t>
            </a:r>
            <a:r>
              <a:rPr lang="ko-KR" altLang="en-US" dirty="0"/>
              <a:t>준호와 승규 사이에 공간을 만들어 줄을 섬</a:t>
            </a:r>
            <a:r>
              <a:rPr lang="en-US" altLang="ko-KR" dirty="0"/>
              <a:t>(</a:t>
            </a:r>
            <a:r>
              <a:rPr lang="ko-KR" altLang="en-US" dirty="0"/>
              <a:t>삽입</a:t>
            </a:r>
            <a:r>
              <a:rPr lang="en-US" altLang="ko-K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65953823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09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삽입 정렬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1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삽입 정렬로 줄 세우기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056" y="1821131"/>
            <a:ext cx="8020383" cy="1463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65000"/>
              </a:lnSpc>
              <a:buClr>
                <a:srgbClr val="EB666E"/>
              </a:buClr>
              <a:buFont typeface="+mj-lt"/>
              <a:buAutoNum type="arabicParenR" startAt="5"/>
            </a:pPr>
            <a:r>
              <a:rPr lang="ko-KR" altLang="en-US" dirty="0"/>
              <a:t>마찬가지로 남은 학생을 한 명씩 뽑아 이미 줄을 선 학생 사이사이에 키를 </a:t>
            </a:r>
            <a:br>
              <a:rPr lang="en-US" altLang="ko-KR" dirty="0"/>
            </a:br>
            <a:r>
              <a:rPr lang="ko-KR" altLang="en-US" dirty="0"/>
              <a:t>맞춰 끼워 넣는 일을 반복</a:t>
            </a:r>
            <a:br>
              <a:rPr lang="en-US" altLang="ko-KR" dirty="0"/>
            </a:br>
            <a:r>
              <a:rPr lang="ko-KR" altLang="en-US" dirty="0"/>
              <a:t>마지막 남은 학생까지 뽑아서 줄을 세우면 모든 학생이 제자리에 줄 서게 됨</a:t>
            </a:r>
            <a:endParaRPr lang="en-US" altLang="ko-KR" dirty="0">
              <a:latin typeface="+mn-ea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031" y="3450070"/>
            <a:ext cx="7119938" cy="150469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0" y="4821779"/>
            <a:ext cx="9144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2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그림 </a:t>
            </a:r>
            <a:r>
              <a:rPr lang="en-US" altLang="ko-KR" sz="12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9-1</a:t>
            </a:r>
            <a:r>
              <a:rPr lang="en-US" altLang="ko-KR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</a:t>
            </a:r>
            <a:r>
              <a:rPr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삽입 정렬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226786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09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삽입 정렬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2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쉽게 설명한 삽입 정렬 알고리즘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056" y="1821131"/>
            <a:ext cx="8020383" cy="493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solidFill>
                  <a:srgbClr val="EB666E"/>
                </a:solidFill>
              </a:rPr>
              <a:t>프로그램</a:t>
            </a:r>
            <a:r>
              <a:rPr lang="ko-KR" altLang="en-US" dirty="0"/>
              <a:t> </a:t>
            </a:r>
            <a:r>
              <a:rPr lang="en-US" altLang="ko-KR" dirty="0">
                <a:solidFill>
                  <a:srgbClr val="EB666E"/>
                </a:solidFill>
              </a:rPr>
              <a:t>9-1</a:t>
            </a:r>
            <a:r>
              <a:rPr lang="en-US" altLang="ko-KR" dirty="0"/>
              <a:t> </a:t>
            </a:r>
            <a:r>
              <a:rPr lang="ko-KR" altLang="en-US" dirty="0"/>
              <a:t>쉽게 설명한 삽입 알고리즘</a:t>
            </a:r>
            <a:endParaRPr lang="en-US" altLang="ko-KR" dirty="0">
              <a:latin typeface="+mn-ea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1045269" y="2917455"/>
            <a:ext cx="7088957" cy="3126729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쉽게 설명한 삽입 정렬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입력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: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리스트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a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출력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: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정렬된 새 리스트</a:t>
            </a:r>
          </a:p>
          <a:p>
            <a:pPr>
              <a:lnSpc>
                <a:spcPct val="120000"/>
              </a:lnSpc>
            </a:pPr>
            <a:endParaRPr lang="ko-KR" altLang="en-US" sz="1400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리스트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r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에서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v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가 들어가야 할 위치를 돌려주는 함수</a:t>
            </a:r>
          </a:p>
          <a:p>
            <a:pPr>
              <a:lnSpc>
                <a:spcPct val="120000"/>
              </a:lnSpc>
            </a:pPr>
            <a:r>
              <a:rPr lang="en-US" altLang="ko-KR" sz="1400" dirty="0" err="1">
                <a:solidFill>
                  <a:srgbClr val="FF822D"/>
                </a:solidFill>
                <a:latin typeface="+mn-ea"/>
              </a:rPr>
              <a:t>def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 err="1">
                <a:solidFill>
                  <a:srgbClr val="0070C0"/>
                </a:solidFill>
                <a:latin typeface="+mn-ea"/>
              </a:rPr>
              <a:t>find_ins_idx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(r, v):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    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이미 정렬된 리스트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r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의 자료를 앞에서부터 차례로 확인하여</a:t>
            </a:r>
          </a:p>
          <a:p>
            <a:pPr>
              <a:lnSpc>
                <a:spcPct val="120000"/>
              </a:lnSpc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for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i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in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>
                <a:solidFill>
                  <a:srgbClr val="0070C0"/>
                </a:solidFill>
                <a:latin typeface="+mn-ea"/>
              </a:rPr>
              <a:t>range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(0, </a:t>
            </a:r>
            <a:r>
              <a:rPr lang="en-US" altLang="ko-KR" sz="1400" dirty="0" err="1">
                <a:solidFill>
                  <a:srgbClr val="0070C0"/>
                </a:solidFill>
                <a:latin typeface="+mn-ea"/>
              </a:rPr>
              <a:t>len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(r)):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        # v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값보다 </a:t>
            </a:r>
            <a:r>
              <a:rPr lang="en-US" altLang="ko-KR" sz="1400" dirty="0" err="1">
                <a:solidFill>
                  <a:schemeClr val="accent2">
                    <a:lumMod val="50000"/>
                  </a:schemeClr>
                </a:solidFill>
                <a:latin typeface="+mn-ea"/>
              </a:rPr>
              <a:t>i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번 위치에 있는 자료 값이 크면</a:t>
            </a:r>
          </a:p>
          <a:p>
            <a:pPr>
              <a:lnSpc>
                <a:spcPct val="120000"/>
              </a:lnSpc>
            </a:pP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      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v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가 그 값 바로 앞에 놓여야 정렬 순서가 유지됨</a:t>
            </a:r>
          </a:p>
          <a:p>
            <a:pPr>
              <a:lnSpc>
                <a:spcPct val="120000"/>
              </a:lnSpc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      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if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v &lt; r[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i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]: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       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return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i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51001" y="2609681"/>
            <a:ext cx="31265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EB666E"/>
                </a:solidFill>
                <a:latin typeface="+mn-ea"/>
              </a:rPr>
              <a:t>▼</a:t>
            </a:r>
            <a:r>
              <a:rPr lang="ko-KR" altLang="en-US" sz="1400" dirty="0">
                <a:latin typeface="+mn-ea"/>
              </a:rPr>
              <a:t> </a:t>
            </a:r>
            <a:r>
              <a:rPr lang="ko-KR" altLang="en-US" sz="1400" dirty="0">
                <a:solidFill>
                  <a:srgbClr val="EB666E"/>
                </a:solidFill>
                <a:latin typeface="+mn-ea"/>
              </a:rPr>
              <a:t>예제 소스 </a:t>
            </a:r>
            <a:r>
              <a:rPr lang="en-US" altLang="ko-KR" sz="1400" dirty="0">
                <a:latin typeface="+mn-ea"/>
              </a:rPr>
              <a:t>p09-1-isort.py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4" name="아래쪽 화살표 13"/>
          <p:cNvSpPr/>
          <p:nvPr/>
        </p:nvSpPr>
        <p:spPr>
          <a:xfrm>
            <a:off x="4502546" y="6153995"/>
            <a:ext cx="174402" cy="197963"/>
          </a:xfrm>
          <a:prstGeom prst="downArrow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30832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09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삽입 정렬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2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쉽게 설명한 삽입 정렬 알고리즘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960022" y="2232443"/>
            <a:ext cx="7088957" cy="368759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  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적절한 위치를 못 찾았을 때는</a:t>
            </a:r>
          </a:p>
          <a:p>
            <a:pPr>
              <a:lnSpc>
                <a:spcPct val="120000"/>
              </a:lnSpc>
            </a:pP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  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v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가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r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의 모든 자료보다 크다는 뜻이므로 맨 뒤에 삽입</a:t>
            </a:r>
          </a:p>
          <a:p>
            <a:pPr>
              <a:lnSpc>
                <a:spcPct val="120000"/>
              </a:lnSpc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return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 err="1">
                <a:solidFill>
                  <a:srgbClr val="0070C0"/>
                </a:solidFill>
                <a:latin typeface="+mn-ea"/>
              </a:rPr>
              <a:t>len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(r)</a:t>
            </a:r>
          </a:p>
          <a:p>
            <a:pPr>
              <a:lnSpc>
                <a:spcPct val="120000"/>
              </a:lnSpc>
            </a:pP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400" dirty="0" err="1">
                <a:solidFill>
                  <a:srgbClr val="FF822D"/>
                </a:solidFill>
                <a:latin typeface="+mn-ea"/>
              </a:rPr>
              <a:t>def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 err="1">
                <a:solidFill>
                  <a:srgbClr val="0070C0"/>
                </a:solidFill>
                <a:latin typeface="+mn-ea"/>
              </a:rPr>
              <a:t>ins_sort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(a):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result = []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새 리스트를 만들어 정렬된 값을 저장</a:t>
            </a:r>
          </a:p>
          <a:p>
            <a:pPr>
              <a:lnSpc>
                <a:spcPct val="120000"/>
              </a:lnSpc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while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a:   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기존 리스트에 값이 남아 있는 동안 반복</a:t>
            </a:r>
          </a:p>
          <a:p>
            <a:pPr>
              <a:lnSpc>
                <a:spcPct val="120000"/>
              </a:lnSpc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       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value =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a.pop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(0)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기존 리스트에서 한 개를 꺼냄</a:t>
            </a:r>
          </a:p>
          <a:p>
            <a:pPr>
              <a:lnSpc>
                <a:spcPct val="120000"/>
              </a:lnSpc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      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ins_idx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=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find_ins_idx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(result, value)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꺼낸 값이 들어갈 적당한 위치 찾기</a:t>
            </a:r>
          </a:p>
          <a:p>
            <a:pPr>
              <a:lnSpc>
                <a:spcPct val="120000"/>
              </a:lnSpc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      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result.insert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ins_idx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, value)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찾은 위치에 값 삽입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(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이후 값은 한 칸씩 밀려남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return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result</a:t>
            </a:r>
          </a:p>
          <a:p>
            <a:pPr>
              <a:lnSpc>
                <a:spcPct val="120000"/>
              </a:lnSpc>
            </a:pP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d = [2, 4, 5, 1, 3]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rgbClr val="0070C0"/>
                </a:solidFill>
                <a:latin typeface="+mn-ea"/>
              </a:rPr>
              <a:t>print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ins_sort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(d))</a:t>
            </a:r>
          </a:p>
        </p:txBody>
      </p:sp>
      <p:sp>
        <p:nvSpPr>
          <p:cNvPr id="14" name="아래쪽 화살표 13"/>
          <p:cNvSpPr/>
          <p:nvPr/>
        </p:nvSpPr>
        <p:spPr>
          <a:xfrm rot="10800000">
            <a:off x="4417299" y="1844955"/>
            <a:ext cx="174402" cy="197963"/>
          </a:xfrm>
          <a:prstGeom prst="downArrow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144225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09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삽입 정렬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2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쉽게 설명한 삽입 정렬 알고리즘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056" y="1821131"/>
            <a:ext cx="8176904" cy="485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solidFill>
                  <a:srgbClr val="EB666E"/>
                </a:solidFill>
                <a:latin typeface="+mn-ea"/>
              </a:rPr>
              <a:t>실행 결과</a:t>
            </a:r>
            <a:endParaRPr lang="en-US" altLang="ko-KR" dirty="0">
              <a:latin typeface="+mn-ea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960022" y="2575866"/>
            <a:ext cx="7088957" cy="3699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</a:rPr>
              <a:t>[1, 2, 3, 4, 5]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635425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09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삽입 정렬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2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쉽게 설명한 삽입 정렬 알고리즘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056" y="1821131"/>
            <a:ext cx="8020383" cy="493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/>
              <a:t>프로그램이</a:t>
            </a:r>
            <a:r>
              <a:rPr lang="en-US" altLang="ko-KR" dirty="0"/>
              <a:t> </a:t>
            </a:r>
            <a:r>
              <a:rPr lang="ko-KR" altLang="en-US" dirty="0"/>
              <a:t>동작하는 원리</a:t>
            </a:r>
            <a:endParaRPr lang="en-US" altLang="ko-KR" dirty="0">
              <a:latin typeface="+mn-ea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7056" y="2631836"/>
            <a:ext cx="8020383" cy="32916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65000"/>
              </a:lnSpc>
              <a:buClr>
                <a:srgbClr val="EB666E"/>
              </a:buClr>
              <a:buFont typeface="+mj-lt"/>
              <a:buAutoNum type="arabicParenR"/>
            </a:pPr>
            <a:r>
              <a:rPr lang="ko-KR" altLang="en-US" dirty="0"/>
              <a:t>리스트 </a:t>
            </a:r>
            <a:r>
              <a:rPr lang="en-US" altLang="ko-KR" dirty="0"/>
              <a:t>a</a:t>
            </a:r>
            <a:r>
              <a:rPr lang="ko-KR" altLang="en-US" dirty="0"/>
              <a:t>에 아직 자료가 남아 있다면 → </a:t>
            </a:r>
            <a:r>
              <a:rPr lang="en-US" altLang="ko-KR" dirty="0"/>
              <a:t>while a:</a:t>
            </a:r>
          </a:p>
          <a:p>
            <a:pPr marL="342900" indent="-342900">
              <a:lnSpc>
                <a:spcPct val="165000"/>
              </a:lnSpc>
              <a:buClr>
                <a:srgbClr val="EB666E"/>
              </a:buClr>
              <a:buFont typeface="+mj-lt"/>
              <a:buAutoNum type="arabicParenR"/>
            </a:pPr>
            <a:r>
              <a:rPr lang="ko-KR" altLang="en-US" dirty="0"/>
              <a:t>남은 자료 중에 맨 앞의 값을 </a:t>
            </a:r>
            <a:r>
              <a:rPr lang="ko-KR" altLang="en-US" dirty="0" err="1"/>
              <a:t>뽑아냄</a:t>
            </a:r>
            <a:r>
              <a:rPr lang="en-US" altLang="ko-KR" dirty="0"/>
              <a:t> → value = </a:t>
            </a:r>
            <a:r>
              <a:rPr lang="en-US" altLang="ko-KR" dirty="0" err="1"/>
              <a:t>a.pop</a:t>
            </a:r>
            <a:r>
              <a:rPr lang="en-US" altLang="ko-KR" dirty="0"/>
              <a:t>(0)</a:t>
            </a:r>
          </a:p>
          <a:p>
            <a:pPr marL="342900" indent="-342900">
              <a:lnSpc>
                <a:spcPct val="165000"/>
              </a:lnSpc>
              <a:buClr>
                <a:srgbClr val="EB666E"/>
              </a:buClr>
              <a:buFont typeface="+mj-lt"/>
              <a:buAutoNum type="arabicParenR"/>
            </a:pPr>
            <a:r>
              <a:rPr lang="ko-KR" altLang="en-US" dirty="0"/>
              <a:t>그 값이 </a:t>
            </a:r>
            <a:r>
              <a:rPr lang="en-US" altLang="ko-KR" dirty="0"/>
              <a:t>result</a:t>
            </a:r>
            <a:r>
              <a:rPr lang="ko-KR" altLang="en-US" dirty="0"/>
              <a:t>의 어느 위치에 들어가면 적당할지 알아냄</a:t>
            </a:r>
            <a:br>
              <a:rPr lang="en-US" altLang="ko-KR" dirty="0"/>
            </a:br>
            <a:r>
              <a:rPr lang="en-US" altLang="ko-KR" dirty="0"/>
              <a:t>→ </a:t>
            </a:r>
            <a:r>
              <a:rPr lang="en-US" altLang="ko-KR" dirty="0" err="1"/>
              <a:t>ins_idx</a:t>
            </a:r>
            <a:r>
              <a:rPr lang="en-US" altLang="ko-KR" dirty="0"/>
              <a:t> = </a:t>
            </a:r>
            <a:r>
              <a:rPr lang="en-US" altLang="ko-KR" dirty="0" err="1"/>
              <a:t>find_ins_idx</a:t>
            </a:r>
            <a:r>
              <a:rPr lang="en-US" altLang="ko-KR" dirty="0"/>
              <a:t>(result, value)</a:t>
            </a:r>
          </a:p>
          <a:p>
            <a:pPr marL="342900" indent="-342900">
              <a:lnSpc>
                <a:spcPct val="165000"/>
              </a:lnSpc>
              <a:buClr>
                <a:srgbClr val="EB666E"/>
              </a:buClr>
              <a:buFont typeface="+mj-lt"/>
              <a:buAutoNum type="arabicParenR"/>
            </a:pPr>
            <a:r>
              <a:rPr lang="en-US" altLang="ko-KR" dirty="0"/>
              <a:t>3</a:t>
            </a:r>
            <a:r>
              <a:rPr lang="ko-KR" altLang="en-US" dirty="0"/>
              <a:t>번 과정에서 찾아낸 위치에 뽑아낸 값을 삽입</a:t>
            </a:r>
            <a:br>
              <a:rPr lang="en-US" altLang="ko-KR" dirty="0"/>
            </a:br>
            <a:r>
              <a:rPr lang="en-US" altLang="ko-KR" dirty="0"/>
              <a:t>→ </a:t>
            </a:r>
            <a:r>
              <a:rPr lang="en-US" altLang="ko-KR" dirty="0" err="1"/>
              <a:t>result.insert</a:t>
            </a:r>
            <a:r>
              <a:rPr lang="en-US" altLang="ko-KR" dirty="0"/>
              <a:t>(</a:t>
            </a:r>
            <a:r>
              <a:rPr lang="en-US" altLang="ko-KR" dirty="0" err="1"/>
              <a:t>ins_idx</a:t>
            </a:r>
            <a:r>
              <a:rPr lang="en-US" altLang="ko-KR" dirty="0"/>
              <a:t>, value)</a:t>
            </a:r>
          </a:p>
          <a:p>
            <a:pPr marL="342900" indent="-342900">
              <a:lnSpc>
                <a:spcPct val="165000"/>
              </a:lnSpc>
              <a:buClr>
                <a:srgbClr val="EB666E"/>
              </a:buClr>
              <a:buFont typeface="+mj-lt"/>
              <a:buAutoNum type="arabicParenR"/>
            </a:pPr>
            <a:r>
              <a:rPr lang="en-US" altLang="ko-KR" dirty="0"/>
              <a:t>1</a:t>
            </a:r>
            <a:r>
              <a:rPr lang="ko-KR" altLang="en-US" dirty="0"/>
              <a:t>번 과정으로 돌아가 자료가 없을 때까지 반복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45715806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09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삽입 정렬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2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쉽게 설명한 삽입 정렬 알고리즘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056" y="1821131"/>
            <a:ext cx="8020383" cy="493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입력으로 주어진 리스트 </a:t>
            </a:r>
            <a:r>
              <a:rPr lang="en-US" altLang="ko-KR" dirty="0">
                <a:latin typeface="+mn-ea"/>
              </a:rPr>
              <a:t>[2, 4, 5, 1, 3]</a:t>
            </a:r>
            <a:r>
              <a:rPr lang="ko-KR" altLang="en-US" dirty="0">
                <a:latin typeface="+mn-ea"/>
              </a:rPr>
              <a:t>이 정렬되는 과정</a:t>
            </a:r>
            <a:endParaRPr lang="en-US" altLang="ko-KR" dirty="0">
              <a:latin typeface="+mn-ea"/>
            </a:endParaRP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6205" y="2527784"/>
            <a:ext cx="3827150" cy="3329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18805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09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삽입 정렬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2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쉽게 설명한 삽입 정렬 알고리즘</a:t>
            </a: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582" y="1972476"/>
            <a:ext cx="5344458" cy="4236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747799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09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삽입 정렬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2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쉽게 설명한 삽입 정렬 알고리즘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056" y="1821131"/>
            <a:ext cx="8020383" cy="1920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/>
              <a:t>프로그램 중간에 </a:t>
            </a:r>
            <a:r>
              <a:rPr lang="en-US" altLang="ko-KR" dirty="0"/>
              <a:t>print </a:t>
            </a:r>
            <a:r>
              <a:rPr lang="ko-KR" altLang="en-US" dirty="0"/>
              <a:t>문을 적절히 추가하면 알고리즘이 진행되는 과정을 </a:t>
            </a:r>
            <a:br>
              <a:rPr lang="en-US" altLang="ko-KR" dirty="0"/>
            </a:br>
            <a:r>
              <a:rPr lang="ko-KR" altLang="en-US" dirty="0"/>
              <a:t>확인할 수 있어 알고리즘의 동작 원리를 파악하는 데 큰 도움이 됨</a:t>
            </a:r>
            <a:endParaRPr lang="en-US" altLang="ko-KR" dirty="0"/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en-US" altLang="ko-KR" dirty="0" err="1"/>
              <a:t>ins_sort</a:t>
            </a:r>
            <a:r>
              <a:rPr lang="en-US" altLang="ko-KR" dirty="0"/>
              <a:t>() </a:t>
            </a:r>
            <a:r>
              <a:rPr lang="ko-KR" altLang="en-US" dirty="0"/>
              <a:t>함수의 </a:t>
            </a:r>
            <a:r>
              <a:rPr lang="en-US" altLang="ko-KR" dirty="0" err="1"/>
              <a:t>result.insert</a:t>
            </a:r>
            <a:r>
              <a:rPr lang="en-US" altLang="ko-KR" dirty="0"/>
              <a:t>(</a:t>
            </a:r>
            <a:r>
              <a:rPr lang="en-US" altLang="ko-KR" dirty="0" err="1"/>
              <a:t>ins_idx</a:t>
            </a:r>
            <a:r>
              <a:rPr lang="en-US" altLang="ko-KR" dirty="0"/>
              <a:t>, value) </a:t>
            </a:r>
            <a:r>
              <a:rPr lang="ko-KR" altLang="en-US" dirty="0"/>
              <a:t>바로 다음 줄에 </a:t>
            </a:r>
            <a:r>
              <a:rPr lang="en-US" altLang="ko-KR" dirty="0"/>
              <a:t>print(a, result)</a:t>
            </a:r>
            <a:r>
              <a:rPr lang="ko-KR" altLang="en-US" dirty="0"/>
              <a:t>를 추가하면 다음과 같은 결과를 얻을 수 있음</a:t>
            </a:r>
            <a:endParaRPr lang="en-US" altLang="ko-KR" dirty="0">
              <a:latin typeface="+mn-ea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960022" y="3887890"/>
            <a:ext cx="7088957" cy="1374094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</a:rPr>
              <a:t>[4, 5, 1, 3] [2]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</a:rPr>
              <a:t>[5, 1, 3] [2, 4]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</a:rPr>
              <a:t>[1, 3] [2, 4, 5]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</a:rPr>
              <a:t>[3] [1, 2, 4, 5]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</a:rPr>
              <a:t>[] [1, 2, 3, 4, 5]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431080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09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삽입 정렬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3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일반적인 삽입 정렬 알고리즘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056" y="1821131"/>
            <a:ext cx="8020383" cy="549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solidFill>
                  <a:srgbClr val="EB666E"/>
                </a:solidFill>
              </a:rPr>
              <a:t>프로그램</a:t>
            </a:r>
            <a:r>
              <a:rPr lang="ko-KR" altLang="en-US" dirty="0"/>
              <a:t> </a:t>
            </a:r>
            <a:r>
              <a:rPr lang="en-US" altLang="ko-KR" dirty="0">
                <a:solidFill>
                  <a:srgbClr val="EB666E"/>
                </a:solidFill>
              </a:rPr>
              <a:t>9-2</a:t>
            </a:r>
            <a:r>
              <a:rPr lang="en-US" altLang="ko-KR" dirty="0"/>
              <a:t> </a:t>
            </a:r>
            <a:r>
              <a:rPr lang="ko-KR" altLang="en-US" dirty="0"/>
              <a:t>일반적인 삽입 알고리즘</a:t>
            </a:r>
            <a:endParaRPr lang="en-US" altLang="ko-KR" dirty="0">
              <a:latin typeface="+mn-ea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1045269" y="2917455"/>
            <a:ext cx="7088957" cy="2889455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삽입 정렬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입력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: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리스트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a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출력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: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없음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(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입력으로 주어진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a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가 정렬됨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)</a:t>
            </a:r>
          </a:p>
          <a:p>
            <a:pPr>
              <a:lnSpc>
                <a:spcPct val="120000"/>
              </a:lnSpc>
            </a:pPr>
            <a:endParaRPr lang="en-US" altLang="ko-KR" sz="1400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400" dirty="0" err="1">
                <a:solidFill>
                  <a:srgbClr val="FF822D"/>
                </a:solidFill>
                <a:latin typeface="+mn-ea"/>
              </a:rPr>
              <a:t>def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 err="1">
                <a:solidFill>
                  <a:srgbClr val="0070C0"/>
                </a:solidFill>
                <a:latin typeface="+mn-ea"/>
              </a:rPr>
              <a:t>ins_sort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(a):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n = </a:t>
            </a:r>
            <a:r>
              <a:rPr lang="en-US" altLang="ko-KR" sz="1400" dirty="0" err="1">
                <a:solidFill>
                  <a:srgbClr val="0070C0"/>
                </a:solidFill>
                <a:latin typeface="+mn-ea"/>
              </a:rPr>
              <a:t>len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(a)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for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i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in </a:t>
            </a:r>
            <a:r>
              <a:rPr lang="en-US" altLang="ko-KR" sz="1400" dirty="0">
                <a:solidFill>
                  <a:srgbClr val="0070C0"/>
                </a:solidFill>
                <a:latin typeface="+mn-ea"/>
              </a:rPr>
              <a:t>range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(1, n):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1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부터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n-1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까지</a:t>
            </a:r>
          </a:p>
          <a:p>
            <a:pPr>
              <a:lnSpc>
                <a:spcPct val="120000"/>
              </a:lnSpc>
            </a:pP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      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en-US" altLang="ko-KR" sz="1400" dirty="0" err="1">
                <a:solidFill>
                  <a:schemeClr val="accent2">
                    <a:lumMod val="50000"/>
                  </a:schemeClr>
                </a:solidFill>
                <a:latin typeface="+mn-ea"/>
              </a:rPr>
              <a:t>i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번 위치의 값을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key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로 저장</a:t>
            </a:r>
          </a:p>
          <a:p>
            <a:pPr>
              <a:lnSpc>
                <a:spcPct val="120000"/>
              </a:lnSpc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       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key = a[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i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]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        # j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를 </a:t>
            </a:r>
            <a:r>
              <a:rPr lang="en-US" altLang="ko-KR" sz="1400" dirty="0" err="1">
                <a:solidFill>
                  <a:schemeClr val="accent2">
                    <a:lumMod val="50000"/>
                  </a:schemeClr>
                </a:solidFill>
                <a:latin typeface="+mn-ea"/>
              </a:rPr>
              <a:t>i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바로 왼쪽 위치로 저장</a:t>
            </a:r>
          </a:p>
          <a:p>
            <a:pPr>
              <a:lnSpc>
                <a:spcPct val="120000"/>
              </a:lnSpc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       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j =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i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- 1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1001" y="2609681"/>
            <a:ext cx="31265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EB666E"/>
                </a:solidFill>
                <a:latin typeface="+mn-ea"/>
              </a:rPr>
              <a:t>▼</a:t>
            </a:r>
            <a:r>
              <a:rPr lang="ko-KR" altLang="en-US" sz="1400" dirty="0">
                <a:latin typeface="+mn-ea"/>
              </a:rPr>
              <a:t> </a:t>
            </a:r>
            <a:r>
              <a:rPr lang="ko-KR" altLang="en-US" sz="1400" dirty="0">
                <a:solidFill>
                  <a:srgbClr val="EB666E"/>
                </a:solidFill>
                <a:latin typeface="+mn-ea"/>
              </a:rPr>
              <a:t>예제 소스 </a:t>
            </a:r>
            <a:r>
              <a:rPr lang="en-US" altLang="ko-KR" sz="1400" dirty="0">
                <a:latin typeface="+mn-ea"/>
              </a:rPr>
              <a:t>p09-2-isort.py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4" name="아래쪽 화살표 13"/>
          <p:cNvSpPr/>
          <p:nvPr/>
        </p:nvSpPr>
        <p:spPr>
          <a:xfrm>
            <a:off x="4502546" y="5950924"/>
            <a:ext cx="174402" cy="197963"/>
          </a:xfrm>
          <a:prstGeom prst="downArrow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94794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09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삽입 정렬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3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일반적인 삽입 정렬 알고리즘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960022" y="2232443"/>
            <a:ext cx="7088957" cy="2396118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     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리스트의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j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번 위치에 있는 값과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key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를 비교해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key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가 삽입될 적절한 위치를 찾음</a:t>
            </a:r>
          </a:p>
          <a:p>
            <a:pPr>
              <a:lnSpc>
                <a:spcPct val="120000"/>
              </a:lnSpc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      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while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j &gt;= 0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and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a[j] &gt; key: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        a[j + 1] = a[j]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삽입할 공간이 생기도록 값을 오른쪽으로 한 칸 이동</a:t>
            </a:r>
          </a:p>
          <a:p>
            <a:pPr>
              <a:lnSpc>
                <a:spcPct val="120000"/>
              </a:lnSpc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           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j -= 1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    a[j + 1] = key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찾은 삽입 위치에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key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를 저장</a:t>
            </a:r>
          </a:p>
          <a:p>
            <a:pPr>
              <a:lnSpc>
                <a:spcPct val="120000"/>
              </a:lnSpc>
            </a:pPr>
            <a:endParaRPr lang="ko-KR" altLang="en-US" sz="1400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d = [2, 4, 5, 1, 3]</a:t>
            </a:r>
          </a:p>
          <a:p>
            <a:pPr>
              <a:lnSpc>
                <a:spcPct val="120000"/>
              </a:lnSpc>
            </a:pP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ins_sort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(d)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rgbClr val="0070C0"/>
                </a:solidFill>
                <a:latin typeface="+mn-ea"/>
              </a:rPr>
              <a:t>print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(d)</a:t>
            </a:r>
          </a:p>
        </p:txBody>
      </p:sp>
      <p:sp>
        <p:nvSpPr>
          <p:cNvPr id="9" name="아래쪽 화살표 8"/>
          <p:cNvSpPr/>
          <p:nvPr/>
        </p:nvSpPr>
        <p:spPr>
          <a:xfrm rot="10800000">
            <a:off x="4417299" y="1844955"/>
            <a:ext cx="174402" cy="197963"/>
          </a:xfrm>
          <a:prstGeom prst="downArrow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647056" y="4962775"/>
            <a:ext cx="8176904" cy="485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solidFill>
                  <a:srgbClr val="EB666E"/>
                </a:solidFill>
                <a:latin typeface="+mn-ea"/>
              </a:rPr>
              <a:t>실행 결과</a:t>
            </a:r>
            <a:endParaRPr lang="en-US" altLang="ko-KR" dirty="0">
              <a:latin typeface="+mn-ea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960022" y="5717510"/>
            <a:ext cx="7088957" cy="3699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</a:rPr>
              <a:t>[1, 2, 3, 4, 5]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726795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09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삽입 정렬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4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알고리즘 분석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056" y="1821131"/>
            <a:ext cx="8020383" cy="28346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/>
              <a:t>삽입 정렬 알고리즘의 입력으로 이미 정렬이 끝난 리스트</a:t>
            </a:r>
            <a:r>
              <a:rPr lang="en-US" altLang="ko-KR" dirty="0"/>
              <a:t>, </a:t>
            </a:r>
            <a:r>
              <a:rPr lang="ko-KR" altLang="en-US" dirty="0"/>
              <a:t>예를 들어 </a:t>
            </a:r>
            <a:r>
              <a:rPr lang="en-US" altLang="ko-KR" dirty="0">
                <a:latin typeface="+mn-ea"/>
              </a:rPr>
              <a:t>[1, 2, 3, 4, 5]</a:t>
            </a:r>
            <a:r>
              <a:rPr lang="ko-KR" altLang="en-US" dirty="0">
                <a:latin typeface="+mn-ea"/>
              </a:rPr>
              <a:t>와 </a:t>
            </a:r>
            <a:r>
              <a:rPr lang="ko-KR" altLang="en-US" dirty="0"/>
              <a:t>같은 리스트를 넣어 주면 </a:t>
            </a:r>
            <a:r>
              <a:rPr lang="en-US" altLang="ko-KR" dirty="0"/>
              <a:t>O(n)</a:t>
            </a:r>
            <a:r>
              <a:rPr lang="ko-KR" altLang="en-US" dirty="0"/>
              <a:t>의 계산 복잡도로 정렬을 마칠 수 있음</a:t>
            </a:r>
            <a:br>
              <a:rPr lang="en-US" altLang="ko-KR" dirty="0">
                <a:latin typeface="+mn-ea"/>
              </a:rPr>
            </a:br>
            <a:r>
              <a:rPr lang="ko-KR" altLang="en-US" dirty="0">
                <a:latin typeface="+mn-ea"/>
              </a:rPr>
              <a:t>→ 이런 경우는 특별한 경우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일반적인 입력일 때 삽입 정렬의 계산 복잡도는 선택 정렬과 같은 </a:t>
            </a:r>
            <a:r>
              <a:rPr lang="en-US" altLang="ko-KR" dirty="0">
                <a:latin typeface="+mn-ea"/>
              </a:rPr>
              <a:t>O(n</a:t>
            </a:r>
            <a:r>
              <a:rPr lang="en-US" altLang="ko-KR" baseline="30000" dirty="0">
                <a:latin typeface="+mn-ea"/>
              </a:rPr>
              <a:t>2</a:t>
            </a:r>
            <a:r>
              <a:rPr lang="en-US" altLang="ko-KR" dirty="0">
                <a:latin typeface="+mn-ea"/>
              </a:rPr>
              <a:t>)</a:t>
            </a: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따라서 선택 정렬과 마찬가지로 정렬할 입력 크기가 크면 정렬하는 데 </a:t>
            </a:r>
            <a:br>
              <a:rPr lang="en-US" altLang="ko-KR" dirty="0">
                <a:latin typeface="+mn-ea"/>
              </a:rPr>
            </a:br>
            <a:r>
              <a:rPr lang="ko-KR" altLang="en-US" dirty="0">
                <a:latin typeface="+mn-ea"/>
              </a:rPr>
              <a:t>시간이 굉장히 오래 걸림</a:t>
            </a:r>
            <a:endParaRPr lang="en-US" altLang="ko-KR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9060730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09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삽입 정렬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연습 문제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056" y="1821131"/>
            <a:ext cx="8020383" cy="2682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en-US" altLang="ko-KR" dirty="0">
                <a:solidFill>
                  <a:srgbClr val="EB666E"/>
                </a:solidFill>
                <a:latin typeface="+mn-ea"/>
              </a:rPr>
              <a:t>9-1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일반적인 삽입 정렬 알고리즘을 사용해서 리스트 </a:t>
            </a:r>
            <a:r>
              <a:rPr lang="en-US" altLang="ko-KR" dirty="0">
                <a:latin typeface="+mn-ea"/>
              </a:rPr>
              <a:t>[2, 4, 5, 1, 3]</a:t>
            </a:r>
            <a:r>
              <a:rPr lang="ko-KR" altLang="en-US" dirty="0">
                <a:latin typeface="+mn-ea"/>
              </a:rPr>
              <a:t>을 정렬 하는 과정을 적어 보세요</a:t>
            </a:r>
            <a:r>
              <a:rPr lang="en-US" altLang="ko-KR" dirty="0">
                <a:latin typeface="+mn-ea"/>
              </a:rPr>
              <a:t>.</a:t>
            </a: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endParaRPr lang="en-US" altLang="ko-KR" sz="1200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en-US" altLang="ko-KR" dirty="0">
                <a:solidFill>
                  <a:srgbClr val="EB666E"/>
                </a:solidFill>
                <a:latin typeface="+mn-ea"/>
              </a:rPr>
              <a:t>9-2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문제 </a:t>
            </a:r>
            <a:r>
              <a:rPr lang="en-US" altLang="ko-KR" dirty="0">
                <a:latin typeface="+mn-ea"/>
              </a:rPr>
              <a:t>9</a:t>
            </a:r>
            <a:r>
              <a:rPr lang="ko-KR" altLang="en-US" dirty="0">
                <a:latin typeface="+mn-ea"/>
              </a:rPr>
              <a:t>에서 설명한 정렬 알고리즘은 숫자를 작은 수에서 큰 수 순서로 나열하는 오름차순 정렬이었습니다</a:t>
            </a:r>
            <a:r>
              <a:rPr lang="en-US" altLang="ko-KR" dirty="0">
                <a:latin typeface="+mn-ea"/>
              </a:rPr>
              <a:t>. </a:t>
            </a:r>
            <a:r>
              <a:rPr lang="ko-KR" altLang="en-US" dirty="0">
                <a:latin typeface="+mn-ea"/>
              </a:rPr>
              <a:t>이를 큰 수에서 작은 수 순서로 나열하는 내림차순 정렬로 바꾸려면 프로그램의 어느 부분을 바꿔야 할까요</a:t>
            </a:r>
            <a:r>
              <a:rPr lang="en-US" altLang="ko-KR" dirty="0">
                <a:latin typeface="+mn-ea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09580979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09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삽입 정렬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연습 문제 풀이</a:t>
            </a:r>
          </a:p>
        </p:txBody>
      </p:sp>
      <p:sp>
        <p:nvSpPr>
          <p:cNvPr id="8" name="모서리가 둥근 직사각형 7"/>
          <p:cNvSpPr/>
          <p:nvPr/>
        </p:nvSpPr>
        <p:spPr>
          <a:xfrm>
            <a:off x="3227832" y="673656"/>
            <a:ext cx="740664" cy="380917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</a:rPr>
              <a:t>부록 </a:t>
            </a:r>
            <a:r>
              <a:rPr lang="en-US" altLang="ko-KR" sz="1400" b="1" dirty="0">
                <a:solidFill>
                  <a:schemeClr val="bg1"/>
                </a:solidFill>
              </a:rPr>
              <a:t>A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7056" y="1821131"/>
            <a:ext cx="8176904" cy="35963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en-US" altLang="ko-KR" dirty="0">
                <a:solidFill>
                  <a:srgbClr val="EB666E"/>
                </a:solidFill>
                <a:latin typeface="+mn-ea"/>
              </a:rPr>
              <a:t>9-1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삽입 정렬 과정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endParaRPr lang="en-US" altLang="ko-KR" sz="1200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일반적인 삽입 정렬은 처리할 대상 범위에 있는 맨 앞 값을 적절한 위치에 넣는 과정을 반복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이 과정이 한 번 끝날 때마다 대상 범위에 있는 맨 앞의 값이 제 위치를 </a:t>
            </a:r>
            <a:br>
              <a:rPr lang="en-US" altLang="ko-KR" dirty="0">
                <a:latin typeface="+mn-ea"/>
              </a:rPr>
            </a:br>
            <a:r>
              <a:rPr lang="ko-KR" altLang="en-US" dirty="0">
                <a:latin typeface="+mn-ea"/>
              </a:rPr>
              <a:t>찾아 가므로 정렬 대상 범위는 하나씩 줄어듦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이미 정렬이 끝난 부분과 앞으로 처리될 대상 범위 사이에 세로 선</a:t>
            </a:r>
            <a:r>
              <a:rPr lang="en-US" altLang="ko-KR" dirty="0">
                <a:latin typeface="+mn-ea"/>
              </a:rPr>
              <a:t>(|)</a:t>
            </a:r>
            <a:r>
              <a:rPr lang="ko-KR" altLang="en-US" dirty="0">
                <a:latin typeface="+mn-ea"/>
              </a:rPr>
              <a:t>을 </a:t>
            </a:r>
            <a:br>
              <a:rPr lang="en-US" altLang="ko-KR" dirty="0">
                <a:latin typeface="+mn-ea"/>
              </a:rPr>
            </a:br>
            <a:r>
              <a:rPr lang="ko-KR" altLang="en-US" dirty="0">
                <a:latin typeface="+mn-ea"/>
              </a:rPr>
              <a:t>넣어 구분</a:t>
            </a:r>
            <a:endParaRPr lang="en-US" altLang="ko-KR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5054432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09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삽입 정렬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연습 문제 풀이</a:t>
            </a:r>
          </a:p>
        </p:txBody>
      </p:sp>
      <p:sp>
        <p:nvSpPr>
          <p:cNvPr id="8" name="모서리가 둥근 직사각형 7"/>
          <p:cNvSpPr/>
          <p:nvPr/>
        </p:nvSpPr>
        <p:spPr>
          <a:xfrm>
            <a:off x="3227832" y="673656"/>
            <a:ext cx="740664" cy="380917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</a:rPr>
              <a:t>부록 </a:t>
            </a:r>
            <a:r>
              <a:rPr lang="en-US" altLang="ko-KR" sz="1400" b="1" dirty="0">
                <a:solidFill>
                  <a:schemeClr val="bg1"/>
                </a:solidFill>
              </a:rPr>
              <a:t>A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53" y="1985438"/>
            <a:ext cx="6982293" cy="4210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96009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09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삽입 정렬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연습 문제 풀이</a:t>
            </a:r>
          </a:p>
        </p:txBody>
      </p:sp>
      <p:sp>
        <p:nvSpPr>
          <p:cNvPr id="8" name="모서리가 둥근 직사각형 7"/>
          <p:cNvSpPr/>
          <p:nvPr/>
        </p:nvSpPr>
        <p:spPr>
          <a:xfrm>
            <a:off x="3227832" y="673656"/>
            <a:ext cx="740664" cy="380917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</a:rPr>
              <a:t>부록 </a:t>
            </a:r>
            <a:r>
              <a:rPr lang="en-US" altLang="ko-KR" sz="1400" b="1" dirty="0">
                <a:solidFill>
                  <a:schemeClr val="bg1"/>
                </a:solidFill>
              </a:rPr>
              <a:t>A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7056" y="1821131"/>
            <a:ext cx="8176904" cy="17681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en-US" altLang="ko-KR" dirty="0">
                <a:solidFill>
                  <a:srgbClr val="EB666E"/>
                </a:solidFill>
                <a:latin typeface="+mn-ea"/>
              </a:rPr>
              <a:t>9-2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내림차순 삽입 정렬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endParaRPr lang="en-US" altLang="ko-KR" sz="1200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오름차순 정렬에서 키</a:t>
            </a:r>
            <a:r>
              <a:rPr lang="en-US" altLang="ko-KR" dirty="0">
                <a:latin typeface="+mn-ea"/>
              </a:rPr>
              <a:t>(key)</a:t>
            </a:r>
            <a:r>
              <a:rPr lang="ko-KR" altLang="en-US" dirty="0">
                <a:latin typeface="+mn-ea"/>
              </a:rPr>
              <a:t>를 비교하는 부분</a:t>
            </a:r>
            <a:r>
              <a:rPr lang="en-US" altLang="ko-KR" dirty="0">
                <a:latin typeface="+mn-ea"/>
              </a:rPr>
              <a:t>(a[j] &gt; key)</a:t>
            </a:r>
            <a:r>
              <a:rPr lang="ko-KR" altLang="en-US" dirty="0">
                <a:latin typeface="+mn-ea"/>
              </a:rPr>
              <a:t>의 부등호를 반대로 하면 내림차순 정렬 프로그램이 됨</a:t>
            </a:r>
            <a:endParaRPr lang="en-US" altLang="ko-KR" dirty="0">
              <a:latin typeface="+mn-ea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1045269" y="4171678"/>
            <a:ext cx="7088957" cy="1593071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내림차순 삽입 정렬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입력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: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리스트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a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출력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: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없음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(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입력으로 주어진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a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가 정렬됨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)</a:t>
            </a:r>
          </a:p>
          <a:p>
            <a:pPr>
              <a:lnSpc>
                <a:spcPct val="120000"/>
              </a:lnSpc>
            </a:pPr>
            <a:endParaRPr lang="en-US" altLang="ko-KR" sz="1400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400" dirty="0" err="1">
                <a:solidFill>
                  <a:srgbClr val="FF822D"/>
                </a:solidFill>
                <a:latin typeface="+mn-ea"/>
              </a:rPr>
              <a:t>def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 err="1">
                <a:solidFill>
                  <a:srgbClr val="0070C0"/>
                </a:solidFill>
                <a:latin typeface="+mn-ea"/>
              </a:rPr>
              <a:t>ins_sort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(a):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n = </a:t>
            </a:r>
            <a:r>
              <a:rPr lang="en-US" altLang="ko-KR" sz="1400" dirty="0" err="1">
                <a:solidFill>
                  <a:srgbClr val="0070C0"/>
                </a:solidFill>
                <a:latin typeface="+mn-ea"/>
              </a:rPr>
              <a:t>len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1001" y="3863903"/>
            <a:ext cx="31265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EB666E"/>
                </a:solidFill>
                <a:latin typeface="+mn-ea"/>
              </a:rPr>
              <a:t>▼</a:t>
            </a:r>
            <a:r>
              <a:rPr lang="ko-KR" altLang="en-US" sz="1400" dirty="0">
                <a:latin typeface="+mn-ea"/>
              </a:rPr>
              <a:t> </a:t>
            </a:r>
            <a:r>
              <a:rPr lang="ko-KR" altLang="en-US" sz="1400" dirty="0">
                <a:solidFill>
                  <a:srgbClr val="EB666E"/>
                </a:solidFill>
                <a:latin typeface="+mn-ea"/>
              </a:rPr>
              <a:t>예제 소스 </a:t>
            </a:r>
            <a:r>
              <a:rPr lang="en-US" altLang="ko-KR" sz="1400" dirty="0">
                <a:latin typeface="+mn-ea"/>
              </a:rPr>
              <a:t>e09-2-isort.py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6" name="아래쪽 화살표 15"/>
          <p:cNvSpPr/>
          <p:nvPr/>
        </p:nvSpPr>
        <p:spPr>
          <a:xfrm>
            <a:off x="4502546" y="5988596"/>
            <a:ext cx="174402" cy="197963"/>
          </a:xfrm>
          <a:prstGeom prst="downArrow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995100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/>
          <p:cNvSpPr/>
          <p:nvPr/>
        </p:nvSpPr>
        <p:spPr>
          <a:xfrm>
            <a:off x="2885119" y="3091667"/>
            <a:ext cx="800761" cy="188861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960022" y="2232443"/>
            <a:ext cx="7088957" cy="2886312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for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i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in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>
                <a:solidFill>
                  <a:srgbClr val="0070C0"/>
                </a:solidFill>
                <a:latin typeface="+mn-ea"/>
              </a:rPr>
              <a:t>range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(1, n):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   key = a[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i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]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   j =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i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- 1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  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while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j &gt;= 0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and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a[j] &lt; key: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부등호 방향 뒤집기</a:t>
            </a:r>
          </a:p>
          <a:p>
            <a:pPr>
              <a:lnSpc>
                <a:spcPct val="120000"/>
              </a:lnSpc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          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a[j + 1] = a[j]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       j -= 1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   a[j + 1] = key</a:t>
            </a:r>
          </a:p>
          <a:p>
            <a:pPr>
              <a:lnSpc>
                <a:spcPct val="120000"/>
              </a:lnSpc>
            </a:pP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d = [2, 4, 5, 1, 3]</a:t>
            </a:r>
          </a:p>
          <a:p>
            <a:pPr>
              <a:lnSpc>
                <a:spcPct val="120000"/>
              </a:lnSpc>
            </a:pP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ins_sort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(d)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rgbClr val="0070C0"/>
                </a:solidFill>
                <a:latin typeface="+mn-ea"/>
              </a:rPr>
              <a:t>print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(d)</a:t>
            </a:r>
          </a:p>
        </p:txBody>
      </p:sp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09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삽입 정렬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연습 문제 풀이</a:t>
            </a:r>
          </a:p>
        </p:txBody>
      </p:sp>
      <p:sp>
        <p:nvSpPr>
          <p:cNvPr id="8" name="모서리가 둥근 직사각형 7"/>
          <p:cNvSpPr/>
          <p:nvPr/>
        </p:nvSpPr>
        <p:spPr>
          <a:xfrm>
            <a:off x="3227832" y="673656"/>
            <a:ext cx="740664" cy="380917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</a:rPr>
              <a:t>부록 </a:t>
            </a:r>
            <a:r>
              <a:rPr lang="en-US" altLang="ko-KR" sz="1400" b="1" dirty="0">
                <a:solidFill>
                  <a:schemeClr val="bg1"/>
                </a:solidFill>
              </a:rPr>
              <a:t>A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sp>
        <p:nvSpPr>
          <p:cNvPr id="10" name="아래쪽 화살표 9"/>
          <p:cNvSpPr/>
          <p:nvPr/>
        </p:nvSpPr>
        <p:spPr>
          <a:xfrm rot="10800000">
            <a:off x="4417299" y="1844955"/>
            <a:ext cx="174402" cy="197963"/>
          </a:xfrm>
          <a:prstGeom prst="downArrow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971529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09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삽입 정렬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연습 문제 풀이</a:t>
            </a:r>
          </a:p>
        </p:txBody>
      </p:sp>
      <p:sp>
        <p:nvSpPr>
          <p:cNvPr id="8" name="모서리가 둥근 직사각형 7"/>
          <p:cNvSpPr/>
          <p:nvPr/>
        </p:nvSpPr>
        <p:spPr>
          <a:xfrm>
            <a:off x="3227832" y="673656"/>
            <a:ext cx="740664" cy="380917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</a:rPr>
              <a:t>부록 </a:t>
            </a:r>
            <a:r>
              <a:rPr lang="en-US" altLang="ko-KR" sz="1400" b="1" dirty="0">
                <a:solidFill>
                  <a:schemeClr val="bg1"/>
                </a:solidFill>
              </a:rPr>
              <a:t>A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7056" y="1821131"/>
            <a:ext cx="8176904" cy="485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solidFill>
                  <a:srgbClr val="EB666E"/>
                </a:solidFill>
                <a:latin typeface="+mn-ea"/>
              </a:rPr>
              <a:t>실행 결과</a:t>
            </a:r>
            <a:endParaRPr lang="en-US" altLang="ko-KR" dirty="0">
              <a:latin typeface="+mn-ea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960022" y="2575866"/>
            <a:ext cx="7088957" cy="3699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</a:rPr>
              <a:t>[5, 4, 3, 2, 1]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385938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179512" y="144016"/>
            <a:ext cx="8820472" cy="6525344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" name="직선 연결선 3"/>
          <p:cNvCxnSpPr/>
          <p:nvPr/>
        </p:nvCxnSpPr>
        <p:spPr>
          <a:xfrm>
            <a:off x="2819400" y="3634895"/>
            <a:ext cx="3494314" cy="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/>
          <p:cNvSpPr/>
          <p:nvPr/>
        </p:nvSpPr>
        <p:spPr>
          <a:xfrm>
            <a:off x="1" y="3076950"/>
            <a:ext cx="9144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28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 </a:t>
            </a:r>
            <a:r>
              <a:rPr lang="en-US" altLang="ko-KR" sz="28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10 </a:t>
            </a:r>
            <a:r>
              <a:rPr lang="ko-KR" altLang="en-US" sz="26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병합 정렬</a:t>
            </a:r>
          </a:p>
        </p:txBody>
      </p:sp>
    </p:spTree>
    <p:extLst>
      <p:ext uri="{BB962C8B-B14F-4D97-AF65-F5344CB8AC3E}">
        <p14:creationId xmlns:p14="http://schemas.microsoft.com/office/powerpoint/2010/main" val="90350925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10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병합 정렬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0</a:t>
            </a:r>
            <a:endParaRPr lang="ko-KR" altLang="en-US" sz="24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647057" y="1821131"/>
            <a:ext cx="7920872" cy="1920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65000"/>
              </a:lnSpc>
              <a:buClr>
                <a:srgbClr val="EB666E"/>
              </a:buClr>
            </a:pPr>
            <a:r>
              <a:rPr lang="ko-KR" altLang="en-US" b="1" dirty="0">
                <a:latin typeface="+mn-ea"/>
              </a:rPr>
              <a:t>리스트 안의 자료를 작은 수부터 큰 수 순서로 배열하는 정렬 알고리즘을 만들어 보세요</a:t>
            </a:r>
            <a:r>
              <a:rPr lang="en-US" altLang="ko-KR" b="1" dirty="0">
                <a:latin typeface="+mn-ea"/>
              </a:rPr>
              <a:t>.</a:t>
            </a:r>
          </a:p>
          <a:p>
            <a:pPr>
              <a:lnSpc>
                <a:spcPct val="165000"/>
              </a:lnSpc>
              <a:buClr>
                <a:srgbClr val="EB666E"/>
              </a:buClr>
            </a:pP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/>
              <a:t>재귀 호출을 사용해 정렬 문제를 더 빠르게 풀어 보자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04118847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10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병합 정렬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1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병합 정렬로 줄 세우기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056" y="1821131"/>
            <a:ext cx="8020383" cy="493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/>
              <a:t>줄 세우기를 통해 병합 정렬</a:t>
            </a:r>
            <a:r>
              <a:rPr lang="en-US" altLang="ko-KR" dirty="0"/>
              <a:t>(Merge sort) </a:t>
            </a:r>
            <a:r>
              <a:rPr lang="ko-KR" altLang="en-US" dirty="0"/>
              <a:t>과정을 생각해 보자</a:t>
            </a:r>
            <a:endParaRPr lang="en-US" altLang="ko-KR" dirty="0">
              <a:latin typeface="+mn-ea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7056" y="2631836"/>
            <a:ext cx="8020383" cy="374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65000"/>
              </a:lnSpc>
              <a:buClr>
                <a:srgbClr val="EB666E"/>
              </a:buClr>
              <a:buFont typeface="+mj-lt"/>
              <a:buAutoNum type="arabicParenR"/>
            </a:pPr>
            <a:r>
              <a:rPr lang="ko-KR" altLang="en-US" dirty="0">
                <a:latin typeface="+mn-ea"/>
              </a:rPr>
              <a:t>학생들에게 일일이 지시하는 것이 귀찮아진 선생님은 학생들이 알아서 줄을 설 수 있는 방법이 없을지 고민</a:t>
            </a:r>
            <a:r>
              <a:rPr lang="en-US" altLang="ko-KR" dirty="0">
                <a:latin typeface="+mn-ea"/>
              </a:rPr>
              <a:t>. </a:t>
            </a:r>
            <a:r>
              <a:rPr lang="ko-KR" altLang="en-US" dirty="0">
                <a:latin typeface="+mn-ea"/>
              </a:rPr>
              <a:t>열 명이나 되는 학생들에게 동시에 알아서 줄을 서라고 하면 너무 소란스러울 것 같아서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>
                <a:latin typeface="+mn-ea"/>
              </a:rPr>
              <a:t>다섯 명씩 두 조로 나누어 그 안에서 키 순서로 줄을 서라고 시킴</a:t>
            </a:r>
            <a:endParaRPr lang="en-US" altLang="ko-KR" dirty="0">
              <a:latin typeface="+mn-ea"/>
            </a:endParaRPr>
          </a:p>
          <a:p>
            <a:pPr marL="342900" indent="-342900">
              <a:lnSpc>
                <a:spcPct val="165000"/>
              </a:lnSpc>
              <a:buClr>
                <a:srgbClr val="EB666E"/>
              </a:buClr>
              <a:buFont typeface="+mj-lt"/>
              <a:buAutoNum type="arabicParenR"/>
            </a:pPr>
            <a:r>
              <a:rPr lang="ko-KR" altLang="en-US" dirty="0">
                <a:latin typeface="+mn-ea"/>
              </a:rPr>
              <a:t>이제 선생님 앞에는 키 순서대로 정렬된 두 줄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중간 결과 줄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>
                <a:latin typeface="+mn-ea"/>
              </a:rPr>
              <a:t>이 있음</a:t>
            </a:r>
            <a:endParaRPr lang="en-US" altLang="ko-KR" dirty="0">
              <a:latin typeface="+mn-ea"/>
            </a:endParaRPr>
          </a:p>
          <a:p>
            <a:pPr marL="342900" indent="-342900">
              <a:lnSpc>
                <a:spcPct val="165000"/>
              </a:lnSpc>
              <a:buClr>
                <a:srgbClr val="EB666E"/>
              </a:buClr>
              <a:buFont typeface="+mj-lt"/>
              <a:buAutoNum type="arabicParenR"/>
            </a:pPr>
            <a:r>
              <a:rPr lang="ko-KR" altLang="en-US" dirty="0">
                <a:latin typeface="+mn-ea"/>
              </a:rPr>
              <a:t>선생님은 각 줄의 맨 앞에 있는 두 학생 중에 키가 더 작은 민수를 뽑아 최종 결과 줄에 세움</a:t>
            </a:r>
            <a:r>
              <a:rPr lang="en-US" altLang="ko-KR" dirty="0">
                <a:latin typeface="+mn-ea"/>
              </a:rPr>
              <a:t>. </a:t>
            </a:r>
            <a:r>
              <a:rPr lang="ko-KR" altLang="en-US" dirty="0">
                <a:latin typeface="+mn-ea"/>
              </a:rPr>
              <a:t>그리고 다시 각 중간 결과 줄의 맨 앞에 있는 두 </a:t>
            </a:r>
            <a:br>
              <a:rPr lang="en-US" altLang="ko-KR" dirty="0">
                <a:latin typeface="+mn-ea"/>
              </a:rPr>
            </a:br>
            <a:r>
              <a:rPr lang="ko-KR" altLang="en-US" dirty="0">
                <a:latin typeface="+mn-ea"/>
              </a:rPr>
              <a:t>학생을 비교해 더 작은 학생을 최종 결과 줄의 민수 뒤에 세움</a:t>
            </a:r>
            <a:endParaRPr lang="en-US" altLang="ko-KR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54426576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10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병합 정렬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1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병합 정렬로 줄 세우기</a:t>
            </a:r>
          </a:p>
        </p:txBody>
      </p:sp>
      <p:sp>
        <p:nvSpPr>
          <p:cNvPr id="10" name="TextBox 7"/>
          <p:cNvSpPr txBox="1"/>
          <p:nvPr/>
        </p:nvSpPr>
        <p:spPr>
          <a:xfrm>
            <a:off x="647056" y="1790177"/>
            <a:ext cx="8020383" cy="9508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65000"/>
              </a:lnSpc>
              <a:buClr>
                <a:srgbClr val="EB666E"/>
              </a:buClr>
              <a:buFont typeface="+mj-lt"/>
              <a:buAutoNum type="arabicParenR" startAt="4"/>
            </a:pPr>
            <a:r>
              <a:rPr lang="ko-KR" altLang="en-US" dirty="0">
                <a:latin typeface="+mn-ea"/>
              </a:rPr>
              <a:t>이 과정을 반복하다가 중간 결과 줄 하나가 사라지면 나머지 중간 결과 줄에 있는 사람을 전부 최종 결과 줄에 세움</a:t>
            </a:r>
            <a:endParaRPr lang="en-US" altLang="ko-KR" dirty="0">
              <a:latin typeface="+mn-ea"/>
            </a:endParaRPr>
          </a:p>
        </p:txBody>
      </p:sp>
      <p:sp>
        <p:nvSpPr>
          <p:cNvPr id="14" name="TextBox 8"/>
          <p:cNvSpPr txBox="1"/>
          <p:nvPr/>
        </p:nvSpPr>
        <p:spPr>
          <a:xfrm>
            <a:off x="0" y="4790825"/>
            <a:ext cx="9144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2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그림 </a:t>
            </a:r>
            <a:r>
              <a:rPr lang="en-US" altLang="ko-KR" sz="12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10-1</a:t>
            </a:r>
            <a:r>
              <a:rPr lang="en-US" altLang="ko-KR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</a:t>
            </a:r>
            <a:r>
              <a:rPr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병합 정렬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3293" y="3117439"/>
            <a:ext cx="6437414" cy="1673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48347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10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병합 정렬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2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쉽게 설명한 병합 정렬 알고리즘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056" y="1821131"/>
            <a:ext cx="8020383" cy="549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solidFill>
                  <a:srgbClr val="EB666E"/>
                </a:solidFill>
              </a:rPr>
              <a:t>프로그램</a:t>
            </a:r>
            <a:r>
              <a:rPr lang="ko-KR" altLang="en-US" dirty="0"/>
              <a:t> </a:t>
            </a:r>
            <a:r>
              <a:rPr lang="en-US" altLang="ko-KR" dirty="0">
                <a:solidFill>
                  <a:srgbClr val="EB666E"/>
                </a:solidFill>
              </a:rPr>
              <a:t>10-1</a:t>
            </a:r>
            <a:r>
              <a:rPr lang="en-US" altLang="ko-KR" dirty="0"/>
              <a:t> </a:t>
            </a:r>
            <a:r>
              <a:rPr lang="ko-KR" altLang="en-US" dirty="0"/>
              <a:t>쉽게 설명한 병합 정렬 알고리즘</a:t>
            </a:r>
            <a:endParaRPr lang="en-US" altLang="ko-KR" dirty="0">
              <a:latin typeface="+mn-ea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1045269" y="2917455"/>
            <a:ext cx="7088957" cy="2427543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쉽게 설명한 병합 정렬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입력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: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리스트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a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출력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: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정렬된 새 리스트</a:t>
            </a:r>
          </a:p>
          <a:p>
            <a:pPr>
              <a:lnSpc>
                <a:spcPct val="120000"/>
              </a:lnSpc>
            </a:pPr>
            <a:endParaRPr lang="ko-KR" altLang="en-US" sz="1400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400" dirty="0" err="1">
                <a:solidFill>
                  <a:srgbClr val="FF822D"/>
                </a:solidFill>
                <a:latin typeface="+mn-ea"/>
              </a:rPr>
              <a:t>def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 err="1">
                <a:solidFill>
                  <a:srgbClr val="0070C0"/>
                </a:solidFill>
                <a:latin typeface="+mn-ea"/>
              </a:rPr>
              <a:t>merge_sort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(a):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n = </a:t>
            </a:r>
            <a:r>
              <a:rPr lang="en-US" altLang="ko-KR" sz="1400" dirty="0" err="1">
                <a:solidFill>
                  <a:srgbClr val="0070C0"/>
                </a:solidFill>
                <a:latin typeface="+mn-ea"/>
              </a:rPr>
              <a:t>len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(a)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    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종료 조건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: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정렬할 리스트의 자료 개수가 한 개 이하이면 정렬할 필요 없음</a:t>
            </a:r>
          </a:p>
          <a:p>
            <a:pPr>
              <a:lnSpc>
                <a:spcPct val="120000"/>
              </a:lnSpc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if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n &lt;= 1: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   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return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1001" y="2609681"/>
            <a:ext cx="31265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EB666E"/>
                </a:solidFill>
                <a:latin typeface="+mn-ea"/>
              </a:rPr>
              <a:t>▼</a:t>
            </a:r>
            <a:r>
              <a:rPr lang="ko-KR" altLang="en-US" sz="1400" dirty="0">
                <a:latin typeface="+mn-ea"/>
              </a:rPr>
              <a:t> </a:t>
            </a:r>
            <a:r>
              <a:rPr lang="ko-KR" altLang="en-US" sz="1400" dirty="0">
                <a:solidFill>
                  <a:srgbClr val="EB666E"/>
                </a:solidFill>
                <a:latin typeface="+mn-ea"/>
              </a:rPr>
              <a:t>예제 소스 </a:t>
            </a:r>
            <a:r>
              <a:rPr lang="en-US" altLang="ko-KR" sz="1400" dirty="0">
                <a:latin typeface="+mn-ea"/>
              </a:rPr>
              <a:t>p10-1-msort.py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4" name="아래쪽 화살표 13"/>
          <p:cNvSpPr/>
          <p:nvPr/>
        </p:nvSpPr>
        <p:spPr>
          <a:xfrm>
            <a:off x="4502546" y="5553790"/>
            <a:ext cx="174402" cy="197963"/>
          </a:xfrm>
          <a:prstGeom prst="downArrow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267811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10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병합 정렬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2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쉽게 설명한 병합 정렬 알고리즘</a:t>
            </a:r>
          </a:p>
        </p:txBody>
      </p:sp>
      <p:sp>
        <p:nvSpPr>
          <p:cNvPr id="17" name="직사각형 16"/>
          <p:cNvSpPr/>
          <p:nvPr/>
        </p:nvSpPr>
        <p:spPr>
          <a:xfrm>
            <a:off x="960022" y="2232442"/>
            <a:ext cx="7088957" cy="3423639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    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그룹을 나누어 각각 병합 정렬을 호출하는 과정</a:t>
            </a:r>
          </a:p>
          <a:p>
            <a:pPr>
              <a:lnSpc>
                <a:spcPct val="120000"/>
              </a:lnSpc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mid = n // 2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중간을 기준으로 두 그룹으로 나눔</a:t>
            </a:r>
          </a:p>
          <a:p>
            <a:pPr>
              <a:lnSpc>
                <a:spcPct val="120000"/>
              </a:lnSpc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g1 =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merge_sort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(a[:mid])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재귀 호출로 첫 번째 그룹을 정렬</a:t>
            </a:r>
          </a:p>
          <a:p>
            <a:pPr>
              <a:lnSpc>
                <a:spcPct val="120000"/>
              </a:lnSpc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g2 =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merge_sort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(a[mid:])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재귀 호출로 두 번째 그룹을 정렬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  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두 그룹을 하나로 병합</a:t>
            </a:r>
          </a:p>
          <a:p>
            <a:pPr>
              <a:lnSpc>
                <a:spcPct val="120000"/>
              </a:lnSpc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result = []     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두 그룹을 합쳐 만들 최종 결과</a:t>
            </a:r>
          </a:p>
          <a:p>
            <a:pPr>
              <a:lnSpc>
                <a:spcPct val="120000"/>
              </a:lnSpc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while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g1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and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g2: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두 그룹에 모두 자료가 남아 있는 동안 반복</a:t>
            </a:r>
          </a:p>
          <a:p>
            <a:pPr>
              <a:lnSpc>
                <a:spcPct val="120000"/>
              </a:lnSpc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      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if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g1[0] &lt; g2[0]: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두 그룹의 맨 앞 자료 값을 비교</a:t>
            </a:r>
          </a:p>
          <a:p>
            <a:pPr>
              <a:lnSpc>
                <a:spcPct val="120000"/>
              </a:lnSpc>
            </a:pP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          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g1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의 값이 더 작으면 그 값을 빼내어 결과로 추가</a:t>
            </a:r>
          </a:p>
          <a:p>
            <a:pPr>
              <a:lnSpc>
                <a:spcPct val="120000"/>
              </a:lnSpc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          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result.append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(g1.pop(0))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   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else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: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            # g2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의 값이 더 작으면 그 값을 빼내어 결과로 추가</a:t>
            </a:r>
          </a:p>
          <a:p>
            <a:pPr>
              <a:lnSpc>
                <a:spcPct val="120000"/>
              </a:lnSpc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          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result.append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(g2.pop(0))</a:t>
            </a:r>
          </a:p>
        </p:txBody>
      </p:sp>
      <p:sp>
        <p:nvSpPr>
          <p:cNvPr id="18" name="아래쪽 화살표 17"/>
          <p:cNvSpPr/>
          <p:nvPr/>
        </p:nvSpPr>
        <p:spPr>
          <a:xfrm rot="10800000">
            <a:off x="4417299" y="1844955"/>
            <a:ext cx="174402" cy="197963"/>
          </a:xfrm>
          <a:prstGeom prst="downArrow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9" name="아래쪽 화살표 18"/>
          <p:cNvSpPr/>
          <p:nvPr/>
        </p:nvSpPr>
        <p:spPr>
          <a:xfrm>
            <a:off x="4417299" y="5915563"/>
            <a:ext cx="174402" cy="197963"/>
          </a:xfrm>
          <a:prstGeom prst="downArrow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911359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10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병합 정렬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2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쉽게 설명한 병합 정렬 알고리즘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960022" y="2232443"/>
            <a:ext cx="7088957" cy="2688349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    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아직 남아 있는 자료들을 결과에 추가</a:t>
            </a:r>
          </a:p>
          <a:p>
            <a:pPr>
              <a:lnSpc>
                <a:spcPct val="120000"/>
              </a:lnSpc>
            </a:pP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  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g1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과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g2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중 이미 빈 것은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while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을 바로 </a:t>
            </a:r>
            <a:r>
              <a:rPr lang="ko-KR" altLang="en-US" sz="1400" dirty="0" err="1">
                <a:solidFill>
                  <a:schemeClr val="accent2">
                    <a:lumMod val="50000"/>
                  </a:schemeClr>
                </a:solidFill>
                <a:latin typeface="+mn-ea"/>
              </a:rPr>
              <a:t>지나감</a:t>
            </a:r>
            <a:endParaRPr lang="ko-KR" altLang="en-US" sz="1400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while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g1: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   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result.append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(g1.pop(0))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while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g2: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   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result.append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(g2.pop(0))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return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result</a:t>
            </a:r>
          </a:p>
          <a:p>
            <a:pPr>
              <a:lnSpc>
                <a:spcPct val="120000"/>
              </a:lnSpc>
            </a:pP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d = [6, 8, 3, 9, 10, 1, 2, 4, 7, 5]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rgbClr val="0070C0"/>
                </a:solidFill>
                <a:latin typeface="+mn-ea"/>
              </a:rPr>
              <a:t>print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merge_sort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(d))</a:t>
            </a:r>
          </a:p>
        </p:txBody>
      </p:sp>
      <p:sp>
        <p:nvSpPr>
          <p:cNvPr id="9" name="아래쪽 화살표 8"/>
          <p:cNvSpPr/>
          <p:nvPr/>
        </p:nvSpPr>
        <p:spPr>
          <a:xfrm rot="10800000">
            <a:off x="4417299" y="1844955"/>
            <a:ext cx="174402" cy="197963"/>
          </a:xfrm>
          <a:prstGeom prst="downArrow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647056" y="5164179"/>
            <a:ext cx="8176904" cy="485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solidFill>
                  <a:srgbClr val="EB666E"/>
                </a:solidFill>
                <a:latin typeface="+mn-ea"/>
              </a:rPr>
              <a:t>실행 결과</a:t>
            </a:r>
            <a:endParaRPr lang="en-US" altLang="ko-KR" dirty="0">
              <a:latin typeface="+mn-ea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960022" y="5918914"/>
            <a:ext cx="7088957" cy="3699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</a:rPr>
              <a:t>[1, 2, 3, 4, 5, 6, 7, 8, 9, 10]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091336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10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병합 정렬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2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쉽게 설명한 병합 정렬 알고리즘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056" y="1821131"/>
            <a:ext cx="8020383" cy="32916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병합 정렬 함수의 첫 부분이 바로 종료 조건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입력으로 주어진 리스트 </a:t>
            </a:r>
            <a:r>
              <a:rPr lang="en-US" altLang="ko-KR" dirty="0">
                <a:latin typeface="+mn-ea"/>
              </a:rPr>
              <a:t>a</a:t>
            </a:r>
            <a:r>
              <a:rPr lang="ko-KR" altLang="en-US" dirty="0">
                <a:latin typeface="+mn-ea"/>
              </a:rPr>
              <a:t>의 크기가 </a:t>
            </a:r>
            <a:r>
              <a:rPr lang="en-US" altLang="ko-KR" dirty="0">
                <a:latin typeface="+mn-ea"/>
              </a:rPr>
              <a:t>1 </a:t>
            </a:r>
            <a:r>
              <a:rPr lang="ko-KR" altLang="en-US" dirty="0">
                <a:latin typeface="+mn-ea"/>
              </a:rPr>
              <a:t>이하이면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>
                <a:latin typeface="+mn-ea"/>
              </a:rPr>
              <a:t>즉 자료가 한 </a:t>
            </a:r>
            <a:r>
              <a:rPr lang="ko-KR" altLang="en-US" dirty="0" err="1">
                <a:latin typeface="+mn-ea"/>
              </a:rPr>
              <a:t>개뿐이거나</a:t>
            </a:r>
            <a:r>
              <a:rPr lang="ko-KR" altLang="en-US" dirty="0">
                <a:latin typeface="+mn-ea"/>
              </a:rPr>
              <a:t> 아예 비어 있다면 정렬할 필요가 없음</a:t>
            </a:r>
            <a:br>
              <a:rPr lang="en-US" altLang="ko-KR" dirty="0">
                <a:latin typeface="+mn-ea"/>
              </a:rPr>
            </a:br>
            <a:r>
              <a:rPr lang="ko-KR" altLang="en-US" dirty="0">
                <a:latin typeface="+mn-ea"/>
              </a:rPr>
              <a:t>→ 입력 리스트를 그대로 돌려주면서 재귀 호출을 끝냄</a:t>
            </a:r>
            <a:endParaRPr lang="en-US" altLang="ko-KR" dirty="0">
              <a:latin typeface="+mn-ea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960022" y="2524923"/>
            <a:ext cx="7088957" cy="821951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</a:rPr>
              <a:t>n = </a:t>
            </a:r>
            <a:r>
              <a:rPr lang="en-US" altLang="ko-KR" sz="1400" dirty="0" err="1">
                <a:solidFill>
                  <a:srgbClr val="0070C0"/>
                </a:solidFill>
              </a:rPr>
              <a:t>len</a:t>
            </a:r>
            <a:r>
              <a:rPr lang="en-US" altLang="ko-KR" sz="1400" dirty="0">
                <a:solidFill>
                  <a:schemeClr val="tx1"/>
                </a:solidFill>
              </a:rPr>
              <a:t>(a)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rgbClr val="FF822D"/>
                </a:solidFill>
              </a:rPr>
              <a:t>if</a:t>
            </a:r>
            <a:r>
              <a:rPr lang="en-US" altLang="ko-KR" sz="1400" dirty="0">
                <a:solidFill>
                  <a:schemeClr val="tx1"/>
                </a:solidFill>
              </a:rPr>
              <a:t> n &lt;= 1: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</a:rPr>
              <a:t>    </a:t>
            </a:r>
            <a:r>
              <a:rPr lang="en-US" altLang="ko-KR" sz="1400" dirty="0">
                <a:solidFill>
                  <a:srgbClr val="FF822D"/>
                </a:solidFill>
              </a:rPr>
              <a:t>return</a:t>
            </a:r>
            <a:r>
              <a:rPr lang="en-US" altLang="ko-KR" sz="1400" dirty="0">
                <a:solidFill>
                  <a:schemeClr val="tx1"/>
                </a:solidFill>
              </a:rPr>
              <a:t> a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390803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10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병합 정렬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2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쉽게 설명한 병합 정렬 알고리즘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056" y="1821131"/>
            <a:ext cx="8020383" cy="374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전체 리스트를 절반으로 나눠 각각 재귀 호출로 병합 정렬하는 부분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리스트의 자료 개수가 홀수일 때는 어떻게 절반으로 나눌까</a:t>
            </a:r>
            <a:r>
              <a:rPr lang="en-US" altLang="ko-KR" dirty="0">
                <a:latin typeface="+mn-ea"/>
              </a:rPr>
              <a:t>?</a:t>
            </a: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en-US" altLang="ko-KR" dirty="0">
                <a:latin typeface="+mn-ea"/>
              </a:rPr>
              <a:t>n // 2</a:t>
            </a:r>
            <a:r>
              <a:rPr lang="ko-KR" altLang="en-US" dirty="0">
                <a:latin typeface="+mn-ea"/>
              </a:rPr>
              <a:t>는 리스트의 길이 </a:t>
            </a:r>
            <a:r>
              <a:rPr lang="en-US" altLang="ko-KR" dirty="0">
                <a:latin typeface="+mn-ea"/>
              </a:rPr>
              <a:t>n</a:t>
            </a:r>
            <a:r>
              <a:rPr lang="ko-KR" altLang="en-US" dirty="0">
                <a:latin typeface="+mn-ea"/>
              </a:rPr>
              <a:t>을 </a:t>
            </a:r>
            <a:r>
              <a:rPr lang="en-US" altLang="ko-KR" dirty="0">
                <a:latin typeface="+mn-ea"/>
              </a:rPr>
              <a:t>2</a:t>
            </a:r>
            <a:r>
              <a:rPr lang="ko-KR" altLang="en-US" dirty="0">
                <a:latin typeface="+mn-ea"/>
              </a:rPr>
              <a:t>로 나눈 몫</a:t>
            </a:r>
            <a:br>
              <a:rPr lang="en-US" altLang="ko-KR" dirty="0">
                <a:latin typeface="+mn-ea"/>
              </a:rPr>
            </a:br>
            <a:r>
              <a:rPr lang="ko-KR" altLang="en-US" dirty="0">
                <a:latin typeface="+mn-ea"/>
              </a:rPr>
              <a:t>→ </a:t>
            </a:r>
            <a:r>
              <a:rPr lang="en-US" altLang="ko-KR" dirty="0">
                <a:latin typeface="+mn-ea"/>
              </a:rPr>
              <a:t>n</a:t>
            </a:r>
            <a:r>
              <a:rPr lang="ko-KR" altLang="en-US" dirty="0">
                <a:latin typeface="+mn-ea"/>
              </a:rPr>
              <a:t>이 </a:t>
            </a:r>
            <a:r>
              <a:rPr lang="en-US" altLang="ko-KR" dirty="0">
                <a:latin typeface="+mn-ea"/>
              </a:rPr>
              <a:t>5</a:t>
            </a:r>
            <a:r>
              <a:rPr lang="ko-KR" altLang="en-US" dirty="0">
                <a:latin typeface="+mn-ea"/>
              </a:rPr>
              <a:t>와 같은 홀수라면 </a:t>
            </a:r>
            <a:r>
              <a:rPr lang="en-US" altLang="ko-KR" dirty="0">
                <a:latin typeface="+mn-ea"/>
              </a:rPr>
              <a:t>n // 2 </a:t>
            </a:r>
            <a:r>
              <a:rPr lang="ko-KR" altLang="en-US" dirty="0">
                <a:latin typeface="+mn-ea"/>
              </a:rPr>
              <a:t>는 </a:t>
            </a:r>
            <a:r>
              <a:rPr lang="en-US" altLang="ko-KR" dirty="0">
                <a:latin typeface="+mn-ea"/>
              </a:rPr>
              <a:t>2</a:t>
            </a:r>
            <a:r>
              <a:rPr lang="ko-KR" altLang="en-US" dirty="0">
                <a:latin typeface="+mn-ea"/>
              </a:rPr>
              <a:t>가 됨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즉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>
                <a:latin typeface="+mn-ea"/>
              </a:rPr>
              <a:t>자료가 두 개인 그룹과 세 개인 그룹으로 나눔</a:t>
            </a:r>
            <a:endParaRPr lang="en-US" altLang="ko-KR" dirty="0">
              <a:latin typeface="+mn-ea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960022" y="2529324"/>
            <a:ext cx="7088957" cy="821951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mid = n // 2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중간을 기준으로 두 그룹으로 나눔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g1 =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merge_sort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(a[:mid])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재귀 호출로 첫 번째 그룹을 정렬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g2 =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merge_sort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(a[mid:])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재귀 호출로 두 번째 그룹을 정렬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6804160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10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병합 정렬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2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쉽게 설명한 병합 정렬 알고리즘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056" y="1821131"/>
            <a:ext cx="8020383" cy="1920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en-US" altLang="ko-KR" dirty="0"/>
              <a:t>a[:mid]</a:t>
            </a:r>
            <a:r>
              <a:rPr lang="ko-KR" altLang="en-US" dirty="0"/>
              <a:t>는 리스트 </a:t>
            </a:r>
            <a:r>
              <a:rPr lang="en-US" altLang="ko-KR" dirty="0"/>
              <a:t>a</a:t>
            </a:r>
            <a:r>
              <a:rPr lang="ko-KR" altLang="en-US" dirty="0"/>
              <a:t>의 </a:t>
            </a:r>
            <a:r>
              <a:rPr lang="en-US" altLang="ko-KR" dirty="0"/>
              <a:t>0</a:t>
            </a:r>
            <a:r>
              <a:rPr lang="ko-KR" altLang="en-US" dirty="0"/>
              <a:t>번 위치부터 </a:t>
            </a:r>
            <a:r>
              <a:rPr lang="en-US" altLang="ko-KR" dirty="0"/>
              <a:t>mid </a:t>
            </a:r>
            <a:r>
              <a:rPr lang="ko-KR" altLang="en-US" dirty="0"/>
              <a:t>위치 직전까지의 자료를 복사해서 </a:t>
            </a:r>
            <a:br>
              <a:rPr lang="en-US" altLang="ko-KR" dirty="0"/>
            </a:br>
            <a:r>
              <a:rPr lang="ko-KR" altLang="en-US" dirty="0"/>
              <a:t>새 리스트를 만드는 문장</a:t>
            </a:r>
            <a:endParaRPr lang="en-US" altLang="ko-KR" dirty="0"/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en-US" altLang="ko-KR" dirty="0"/>
              <a:t>a[mid:]</a:t>
            </a:r>
            <a:r>
              <a:rPr lang="ko-KR" altLang="en-US" dirty="0"/>
              <a:t>는 리스트 </a:t>
            </a:r>
            <a:r>
              <a:rPr lang="en-US" altLang="ko-KR" dirty="0"/>
              <a:t>a</a:t>
            </a:r>
            <a:r>
              <a:rPr lang="ko-KR" altLang="en-US" dirty="0"/>
              <a:t>의 </a:t>
            </a:r>
            <a:r>
              <a:rPr lang="en-US" altLang="ko-KR" dirty="0"/>
              <a:t>mid </a:t>
            </a:r>
            <a:r>
              <a:rPr lang="ko-KR" altLang="en-US" dirty="0"/>
              <a:t>위치부터 끝까지의 자료를 복사해서 새 리스트를 만드는 문장</a:t>
            </a:r>
            <a:endParaRPr lang="en-US" altLang="ko-KR" dirty="0"/>
          </a:p>
        </p:txBody>
      </p:sp>
      <p:sp>
        <p:nvSpPr>
          <p:cNvPr id="9" name="직사각형 8"/>
          <p:cNvSpPr/>
          <p:nvPr/>
        </p:nvSpPr>
        <p:spPr>
          <a:xfrm>
            <a:off x="960022" y="3885671"/>
            <a:ext cx="7088957" cy="2109776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&gt;&gt;&gt; a = [1, 2, 3, 4, 5]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&gt;&gt;&gt; mid =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len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(a) // 2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&gt;&gt;&gt; mid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2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&gt;&gt;&gt; a[:mid]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[1, 2]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&gt;&gt;&gt; a[mid:]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[3, 4, 5]</a:t>
            </a:r>
          </a:p>
        </p:txBody>
      </p:sp>
    </p:spTree>
    <p:extLst>
      <p:ext uri="{BB962C8B-B14F-4D97-AF65-F5344CB8AC3E}">
        <p14:creationId xmlns:p14="http://schemas.microsoft.com/office/powerpoint/2010/main" val="256910869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10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병합 정렬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2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쉽게 설명한 병합 정렬 알고리즘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056" y="1821131"/>
            <a:ext cx="8020383" cy="493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리스트 </a:t>
            </a:r>
            <a:r>
              <a:rPr lang="en-US" altLang="ko-KR" dirty="0">
                <a:latin typeface="+mn-ea"/>
              </a:rPr>
              <a:t>[6, 8, 3, 9, 10, 1, 2, 4, 7, 5]</a:t>
            </a:r>
            <a:r>
              <a:rPr lang="ko-KR" altLang="en-US" dirty="0">
                <a:latin typeface="+mn-ea"/>
              </a:rPr>
              <a:t>를 병합 정렬하는 과정</a:t>
            </a:r>
            <a:endParaRPr lang="en-US" altLang="ko-KR" dirty="0">
              <a:latin typeface="+mn-ea"/>
            </a:endParaRP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166" y="2543738"/>
            <a:ext cx="5047874" cy="3661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73696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10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병합 정렬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2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쉽게 설명한 병합 정렬 알고리즘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637" y="2233479"/>
            <a:ext cx="5029200" cy="371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92887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647056" y="3489675"/>
            <a:ext cx="8020383" cy="1463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65000"/>
              </a:lnSpc>
              <a:buClr>
                <a:srgbClr val="EB666E"/>
              </a:buClr>
            </a:pPr>
            <a:r>
              <a:rPr lang="ko-KR" altLang="en-US" dirty="0">
                <a:solidFill>
                  <a:srgbClr val="EB666E"/>
                </a:solidFill>
                <a:latin typeface="+mn-ea"/>
              </a:rPr>
              <a:t>이 방법을 병합 정렬이라 부르는 이유</a:t>
            </a:r>
            <a:endParaRPr lang="en-US" altLang="ko-KR" dirty="0">
              <a:solidFill>
                <a:srgbClr val="EB666E"/>
              </a:solidFill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이미 정렬된 두 그룹을 맨 앞에서부터 비교하면서 하나로 합치는 ‘병합</a:t>
            </a:r>
            <a:r>
              <a:rPr lang="en-US" altLang="ko-KR" dirty="0">
                <a:latin typeface="+mn-ea"/>
              </a:rPr>
              <a:t>(merge)’ </a:t>
            </a:r>
            <a:r>
              <a:rPr lang="ko-KR" altLang="en-US" dirty="0">
                <a:latin typeface="+mn-ea"/>
              </a:rPr>
              <a:t>과정이 정렬 알고리즘의 핵심이기 때문</a:t>
            </a:r>
            <a:r>
              <a:rPr lang="en-US" altLang="ko-KR" dirty="0">
                <a:latin typeface="+mn-ea"/>
              </a:rPr>
              <a:t>(③~⑦</a:t>
            </a:r>
            <a:r>
              <a:rPr lang="ko-KR" altLang="en-US" dirty="0">
                <a:latin typeface="+mn-ea"/>
              </a:rPr>
              <a:t>번 과정</a:t>
            </a:r>
            <a:r>
              <a:rPr lang="en-US" altLang="ko-KR" dirty="0">
                <a:latin typeface="+mn-ea"/>
              </a:rPr>
              <a:t>)</a:t>
            </a:r>
          </a:p>
        </p:txBody>
      </p:sp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10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병합 정렬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2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쉽게 설명한 병합 정렬 알고리즘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637" y="2007879"/>
            <a:ext cx="5029200" cy="1152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54040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10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병합 정렬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3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병합 정렬에서의 재귀 호출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056" y="1821131"/>
            <a:ext cx="8020383" cy="32277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병합 정렬에서 ②번 과정을 보면 두 그룹으로 나눈 자료를 각각 정렬함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나누어진 그룹은 어떤 정렬 알고리즘으로 정렬하는 걸까</a:t>
            </a:r>
            <a:r>
              <a:rPr lang="en-US" altLang="ko-KR" dirty="0">
                <a:latin typeface="+mn-ea"/>
              </a:rPr>
              <a:t>? </a:t>
            </a:r>
            <a:r>
              <a:rPr lang="ko-KR" altLang="en-US" dirty="0">
                <a:latin typeface="+mn-ea"/>
              </a:rPr>
              <a:t>→ 병합 정렬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병합 정렬을 하는 과정에서 나누어진 리스트를 다시 두 번의 병합 정렬로 정렬하는 것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이는 문제 </a:t>
            </a:r>
            <a:r>
              <a:rPr lang="en-US" altLang="ko-KR" dirty="0">
                <a:latin typeface="+mn-ea"/>
              </a:rPr>
              <a:t>8</a:t>
            </a:r>
            <a:r>
              <a:rPr lang="ko-KR" altLang="en-US" dirty="0">
                <a:latin typeface="+mn-ea"/>
              </a:rPr>
              <a:t>에서 살펴본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>
                <a:latin typeface="+mn-ea"/>
              </a:rPr>
              <a:t>원반이 </a:t>
            </a:r>
            <a:r>
              <a:rPr lang="en-US" altLang="ko-KR" dirty="0">
                <a:latin typeface="+mn-ea"/>
              </a:rPr>
              <a:t>n</a:t>
            </a:r>
            <a:r>
              <a:rPr lang="ko-KR" altLang="en-US" dirty="0">
                <a:latin typeface="+mn-ea"/>
              </a:rPr>
              <a:t>개인 하노이의 탑 문제를 풀기 위해 </a:t>
            </a:r>
            <a:br>
              <a:rPr lang="en-US" altLang="ko-KR" dirty="0">
                <a:latin typeface="+mn-ea"/>
              </a:rPr>
            </a:br>
            <a:r>
              <a:rPr lang="ko-KR" altLang="en-US" dirty="0">
                <a:latin typeface="+mn-ea"/>
              </a:rPr>
              <a:t>원반이 </a:t>
            </a:r>
            <a:r>
              <a:rPr lang="en-US" altLang="ko-KR" dirty="0">
                <a:latin typeface="+mn-ea"/>
              </a:rPr>
              <a:t>n-1</a:t>
            </a:r>
            <a:r>
              <a:rPr lang="ko-KR" altLang="en-US" dirty="0">
                <a:latin typeface="+mn-ea"/>
              </a:rPr>
              <a:t>개인 하노이의 탑 문제를 재귀 호출하는 것과 비슷함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어떤 문제를 푸는 과정 안에서 다시 그 문제를 푸는 것이 바로 재귀 호출</a:t>
            </a:r>
            <a:endParaRPr lang="en-US" altLang="ko-KR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6774601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10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병합 정렬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3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병합 정렬에서의 재귀 호출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056" y="1821131"/>
            <a:ext cx="8020383" cy="4662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65000"/>
              </a:lnSpc>
              <a:buClr>
                <a:srgbClr val="EB666E"/>
              </a:buClr>
            </a:pPr>
            <a:r>
              <a:rPr lang="ko-KR" altLang="en-US" dirty="0">
                <a:solidFill>
                  <a:srgbClr val="EB666E"/>
                </a:solidFill>
                <a:latin typeface="+mn-ea"/>
              </a:rPr>
              <a:t>재귀 호출의 세 가지 요건</a:t>
            </a:r>
            <a:endParaRPr lang="en-US" altLang="ko-KR" dirty="0">
              <a:solidFill>
                <a:srgbClr val="EB666E"/>
              </a:solidFill>
              <a:latin typeface="+mn-ea"/>
            </a:endParaRPr>
          </a:p>
          <a:p>
            <a:pPr marL="342900" indent="-342900">
              <a:lnSpc>
                <a:spcPct val="165000"/>
              </a:lnSpc>
              <a:buClr>
                <a:srgbClr val="EB666E"/>
              </a:buClr>
              <a:buFont typeface="+mj-lt"/>
              <a:buAutoNum type="arabicParenR"/>
            </a:pPr>
            <a:r>
              <a:rPr lang="ko-KR" altLang="en-US" dirty="0">
                <a:latin typeface="+mn-ea"/>
              </a:rPr>
              <a:t>함수 안에서 자기 자신을 다시 호출함</a:t>
            </a:r>
            <a:endParaRPr lang="en-US" altLang="ko-KR" dirty="0">
              <a:latin typeface="+mn-ea"/>
            </a:endParaRPr>
          </a:p>
          <a:p>
            <a:pPr marL="342900" indent="-342900">
              <a:lnSpc>
                <a:spcPct val="165000"/>
              </a:lnSpc>
              <a:buClr>
                <a:srgbClr val="EB666E"/>
              </a:buClr>
              <a:buFont typeface="+mj-lt"/>
              <a:buAutoNum type="arabicParenR"/>
            </a:pPr>
            <a:r>
              <a:rPr lang="ko-KR" altLang="en-US" dirty="0">
                <a:latin typeface="+mn-ea"/>
              </a:rPr>
              <a:t>재귀 호출할 때 인자로 주어지는 입력 크기가 작아짐</a:t>
            </a:r>
            <a:endParaRPr lang="en-US" altLang="ko-KR" dirty="0">
              <a:latin typeface="+mn-ea"/>
            </a:endParaRPr>
          </a:p>
          <a:p>
            <a:pPr marL="342900" indent="-342900">
              <a:lnSpc>
                <a:spcPct val="165000"/>
              </a:lnSpc>
              <a:buClr>
                <a:srgbClr val="EB666E"/>
              </a:buClr>
              <a:buFont typeface="+mj-lt"/>
              <a:buAutoNum type="arabicParenR"/>
            </a:pPr>
            <a:r>
              <a:rPr lang="ko-KR" altLang="en-US" dirty="0">
                <a:latin typeface="+mn-ea"/>
              </a:rPr>
              <a:t>특정 종료 조건이 만족되면 재귀 호출을 종료함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endParaRPr lang="en-US" altLang="ko-KR" sz="1200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병합 정렬은 자료 열 개를 정렬하기 위해 자료를 다섯 개씩 두 그룹으로 나누어 병합 정렬 함수를 재귀 호출함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→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요건 </a:t>
            </a:r>
            <a:r>
              <a:rPr lang="en-US" altLang="ko-KR" dirty="0">
                <a:latin typeface="+mn-ea"/>
              </a:rPr>
              <a:t>1, 2</a:t>
            </a:r>
            <a:r>
              <a:rPr lang="ko-KR" altLang="en-US" dirty="0">
                <a:latin typeface="+mn-ea"/>
              </a:rPr>
              <a:t>는 쉽게 확인할 수 있음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종료 조건은 어떨까</a:t>
            </a:r>
            <a:r>
              <a:rPr lang="en-US" altLang="ko-KR" dirty="0">
                <a:latin typeface="+mn-ea"/>
              </a:rPr>
              <a:t>?</a:t>
            </a: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병합 정렬의 입력 리스트에 자료가 한 </a:t>
            </a:r>
            <a:r>
              <a:rPr lang="ko-KR" altLang="en-US" dirty="0" err="1">
                <a:latin typeface="+mn-ea"/>
              </a:rPr>
              <a:t>개뿐이거나</a:t>
            </a:r>
            <a:r>
              <a:rPr lang="ko-KR" altLang="en-US" dirty="0">
                <a:latin typeface="+mn-ea"/>
              </a:rPr>
              <a:t> 아예 자료가 없을 때는 정렬할 필요 없음 → 입력 리스트를 그대로 돌려 주면서 재귀 호출을 끝냄</a:t>
            </a:r>
            <a:endParaRPr lang="en-US" altLang="ko-KR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83149621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10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병합 정렬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4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일반적인 병합 정렬 알고리즘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056" y="1821131"/>
            <a:ext cx="8020383" cy="549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solidFill>
                  <a:srgbClr val="EB666E"/>
                </a:solidFill>
              </a:rPr>
              <a:t>프로그램</a:t>
            </a:r>
            <a:r>
              <a:rPr lang="ko-KR" altLang="en-US" dirty="0"/>
              <a:t> </a:t>
            </a:r>
            <a:r>
              <a:rPr lang="en-US" altLang="ko-KR" dirty="0">
                <a:solidFill>
                  <a:srgbClr val="EB666E"/>
                </a:solidFill>
              </a:rPr>
              <a:t>10-2</a:t>
            </a:r>
            <a:r>
              <a:rPr lang="en-US" altLang="ko-KR" dirty="0"/>
              <a:t> </a:t>
            </a:r>
            <a:r>
              <a:rPr lang="ko-KR" altLang="en-US" dirty="0"/>
              <a:t>일반적인 병합 정렬 알고리즘</a:t>
            </a:r>
            <a:endParaRPr lang="en-US" altLang="ko-KR" dirty="0">
              <a:latin typeface="+mn-ea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1045269" y="2917455"/>
            <a:ext cx="7088957" cy="2427543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병합 정렬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입력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: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리스트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a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출력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: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없음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(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입력으로 주어진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a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가 정렬됨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)</a:t>
            </a:r>
          </a:p>
          <a:p>
            <a:pPr>
              <a:lnSpc>
                <a:spcPct val="120000"/>
              </a:lnSpc>
            </a:pP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400" dirty="0" err="1">
                <a:solidFill>
                  <a:srgbClr val="FF822D"/>
                </a:solidFill>
                <a:latin typeface="+mn-ea"/>
              </a:rPr>
              <a:t>def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 err="1">
                <a:solidFill>
                  <a:srgbClr val="0070C0"/>
                </a:solidFill>
                <a:latin typeface="+mn-ea"/>
              </a:rPr>
              <a:t>merge_sort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(a):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n = </a:t>
            </a:r>
            <a:r>
              <a:rPr lang="en-US" altLang="ko-KR" sz="1400" dirty="0" err="1">
                <a:solidFill>
                  <a:srgbClr val="0070C0"/>
                </a:solidFill>
                <a:latin typeface="+mn-ea"/>
              </a:rPr>
              <a:t>len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(a)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    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종료 조건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: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정렬할 리스트의 자료 개수가 한 개 이하이면 정렬할 필요가 없음</a:t>
            </a:r>
          </a:p>
          <a:p>
            <a:pPr>
              <a:lnSpc>
                <a:spcPct val="120000"/>
              </a:lnSpc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if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n &lt;= 1: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   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return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1001" y="2609681"/>
            <a:ext cx="31265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EB666E"/>
                </a:solidFill>
                <a:latin typeface="+mn-ea"/>
              </a:rPr>
              <a:t>▼</a:t>
            </a:r>
            <a:r>
              <a:rPr lang="ko-KR" altLang="en-US" sz="1400" dirty="0">
                <a:latin typeface="+mn-ea"/>
              </a:rPr>
              <a:t> </a:t>
            </a:r>
            <a:r>
              <a:rPr lang="ko-KR" altLang="en-US" sz="1400" dirty="0">
                <a:solidFill>
                  <a:srgbClr val="EB666E"/>
                </a:solidFill>
                <a:latin typeface="+mn-ea"/>
              </a:rPr>
              <a:t>예제 소스 </a:t>
            </a:r>
            <a:r>
              <a:rPr lang="en-US" altLang="ko-KR" sz="1400" dirty="0">
                <a:latin typeface="+mn-ea"/>
              </a:rPr>
              <a:t>p10-2-msort.py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4" name="아래쪽 화살표 13"/>
          <p:cNvSpPr/>
          <p:nvPr/>
        </p:nvSpPr>
        <p:spPr>
          <a:xfrm>
            <a:off x="4502546" y="5553790"/>
            <a:ext cx="174402" cy="197963"/>
          </a:xfrm>
          <a:prstGeom prst="downArrow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803848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10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병합 정렬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4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일반적인 병합 정렬 알고리즘</a:t>
            </a:r>
          </a:p>
        </p:txBody>
      </p:sp>
      <p:sp>
        <p:nvSpPr>
          <p:cNvPr id="15" name="직사각형 14"/>
          <p:cNvSpPr/>
          <p:nvPr/>
        </p:nvSpPr>
        <p:spPr>
          <a:xfrm>
            <a:off x="960022" y="2232442"/>
            <a:ext cx="7088957" cy="3849076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  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그룹을 나누어 각각 병합 정렬을 호출하는 과정</a:t>
            </a:r>
          </a:p>
          <a:p>
            <a:pPr>
              <a:lnSpc>
                <a:spcPct val="120000"/>
              </a:lnSpc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mid = n // 2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중간을 기준으로 두 그룹으로 나눔</a:t>
            </a:r>
          </a:p>
          <a:p>
            <a:pPr>
              <a:lnSpc>
                <a:spcPct val="120000"/>
              </a:lnSpc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g1 = a[:mid]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g2 = a[mid:]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merge_sort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(g1)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재귀 호출로 첫 번째 그룹을 정렬</a:t>
            </a:r>
          </a:p>
          <a:p>
            <a:pPr>
              <a:lnSpc>
                <a:spcPct val="120000"/>
              </a:lnSpc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merge_sort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(g2)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재귀 호출로 두 번째 그룹을 정렬</a:t>
            </a:r>
          </a:p>
          <a:p>
            <a:pPr>
              <a:lnSpc>
                <a:spcPct val="120000"/>
              </a:lnSpc>
            </a:pP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  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두 그룹을 하나로 병합</a:t>
            </a:r>
          </a:p>
          <a:p>
            <a:pPr>
              <a:lnSpc>
                <a:spcPct val="120000"/>
              </a:lnSpc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i1 = 0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i2 = 0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ia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= 0</a:t>
            </a:r>
          </a:p>
          <a:p>
            <a:pPr>
              <a:lnSpc>
                <a:spcPct val="120000"/>
              </a:lnSpc>
            </a:pPr>
            <a:r>
              <a:rPr lang="nn-NO" altLang="ko-KR" sz="140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nn-NO" altLang="ko-KR" sz="1400" dirty="0">
                <a:solidFill>
                  <a:srgbClr val="FF822D"/>
                </a:solidFill>
                <a:latin typeface="+mn-ea"/>
              </a:rPr>
              <a:t>while</a:t>
            </a:r>
            <a:r>
              <a:rPr lang="nn-NO" altLang="ko-KR" sz="1400" dirty="0">
                <a:solidFill>
                  <a:schemeClr val="tx1"/>
                </a:solidFill>
                <a:latin typeface="+mn-ea"/>
              </a:rPr>
              <a:t> i1 &lt; </a:t>
            </a:r>
            <a:r>
              <a:rPr lang="nn-NO" altLang="ko-KR" sz="1400" dirty="0">
                <a:solidFill>
                  <a:srgbClr val="0070C0"/>
                </a:solidFill>
                <a:latin typeface="+mn-ea"/>
              </a:rPr>
              <a:t>len</a:t>
            </a:r>
            <a:r>
              <a:rPr lang="nn-NO" altLang="ko-KR" sz="1400" dirty="0">
                <a:solidFill>
                  <a:schemeClr val="tx1"/>
                </a:solidFill>
                <a:latin typeface="+mn-ea"/>
              </a:rPr>
              <a:t>(g1) </a:t>
            </a:r>
            <a:r>
              <a:rPr lang="nn-NO" altLang="ko-KR" sz="1400" dirty="0">
                <a:solidFill>
                  <a:srgbClr val="FF822D"/>
                </a:solidFill>
                <a:latin typeface="+mn-ea"/>
              </a:rPr>
              <a:t>and</a:t>
            </a:r>
            <a:r>
              <a:rPr lang="nn-NO" altLang="ko-KR" sz="1400" dirty="0">
                <a:solidFill>
                  <a:schemeClr val="tx1"/>
                </a:solidFill>
                <a:latin typeface="+mn-ea"/>
              </a:rPr>
              <a:t> i2 &lt; </a:t>
            </a:r>
            <a:r>
              <a:rPr lang="nn-NO" altLang="ko-KR" sz="1400" dirty="0">
                <a:solidFill>
                  <a:srgbClr val="0070C0"/>
                </a:solidFill>
                <a:latin typeface="+mn-ea"/>
              </a:rPr>
              <a:t>len</a:t>
            </a:r>
            <a:r>
              <a:rPr lang="nn-NO" altLang="ko-KR" sz="1400" dirty="0">
                <a:solidFill>
                  <a:schemeClr val="tx1"/>
                </a:solidFill>
                <a:latin typeface="+mn-ea"/>
              </a:rPr>
              <a:t>(g2):</a:t>
            </a:r>
          </a:p>
          <a:p>
            <a:pPr>
              <a:lnSpc>
                <a:spcPct val="120000"/>
              </a:lnSpc>
            </a:pPr>
            <a:r>
              <a:rPr lang="nn-NO" altLang="ko-KR" sz="1400" dirty="0">
                <a:solidFill>
                  <a:schemeClr val="tx1"/>
                </a:solidFill>
                <a:latin typeface="+mn-ea"/>
              </a:rPr>
              <a:t>        </a:t>
            </a:r>
            <a:r>
              <a:rPr lang="nn-NO" altLang="ko-KR" sz="1400" dirty="0">
                <a:solidFill>
                  <a:srgbClr val="FF822D"/>
                </a:solidFill>
                <a:latin typeface="+mn-ea"/>
              </a:rPr>
              <a:t>if</a:t>
            </a:r>
            <a:r>
              <a:rPr lang="nn-NO" altLang="ko-KR" sz="1400" dirty="0">
                <a:solidFill>
                  <a:schemeClr val="tx1"/>
                </a:solidFill>
                <a:latin typeface="+mn-ea"/>
              </a:rPr>
              <a:t> g1[i1] &lt; g2[i2]:</a:t>
            </a:r>
          </a:p>
          <a:p>
            <a:pPr>
              <a:lnSpc>
                <a:spcPct val="120000"/>
              </a:lnSpc>
            </a:pPr>
            <a:r>
              <a:rPr lang="nn-NO" altLang="ko-KR" sz="1400" dirty="0">
                <a:solidFill>
                  <a:schemeClr val="tx1"/>
                </a:solidFill>
                <a:latin typeface="+mn-ea"/>
              </a:rPr>
              <a:t>            a[ia] = g1[i1]</a:t>
            </a:r>
          </a:p>
          <a:p>
            <a:pPr>
              <a:lnSpc>
                <a:spcPct val="120000"/>
              </a:lnSpc>
            </a:pPr>
            <a:r>
              <a:rPr lang="nn-NO" altLang="ko-KR" sz="1400" dirty="0">
                <a:solidFill>
                  <a:schemeClr val="tx1"/>
                </a:solidFill>
                <a:latin typeface="+mn-ea"/>
              </a:rPr>
              <a:t>            i1 += 1</a:t>
            </a:r>
          </a:p>
          <a:p>
            <a:pPr>
              <a:lnSpc>
                <a:spcPct val="120000"/>
              </a:lnSpc>
            </a:pPr>
            <a:r>
              <a:rPr lang="nn-NO" altLang="ko-KR" sz="1400" dirty="0">
                <a:solidFill>
                  <a:schemeClr val="tx1"/>
                </a:solidFill>
                <a:latin typeface="+mn-ea"/>
              </a:rPr>
              <a:t>            ia += 1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" name="아래쪽 화살표 15"/>
          <p:cNvSpPr/>
          <p:nvPr/>
        </p:nvSpPr>
        <p:spPr>
          <a:xfrm rot="10800000">
            <a:off x="4417299" y="1844955"/>
            <a:ext cx="174402" cy="197963"/>
          </a:xfrm>
          <a:prstGeom prst="downArrow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7" name="아래쪽 화살표 16"/>
          <p:cNvSpPr/>
          <p:nvPr/>
        </p:nvSpPr>
        <p:spPr>
          <a:xfrm>
            <a:off x="4417299" y="6227262"/>
            <a:ext cx="174402" cy="197963"/>
          </a:xfrm>
          <a:prstGeom prst="downArrow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018893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10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병합 정렬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4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일반적인 병합 정렬 알고리즘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960022" y="2007879"/>
            <a:ext cx="7088957" cy="436632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   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else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: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        a[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ia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] = g2[i2]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        i2 += 1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       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ia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+= 1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    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아직 남아 있는 자료들을 결과에 추가</a:t>
            </a:r>
          </a:p>
          <a:p>
            <a:pPr>
              <a:lnSpc>
                <a:spcPct val="120000"/>
              </a:lnSpc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while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i1 &lt; </a:t>
            </a:r>
            <a:r>
              <a:rPr lang="en-US" altLang="ko-KR" sz="1400" dirty="0" err="1">
                <a:solidFill>
                  <a:srgbClr val="0070C0"/>
                </a:solidFill>
                <a:latin typeface="+mn-ea"/>
              </a:rPr>
              <a:t>len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(g1):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    a[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ia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] = g1[i1]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    i1 += 1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   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ia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+= 1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while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i2 &lt; </a:t>
            </a:r>
            <a:r>
              <a:rPr lang="en-US" altLang="ko-KR" sz="1400" dirty="0" err="1">
                <a:solidFill>
                  <a:srgbClr val="0070C0"/>
                </a:solidFill>
                <a:latin typeface="+mn-ea"/>
              </a:rPr>
              <a:t>len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(g2):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    a[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ia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] = g2[i2]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    i2 += 1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   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ia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+= 1</a:t>
            </a:r>
          </a:p>
          <a:p>
            <a:pPr>
              <a:lnSpc>
                <a:spcPct val="120000"/>
              </a:lnSpc>
            </a:pP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d = [6, 8, 3, 9, 10, 1, 2, 4, 7, 5]</a:t>
            </a:r>
          </a:p>
          <a:p>
            <a:pPr>
              <a:lnSpc>
                <a:spcPct val="120000"/>
              </a:lnSpc>
            </a:pP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merge_sort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(d)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rgbClr val="0070C0"/>
                </a:solidFill>
                <a:latin typeface="+mn-ea"/>
              </a:rPr>
              <a:t>print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(d)</a:t>
            </a:r>
          </a:p>
        </p:txBody>
      </p:sp>
      <p:sp>
        <p:nvSpPr>
          <p:cNvPr id="9" name="아래쪽 화살표 8"/>
          <p:cNvSpPr/>
          <p:nvPr/>
        </p:nvSpPr>
        <p:spPr>
          <a:xfrm rot="10800000">
            <a:off x="4415346" y="1684333"/>
            <a:ext cx="174402" cy="197963"/>
          </a:xfrm>
          <a:prstGeom prst="downArrow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232007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10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병합 정렬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4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일반적인 병합 정렬 알고리즘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056" y="1821131"/>
            <a:ext cx="8176904" cy="485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solidFill>
                  <a:srgbClr val="EB666E"/>
                </a:solidFill>
                <a:latin typeface="+mn-ea"/>
              </a:rPr>
              <a:t>실행 결과</a:t>
            </a:r>
            <a:endParaRPr lang="en-US" altLang="ko-KR" dirty="0">
              <a:latin typeface="+mn-ea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960022" y="2575866"/>
            <a:ext cx="7088957" cy="3699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</a:rPr>
              <a:t>[1, 2, 3, 4, 5, 6, 7, 8, 9, 10]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7056" y="3348273"/>
            <a:ext cx="8020383" cy="9508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프로그램 </a:t>
            </a:r>
            <a:r>
              <a:rPr lang="en-US" altLang="ko-KR" dirty="0">
                <a:latin typeface="+mn-ea"/>
              </a:rPr>
              <a:t>10-1</a:t>
            </a:r>
            <a:r>
              <a:rPr lang="ko-KR" altLang="en-US" dirty="0">
                <a:latin typeface="+mn-ea"/>
              </a:rPr>
              <a:t>과 정렬 원리는 같지만</a:t>
            </a:r>
            <a:r>
              <a:rPr lang="en-US" altLang="ko-KR" dirty="0">
                <a:latin typeface="+mn-ea"/>
              </a:rPr>
              <a:t>, return </a:t>
            </a:r>
            <a:r>
              <a:rPr lang="ko-KR" altLang="en-US" dirty="0">
                <a:latin typeface="+mn-ea"/>
              </a:rPr>
              <a:t>값이 없고 입력 리스트 안의 자료 순서를 직접 바꾼다는 차이가 있음</a:t>
            </a:r>
            <a:endParaRPr lang="en-US" altLang="ko-KR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61238835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10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병합 정렬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5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알고리즘 분석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056" y="1821131"/>
            <a:ext cx="8020383" cy="4205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65000"/>
              </a:lnSpc>
              <a:buClr>
                <a:srgbClr val="EB666E"/>
              </a:buClr>
            </a:pPr>
            <a:r>
              <a:rPr lang="ko-KR" altLang="en-US" dirty="0">
                <a:solidFill>
                  <a:srgbClr val="EB666E"/>
                </a:solidFill>
                <a:latin typeface="+mn-ea"/>
              </a:rPr>
              <a:t>분할 정복</a:t>
            </a:r>
            <a:r>
              <a:rPr lang="en-US" altLang="ko-KR" dirty="0">
                <a:solidFill>
                  <a:srgbClr val="EB666E"/>
                </a:solidFill>
                <a:latin typeface="+mn-ea"/>
              </a:rPr>
              <a:t>(divide and conquer)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병합 정렬은 주어진 문제를 절반으로 나눈 다음 각각을 재귀 호출로 </a:t>
            </a:r>
            <a:br>
              <a:rPr lang="en-US" altLang="ko-KR" dirty="0">
                <a:latin typeface="+mn-ea"/>
              </a:rPr>
            </a:br>
            <a:r>
              <a:rPr lang="ko-KR" altLang="en-US" dirty="0">
                <a:latin typeface="+mn-ea"/>
              </a:rPr>
              <a:t>풀어 가는 방식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큰 문제를 작은 문제로 나눠서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분할하여</a:t>
            </a:r>
            <a:r>
              <a:rPr lang="en-US" altLang="ko-KR" dirty="0">
                <a:latin typeface="+mn-ea"/>
              </a:rPr>
              <a:t>) </a:t>
            </a:r>
            <a:r>
              <a:rPr lang="ko-KR" altLang="en-US" dirty="0">
                <a:latin typeface="+mn-ea"/>
              </a:rPr>
              <a:t>푸는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정복하는</a:t>
            </a:r>
            <a:r>
              <a:rPr lang="en-US" altLang="ko-KR" dirty="0">
                <a:latin typeface="+mn-ea"/>
              </a:rPr>
              <a:t>) </a:t>
            </a:r>
            <a:r>
              <a:rPr lang="ko-KR" altLang="en-US" dirty="0">
                <a:latin typeface="+mn-ea"/>
              </a:rPr>
              <a:t>방법을 알고리즘 설계 기법에서는 ‘분할 정복</a:t>
            </a:r>
            <a:r>
              <a:rPr lang="en-US" altLang="ko-KR" dirty="0">
                <a:latin typeface="+mn-ea"/>
              </a:rPr>
              <a:t>(divide and conquer)’</a:t>
            </a:r>
            <a:r>
              <a:rPr lang="ko-KR" altLang="en-US" dirty="0">
                <a:latin typeface="+mn-ea"/>
              </a:rPr>
              <a:t>이라고 부름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입력 크기가 커서 풀기 어려웠던 문제도 반복해서 잘게 나누다 보면 </a:t>
            </a:r>
            <a:br>
              <a:rPr lang="en-US" altLang="ko-KR" dirty="0">
                <a:latin typeface="+mn-ea"/>
              </a:rPr>
            </a:br>
            <a:r>
              <a:rPr lang="ko-KR" altLang="en-US" dirty="0">
                <a:latin typeface="+mn-ea"/>
              </a:rPr>
              <a:t>굉장히 쉬운 문제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종료 조건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>
                <a:latin typeface="+mn-ea"/>
              </a:rPr>
              <a:t>가 되는 원리를 이용한 것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분할 정복은 잘 활용하면 계산 복잡도가 더 낮은 효율적인 알고리즘을 </a:t>
            </a:r>
            <a:br>
              <a:rPr lang="en-US" altLang="ko-KR" dirty="0">
                <a:latin typeface="+mn-ea"/>
              </a:rPr>
            </a:br>
            <a:r>
              <a:rPr lang="ko-KR" altLang="en-US" dirty="0">
                <a:latin typeface="+mn-ea"/>
              </a:rPr>
              <a:t>만드는 데 도움이 됨</a:t>
            </a:r>
            <a:endParaRPr lang="en-US" altLang="ko-KR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422608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10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병합 정렬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5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알고리즘 분석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056" y="1821131"/>
            <a:ext cx="8020383" cy="45104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분할 정복을 이용한 병합 정렬의 계산 복잡도는 </a:t>
            </a:r>
            <a:r>
              <a:rPr lang="en-US" altLang="ko-KR" dirty="0">
                <a:latin typeface="+mn-ea"/>
              </a:rPr>
              <a:t>O(</a:t>
            </a:r>
            <a:r>
              <a:rPr lang="en-US" altLang="ko-KR" dirty="0" err="1">
                <a:latin typeface="+mn-ea"/>
              </a:rPr>
              <a:t>n·log</a:t>
            </a:r>
            <a:r>
              <a:rPr lang="en-US" altLang="ko-KR" dirty="0">
                <a:latin typeface="+mn-ea"/>
              </a:rPr>
              <a:t> n)</a:t>
            </a: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선택 정렬이나 삽입 정렬의 계산 복잡도 </a:t>
            </a:r>
            <a:r>
              <a:rPr lang="en-US" altLang="ko-KR" dirty="0">
                <a:latin typeface="+mn-ea"/>
              </a:rPr>
              <a:t>O(n</a:t>
            </a:r>
            <a:r>
              <a:rPr lang="en-US" altLang="ko-KR" baseline="30000" dirty="0">
                <a:latin typeface="+mn-ea"/>
              </a:rPr>
              <a:t>2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>
                <a:latin typeface="+mn-ea"/>
              </a:rPr>
              <a:t>보다 낮음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따라서 정렬해야 할 자료의 개수가 많을수록 병합 정렬이 선택 정렬이나 삽입 정렬보다 훨씬 더 빠른 정렬 성능을 발휘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endParaRPr lang="en-US" altLang="ko-KR" sz="1200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예를 들어 대한민국 국민 오천만 명을 생년월일 순서로 정렬한다고 가정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입력 크기가 </a:t>
            </a:r>
            <a:r>
              <a:rPr lang="en-US" altLang="ko-KR" dirty="0">
                <a:latin typeface="+mn-ea"/>
              </a:rPr>
              <a:t>n=50,000,000</a:t>
            </a:r>
            <a:r>
              <a:rPr lang="ko-KR" altLang="en-US" dirty="0">
                <a:latin typeface="+mn-ea"/>
              </a:rPr>
              <a:t>일 때 </a:t>
            </a:r>
            <a:r>
              <a:rPr lang="en-US" altLang="ko-KR" dirty="0">
                <a:latin typeface="+mn-ea"/>
              </a:rPr>
              <a:t>n</a:t>
            </a:r>
            <a:r>
              <a:rPr lang="en-US" altLang="ko-KR" baseline="30000" dirty="0">
                <a:latin typeface="+mn-ea"/>
              </a:rPr>
              <a:t>2</a:t>
            </a:r>
            <a:r>
              <a:rPr lang="ko-KR" altLang="en-US" dirty="0">
                <a:latin typeface="+mn-ea"/>
              </a:rPr>
              <a:t>은 </a:t>
            </a:r>
            <a:r>
              <a:rPr lang="en-US" altLang="ko-KR" dirty="0">
                <a:latin typeface="+mn-ea"/>
              </a:rPr>
              <a:t>2,500</a:t>
            </a:r>
            <a:r>
              <a:rPr lang="ko-KR" altLang="en-US" dirty="0">
                <a:latin typeface="+mn-ea"/>
              </a:rPr>
              <a:t>조이고 </a:t>
            </a:r>
            <a:r>
              <a:rPr lang="en-US" altLang="ko-KR" dirty="0" err="1">
                <a:latin typeface="+mn-ea"/>
              </a:rPr>
              <a:t>n·log</a:t>
            </a:r>
            <a:r>
              <a:rPr lang="en-US" altLang="ko-KR" dirty="0">
                <a:latin typeface="+mn-ea"/>
              </a:rPr>
              <a:t> n</a:t>
            </a:r>
            <a:r>
              <a:rPr lang="ko-KR" altLang="en-US" dirty="0">
                <a:latin typeface="+mn-ea"/>
              </a:rPr>
              <a:t>은 약 </a:t>
            </a:r>
            <a:r>
              <a:rPr lang="en-US" altLang="ko-KR" dirty="0">
                <a:latin typeface="+mn-ea"/>
              </a:rPr>
              <a:t>13</a:t>
            </a:r>
            <a:r>
              <a:rPr lang="ko-KR" altLang="en-US" dirty="0">
                <a:latin typeface="+mn-ea"/>
              </a:rPr>
              <a:t>억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en-US" altLang="ko-KR" dirty="0">
                <a:latin typeface="+mn-ea"/>
              </a:rPr>
              <a:t>2,500</a:t>
            </a:r>
            <a:r>
              <a:rPr lang="ko-KR" altLang="en-US" dirty="0">
                <a:latin typeface="+mn-ea"/>
              </a:rPr>
              <a:t>조는 </a:t>
            </a:r>
            <a:r>
              <a:rPr lang="en-US" altLang="ko-KR" dirty="0">
                <a:latin typeface="+mn-ea"/>
              </a:rPr>
              <a:t>13</a:t>
            </a:r>
            <a:r>
              <a:rPr lang="ko-KR" altLang="en-US" dirty="0">
                <a:latin typeface="+mn-ea"/>
              </a:rPr>
              <a:t>억보다 무려 </a:t>
            </a:r>
            <a:r>
              <a:rPr lang="en-US" altLang="ko-KR" dirty="0">
                <a:latin typeface="+mn-ea"/>
              </a:rPr>
              <a:t>200</a:t>
            </a:r>
            <a:r>
              <a:rPr lang="ko-KR" altLang="en-US" dirty="0">
                <a:latin typeface="+mn-ea"/>
              </a:rPr>
              <a:t>만 배 정도 큰 숫자</a:t>
            </a:r>
            <a:br>
              <a:rPr lang="en-US" altLang="ko-KR" dirty="0">
                <a:latin typeface="+mn-ea"/>
              </a:rPr>
            </a:br>
            <a:r>
              <a:rPr lang="ko-KR" altLang="en-US" dirty="0">
                <a:latin typeface="+mn-ea"/>
              </a:rPr>
              <a:t>→ </a:t>
            </a:r>
            <a:r>
              <a:rPr lang="en-US" altLang="ko-KR" dirty="0">
                <a:latin typeface="+mn-ea"/>
              </a:rPr>
              <a:t>O(n</a:t>
            </a:r>
            <a:r>
              <a:rPr lang="en-US" altLang="ko-KR" baseline="30000" dirty="0">
                <a:latin typeface="+mn-ea"/>
              </a:rPr>
              <a:t>2</a:t>
            </a:r>
            <a:r>
              <a:rPr lang="en-US" altLang="ko-KR" dirty="0">
                <a:latin typeface="+mn-ea"/>
              </a:rPr>
              <a:t>) </a:t>
            </a:r>
            <a:r>
              <a:rPr lang="ko-KR" altLang="en-US" dirty="0">
                <a:latin typeface="+mn-ea"/>
              </a:rPr>
              <a:t>정렬 알고리즘과 </a:t>
            </a:r>
            <a:r>
              <a:rPr lang="en-US" altLang="ko-KR" dirty="0">
                <a:latin typeface="+mn-ea"/>
              </a:rPr>
              <a:t>O(</a:t>
            </a:r>
            <a:r>
              <a:rPr lang="en-US" altLang="ko-KR" dirty="0" err="1">
                <a:latin typeface="+mn-ea"/>
              </a:rPr>
              <a:t>n·log</a:t>
            </a:r>
            <a:r>
              <a:rPr lang="en-US" altLang="ko-KR" dirty="0">
                <a:latin typeface="+mn-ea"/>
              </a:rPr>
              <a:t> n) </a:t>
            </a:r>
            <a:r>
              <a:rPr lang="ko-KR" altLang="en-US" dirty="0">
                <a:latin typeface="+mn-ea"/>
              </a:rPr>
              <a:t>정렬 알고리즘의 계산 시간이 얼마나 많이 차이 나는지 짐작할 수 있음</a:t>
            </a:r>
            <a:endParaRPr lang="en-US" altLang="ko-KR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8438338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10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병합 정렬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연습 문제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056" y="1821131"/>
            <a:ext cx="8020383" cy="1920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en-US" altLang="ko-KR" dirty="0">
                <a:solidFill>
                  <a:srgbClr val="EB666E"/>
                </a:solidFill>
                <a:latin typeface="+mn-ea"/>
              </a:rPr>
              <a:t>10-1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프로그램 </a:t>
            </a:r>
            <a:r>
              <a:rPr lang="en-US" altLang="ko-KR" dirty="0">
                <a:latin typeface="+mn-ea"/>
              </a:rPr>
              <a:t>10-2</a:t>
            </a:r>
            <a:r>
              <a:rPr lang="ko-KR" altLang="en-US" dirty="0">
                <a:latin typeface="+mn-ea"/>
              </a:rPr>
              <a:t>에서 다룬 정렬 알고리즘은 숫자를 작은 수에서 큰 수 순서로 나열하는 오름차순 정렬이었습니다</a:t>
            </a:r>
            <a:r>
              <a:rPr lang="en-US" altLang="ko-KR" dirty="0">
                <a:latin typeface="+mn-ea"/>
              </a:rPr>
              <a:t>. </a:t>
            </a:r>
            <a:r>
              <a:rPr lang="ko-KR" altLang="en-US" dirty="0">
                <a:latin typeface="+mn-ea"/>
              </a:rPr>
              <a:t>오름차순 정렬을 큰 수에서 작은 수 순서로 나열하는 내림차순 정렬로 바꾸려면 프로그램의 어느 </a:t>
            </a:r>
            <a:br>
              <a:rPr lang="en-US" altLang="ko-KR" dirty="0">
                <a:latin typeface="+mn-ea"/>
              </a:rPr>
            </a:br>
            <a:r>
              <a:rPr lang="ko-KR" altLang="en-US" dirty="0">
                <a:latin typeface="+mn-ea"/>
              </a:rPr>
              <a:t>부분을 바꿔야 할까요</a:t>
            </a:r>
            <a:r>
              <a:rPr lang="en-US" altLang="ko-KR" dirty="0">
                <a:latin typeface="+mn-ea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760141520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10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병합 정렬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연습 문제 풀이</a:t>
            </a:r>
          </a:p>
        </p:txBody>
      </p:sp>
      <p:sp>
        <p:nvSpPr>
          <p:cNvPr id="8" name="모서리가 둥근 직사각형 7"/>
          <p:cNvSpPr/>
          <p:nvPr/>
        </p:nvSpPr>
        <p:spPr>
          <a:xfrm>
            <a:off x="3227832" y="673656"/>
            <a:ext cx="740664" cy="380917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</a:rPr>
              <a:t>부록 </a:t>
            </a:r>
            <a:r>
              <a:rPr lang="en-US" altLang="ko-KR" sz="1400" b="1" dirty="0">
                <a:solidFill>
                  <a:schemeClr val="bg1"/>
                </a:solidFill>
              </a:rPr>
              <a:t>A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7056" y="1821131"/>
            <a:ext cx="8020383" cy="549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en-US" altLang="ko-KR" dirty="0">
                <a:solidFill>
                  <a:srgbClr val="EB666E"/>
                </a:solidFill>
              </a:rPr>
              <a:t>10-1</a:t>
            </a:r>
            <a:r>
              <a:rPr lang="en-US" altLang="ko-KR" dirty="0"/>
              <a:t> </a:t>
            </a:r>
            <a:r>
              <a:rPr lang="ko-KR" altLang="en-US" dirty="0"/>
              <a:t>내림차순 병합 정렬</a:t>
            </a:r>
            <a:endParaRPr lang="en-US" altLang="ko-KR" dirty="0">
              <a:latin typeface="+mn-ea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045269" y="2917455"/>
            <a:ext cx="7088957" cy="2427543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내림차순 병합 정렬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입력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: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리스트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a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출력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: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없음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(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입력으로 주어진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a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가 정렬됨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)</a:t>
            </a:r>
          </a:p>
          <a:p>
            <a:pPr>
              <a:lnSpc>
                <a:spcPct val="120000"/>
              </a:lnSpc>
            </a:pP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400" dirty="0" err="1">
                <a:solidFill>
                  <a:srgbClr val="FF822D"/>
                </a:solidFill>
                <a:latin typeface="+mn-ea"/>
              </a:rPr>
              <a:t>def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 err="1">
                <a:solidFill>
                  <a:srgbClr val="0070C0"/>
                </a:solidFill>
                <a:latin typeface="+mn-ea"/>
              </a:rPr>
              <a:t>merge_sort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(a):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n = </a:t>
            </a:r>
            <a:r>
              <a:rPr lang="en-US" altLang="ko-KR" sz="1400" dirty="0" err="1">
                <a:solidFill>
                  <a:srgbClr val="0070C0"/>
                </a:solidFill>
                <a:latin typeface="+mn-ea"/>
              </a:rPr>
              <a:t>len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(a)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    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종료 조건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: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정렬할 리스트의 자료 개수가 한 개 이하이면 정렬할 필요가 없음</a:t>
            </a:r>
          </a:p>
          <a:p>
            <a:pPr>
              <a:lnSpc>
                <a:spcPct val="120000"/>
              </a:lnSpc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if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n &lt;= 1: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   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return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1001" y="2609681"/>
            <a:ext cx="31265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EB666E"/>
                </a:solidFill>
                <a:latin typeface="+mn-ea"/>
              </a:rPr>
              <a:t>▼</a:t>
            </a:r>
            <a:r>
              <a:rPr lang="ko-KR" altLang="en-US" sz="1400" dirty="0">
                <a:latin typeface="+mn-ea"/>
              </a:rPr>
              <a:t> </a:t>
            </a:r>
            <a:r>
              <a:rPr lang="ko-KR" altLang="en-US" sz="1400" dirty="0">
                <a:solidFill>
                  <a:srgbClr val="EB666E"/>
                </a:solidFill>
                <a:latin typeface="+mn-ea"/>
              </a:rPr>
              <a:t>예제 소스 </a:t>
            </a:r>
            <a:r>
              <a:rPr lang="en-US" altLang="ko-KR" sz="1400" dirty="0">
                <a:latin typeface="+mn-ea"/>
              </a:rPr>
              <a:t>e10-1-msort.py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아래쪽 화살표 14"/>
          <p:cNvSpPr/>
          <p:nvPr/>
        </p:nvSpPr>
        <p:spPr>
          <a:xfrm>
            <a:off x="4502546" y="5553790"/>
            <a:ext cx="174402" cy="197963"/>
          </a:xfrm>
          <a:prstGeom prst="downArrow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458568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/>
          <p:cNvSpPr/>
          <p:nvPr/>
        </p:nvSpPr>
        <p:spPr>
          <a:xfrm>
            <a:off x="1716195" y="5090149"/>
            <a:ext cx="1149553" cy="217141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10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병합 정렬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연습 문제 풀이</a:t>
            </a:r>
          </a:p>
        </p:txBody>
      </p:sp>
      <p:sp>
        <p:nvSpPr>
          <p:cNvPr id="8" name="모서리가 둥근 직사각형 7"/>
          <p:cNvSpPr/>
          <p:nvPr/>
        </p:nvSpPr>
        <p:spPr>
          <a:xfrm>
            <a:off x="3227832" y="673656"/>
            <a:ext cx="740664" cy="380917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</a:rPr>
              <a:t>부록 </a:t>
            </a:r>
            <a:r>
              <a:rPr lang="en-US" altLang="ko-KR" sz="1400" b="1" dirty="0">
                <a:solidFill>
                  <a:schemeClr val="bg1"/>
                </a:solidFill>
              </a:rPr>
              <a:t>A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960022" y="2232442"/>
            <a:ext cx="7088957" cy="3849076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 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그룹을 나누어 각각 병합 정렬을 호출하는 과정</a:t>
            </a:r>
          </a:p>
          <a:p>
            <a:pPr>
              <a:lnSpc>
                <a:spcPct val="120000"/>
              </a:lnSpc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mid = n // 2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g1 = a[:mid]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g2 = a[mid:]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merge_sort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(g1)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merge_sort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(g2)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    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두 그룹을 합치는 과정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(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병합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i1 = 0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i2 = 0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ia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= 0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while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i1 &lt; </a:t>
            </a:r>
            <a:r>
              <a:rPr lang="en-US" altLang="ko-KR" sz="1400" dirty="0" err="1">
                <a:solidFill>
                  <a:srgbClr val="0070C0"/>
                </a:solidFill>
                <a:latin typeface="+mn-ea"/>
              </a:rPr>
              <a:t>len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(g1)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and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i2 &lt; </a:t>
            </a:r>
            <a:r>
              <a:rPr lang="en-US" altLang="ko-KR" sz="1400" dirty="0" err="1">
                <a:solidFill>
                  <a:srgbClr val="0070C0"/>
                </a:solidFill>
                <a:latin typeface="+mn-ea"/>
              </a:rPr>
              <a:t>len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(g2):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   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if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g1[i1] &gt; g2[i2]: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부등호 방향 뒤집기</a:t>
            </a:r>
          </a:p>
          <a:p>
            <a:pPr>
              <a:lnSpc>
                <a:spcPct val="120000"/>
              </a:lnSpc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           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a[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ia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] = g1[i1]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        i1 += 1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       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ia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+= 1</a:t>
            </a:r>
          </a:p>
        </p:txBody>
      </p:sp>
      <p:sp>
        <p:nvSpPr>
          <p:cNvPr id="10" name="아래쪽 화살표 9"/>
          <p:cNvSpPr/>
          <p:nvPr/>
        </p:nvSpPr>
        <p:spPr>
          <a:xfrm rot="10800000">
            <a:off x="4417299" y="1844955"/>
            <a:ext cx="174402" cy="197963"/>
          </a:xfrm>
          <a:prstGeom prst="downArrow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4" name="아래쪽 화살표 13"/>
          <p:cNvSpPr/>
          <p:nvPr/>
        </p:nvSpPr>
        <p:spPr>
          <a:xfrm>
            <a:off x="4417299" y="6227262"/>
            <a:ext cx="174402" cy="197963"/>
          </a:xfrm>
          <a:prstGeom prst="downArrow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520169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10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병합 정렬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연습 문제 풀이</a:t>
            </a:r>
          </a:p>
        </p:txBody>
      </p:sp>
      <p:sp>
        <p:nvSpPr>
          <p:cNvPr id="8" name="모서리가 둥근 직사각형 7"/>
          <p:cNvSpPr/>
          <p:nvPr/>
        </p:nvSpPr>
        <p:spPr>
          <a:xfrm>
            <a:off x="3227832" y="673656"/>
            <a:ext cx="740664" cy="380917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</a:rPr>
              <a:t>부록 </a:t>
            </a:r>
            <a:r>
              <a:rPr lang="en-US" altLang="ko-KR" sz="1400" b="1" dirty="0">
                <a:solidFill>
                  <a:schemeClr val="bg1"/>
                </a:solidFill>
              </a:rPr>
              <a:t>A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960022" y="2007879"/>
            <a:ext cx="7088957" cy="4119544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pt-BR" altLang="ko-KR" sz="1400" dirty="0">
                <a:solidFill>
                  <a:schemeClr val="tx1"/>
                </a:solidFill>
                <a:latin typeface="+mn-ea"/>
              </a:rPr>
              <a:t>        </a:t>
            </a:r>
            <a:r>
              <a:rPr lang="pt-BR" altLang="ko-KR" sz="1400" dirty="0">
                <a:solidFill>
                  <a:srgbClr val="FF822D"/>
                </a:solidFill>
                <a:latin typeface="+mn-ea"/>
              </a:rPr>
              <a:t>else</a:t>
            </a:r>
            <a:r>
              <a:rPr lang="pt-BR" altLang="ko-KR" sz="1400" dirty="0">
                <a:solidFill>
                  <a:schemeClr val="tx1"/>
                </a:solidFill>
                <a:latin typeface="+mn-ea"/>
              </a:rPr>
              <a:t>:</a:t>
            </a:r>
          </a:p>
          <a:p>
            <a:pPr>
              <a:lnSpc>
                <a:spcPct val="120000"/>
              </a:lnSpc>
            </a:pPr>
            <a:r>
              <a:rPr lang="pt-BR" altLang="ko-KR" sz="1400" dirty="0">
                <a:solidFill>
                  <a:schemeClr val="tx1"/>
                </a:solidFill>
                <a:latin typeface="+mn-ea"/>
              </a:rPr>
              <a:t>            a[ia] = g2[i2]</a:t>
            </a:r>
          </a:p>
          <a:p>
            <a:pPr>
              <a:lnSpc>
                <a:spcPct val="120000"/>
              </a:lnSpc>
            </a:pPr>
            <a:r>
              <a:rPr lang="pt-BR" altLang="ko-KR" sz="1400" dirty="0">
                <a:solidFill>
                  <a:schemeClr val="tx1"/>
                </a:solidFill>
                <a:latin typeface="+mn-ea"/>
              </a:rPr>
              <a:t>            i2 += 1</a:t>
            </a:r>
          </a:p>
          <a:p>
            <a:pPr>
              <a:lnSpc>
                <a:spcPct val="120000"/>
              </a:lnSpc>
            </a:pPr>
            <a:r>
              <a:rPr lang="pt-BR" altLang="ko-KR" sz="1400" dirty="0">
                <a:solidFill>
                  <a:schemeClr val="tx1"/>
                </a:solidFill>
                <a:latin typeface="+mn-ea"/>
              </a:rPr>
              <a:t>            ia += 1</a:t>
            </a:r>
          </a:p>
          <a:p>
            <a:pPr>
              <a:lnSpc>
                <a:spcPct val="120000"/>
              </a:lnSpc>
            </a:pPr>
            <a:r>
              <a:rPr lang="pt-BR" altLang="ko-KR" sz="140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pt-BR" altLang="ko-KR" sz="1400" dirty="0">
                <a:solidFill>
                  <a:srgbClr val="FF822D"/>
                </a:solidFill>
                <a:latin typeface="+mn-ea"/>
              </a:rPr>
              <a:t>while</a:t>
            </a:r>
            <a:r>
              <a:rPr lang="pt-BR" altLang="ko-KR" sz="1400" dirty="0">
                <a:solidFill>
                  <a:schemeClr val="tx1"/>
                </a:solidFill>
                <a:latin typeface="+mn-ea"/>
              </a:rPr>
              <a:t> i1 &lt; </a:t>
            </a:r>
            <a:r>
              <a:rPr lang="pt-BR" altLang="ko-KR" sz="1400" dirty="0">
                <a:solidFill>
                  <a:srgbClr val="0070C0"/>
                </a:solidFill>
                <a:latin typeface="+mn-ea"/>
              </a:rPr>
              <a:t>len</a:t>
            </a:r>
            <a:r>
              <a:rPr lang="pt-BR" altLang="ko-KR" sz="1400" dirty="0">
                <a:solidFill>
                  <a:schemeClr val="tx1"/>
                </a:solidFill>
                <a:latin typeface="+mn-ea"/>
              </a:rPr>
              <a:t>(g1):</a:t>
            </a:r>
          </a:p>
          <a:p>
            <a:pPr>
              <a:lnSpc>
                <a:spcPct val="120000"/>
              </a:lnSpc>
            </a:pPr>
            <a:r>
              <a:rPr lang="pt-BR" altLang="ko-KR" sz="1400" dirty="0">
                <a:solidFill>
                  <a:schemeClr val="tx1"/>
                </a:solidFill>
                <a:latin typeface="+mn-ea"/>
              </a:rPr>
              <a:t>        a[ia] = g1[i1]</a:t>
            </a:r>
          </a:p>
          <a:p>
            <a:pPr>
              <a:lnSpc>
                <a:spcPct val="120000"/>
              </a:lnSpc>
            </a:pPr>
            <a:r>
              <a:rPr lang="pt-BR" altLang="ko-KR" sz="1400" dirty="0">
                <a:solidFill>
                  <a:schemeClr val="tx1"/>
                </a:solidFill>
                <a:latin typeface="+mn-ea"/>
              </a:rPr>
              <a:t>        i1 += 1</a:t>
            </a:r>
          </a:p>
          <a:p>
            <a:pPr>
              <a:lnSpc>
                <a:spcPct val="120000"/>
              </a:lnSpc>
            </a:pPr>
            <a:r>
              <a:rPr lang="pt-BR" altLang="ko-KR" sz="1400" dirty="0">
                <a:solidFill>
                  <a:schemeClr val="tx1"/>
                </a:solidFill>
                <a:latin typeface="+mn-ea"/>
              </a:rPr>
              <a:t>        ia += 1</a:t>
            </a:r>
          </a:p>
          <a:p>
            <a:pPr>
              <a:lnSpc>
                <a:spcPct val="120000"/>
              </a:lnSpc>
            </a:pPr>
            <a:r>
              <a:rPr lang="pt-BR" altLang="ko-KR" sz="140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pt-BR" altLang="ko-KR" sz="1400" dirty="0">
                <a:solidFill>
                  <a:srgbClr val="FF822D"/>
                </a:solidFill>
                <a:latin typeface="+mn-ea"/>
              </a:rPr>
              <a:t>while</a:t>
            </a:r>
            <a:r>
              <a:rPr lang="pt-BR" altLang="ko-KR" sz="1400" dirty="0">
                <a:solidFill>
                  <a:schemeClr val="tx1"/>
                </a:solidFill>
                <a:latin typeface="+mn-ea"/>
              </a:rPr>
              <a:t> i2 &lt; </a:t>
            </a:r>
            <a:r>
              <a:rPr lang="pt-BR" altLang="ko-KR" sz="1400" dirty="0">
                <a:solidFill>
                  <a:srgbClr val="0070C0"/>
                </a:solidFill>
                <a:latin typeface="+mn-ea"/>
              </a:rPr>
              <a:t>len</a:t>
            </a:r>
            <a:r>
              <a:rPr lang="pt-BR" altLang="ko-KR" sz="1400" dirty="0">
                <a:solidFill>
                  <a:schemeClr val="tx1"/>
                </a:solidFill>
                <a:latin typeface="+mn-ea"/>
              </a:rPr>
              <a:t>(g2):</a:t>
            </a:r>
          </a:p>
          <a:p>
            <a:pPr>
              <a:lnSpc>
                <a:spcPct val="120000"/>
              </a:lnSpc>
            </a:pPr>
            <a:r>
              <a:rPr lang="pt-BR" altLang="ko-KR" sz="1400" dirty="0">
                <a:solidFill>
                  <a:schemeClr val="tx1"/>
                </a:solidFill>
                <a:latin typeface="+mn-ea"/>
              </a:rPr>
              <a:t>        a[ia] = g2[i2]</a:t>
            </a:r>
          </a:p>
          <a:p>
            <a:pPr>
              <a:lnSpc>
                <a:spcPct val="120000"/>
              </a:lnSpc>
            </a:pPr>
            <a:r>
              <a:rPr lang="pt-BR" altLang="ko-KR" sz="1400" dirty="0">
                <a:solidFill>
                  <a:schemeClr val="tx1"/>
                </a:solidFill>
                <a:latin typeface="+mn-ea"/>
              </a:rPr>
              <a:t>        i2 += 1</a:t>
            </a:r>
          </a:p>
          <a:p>
            <a:pPr>
              <a:lnSpc>
                <a:spcPct val="120000"/>
              </a:lnSpc>
            </a:pPr>
            <a:r>
              <a:rPr lang="pt-BR" altLang="ko-KR" sz="1400" dirty="0">
                <a:solidFill>
                  <a:schemeClr val="tx1"/>
                </a:solidFill>
                <a:latin typeface="+mn-ea"/>
              </a:rPr>
              <a:t>        ia += 1</a:t>
            </a:r>
          </a:p>
          <a:p>
            <a:pPr>
              <a:lnSpc>
                <a:spcPct val="120000"/>
              </a:lnSpc>
            </a:pPr>
            <a:endParaRPr lang="pt-BR" altLang="ko-KR" sz="14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pt-BR" altLang="ko-KR" sz="1400" dirty="0">
                <a:solidFill>
                  <a:schemeClr val="tx1"/>
                </a:solidFill>
                <a:latin typeface="+mn-ea"/>
              </a:rPr>
              <a:t>d = [6, 8, 3, 9, 10, 1, 2, 4, 7, 5]</a:t>
            </a:r>
          </a:p>
          <a:p>
            <a:pPr>
              <a:lnSpc>
                <a:spcPct val="120000"/>
              </a:lnSpc>
            </a:pPr>
            <a:r>
              <a:rPr lang="pt-BR" altLang="ko-KR" sz="1400" dirty="0">
                <a:solidFill>
                  <a:schemeClr val="tx1"/>
                </a:solidFill>
                <a:latin typeface="+mn-ea"/>
              </a:rPr>
              <a:t>merge_sort(d)</a:t>
            </a:r>
          </a:p>
          <a:p>
            <a:pPr>
              <a:lnSpc>
                <a:spcPct val="120000"/>
              </a:lnSpc>
            </a:pPr>
            <a:r>
              <a:rPr lang="pt-BR" altLang="ko-KR" sz="1400" dirty="0">
                <a:solidFill>
                  <a:srgbClr val="0070C0"/>
                </a:solidFill>
                <a:latin typeface="+mn-ea"/>
              </a:rPr>
              <a:t>print</a:t>
            </a:r>
            <a:r>
              <a:rPr lang="pt-BR" altLang="ko-KR" sz="1400" dirty="0">
                <a:solidFill>
                  <a:schemeClr val="tx1"/>
                </a:solidFill>
                <a:latin typeface="+mn-ea"/>
              </a:rPr>
              <a:t>(d)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" name="아래쪽 화살표 9"/>
          <p:cNvSpPr/>
          <p:nvPr/>
        </p:nvSpPr>
        <p:spPr>
          <a:xfrm rot="10800000">
            <a:off x="4415346" y="1684333"/>
            <a:ext cx="174402" cy="197963"/>
          </a:xfrm>
          <a:prstGeom prst="downArrow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9720258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10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병합 정렬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연습 문제 풀이</a:t>
            </a:r>
          </a:p>
        </p:txBody>
      </p:sp>
      <p:sp>
        <p:nvSpPr>
          <p:cNvPr id="8" name="모서리가 둥근 직사각형 7"/>
          <p:cNvSpPr/>
          <p:nvPr/>
        </p:nvSpPr>
        <p:spPr>
          <a:xfrm>
            <a:off x="3227832" y="673656"/>
            <a:ext cx="740664" cy="380917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</a:rPr>
              <a:t>부록 </a:t>
            </a:r>
            <a:r>
              <a:rPr lang="en-US" altLang="ko-KR" sz="1400" b="1" dirty="0">
                <a:solidFill>
                  <a:schemeClr val="bg1"/>
                </a:solidFill>
              </a:rPr>
              <a:t>A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7056" y="1821131"/>
            <a:ext cx="8176904" cy="485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solidFill>
                  <a:srgbClr val="EB666E"/>
                </a:solidFill>
                <a:latin typeface="+mn-ea"/>
              </a:rPr>
              <a:t>실행 결과</a:t>
            </a:r>
            <a:endParaRPr lang="en-US" altLang="ko-KR" dirty="0">
              <a:latin typeface="+mn-ea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960022" y="2575866"/>
            <a:ext cx="7088957" cy="3699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</a:rPr>
              <a:t>[10, 9, 8, 7, 6, 5, 4, 3, 2, 1]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7056" y="3348273"/>
            <a:ext cx="8020383" cy="9508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오름차순 정렬에서 값을 비교하는 부분</a:t>
            </a:r>
            <a:r>
              <a:rPr lang="en-US" altLang="ko-KR" dirty="0">
                <a:latin typeface="+mn-ea"/>
              </a:rPr>
              <a:t>(g1[i1] &lt; g2[i2])</a:t>
            </a:r>
            <a:r>
              <a:rPr lang="ko-KR" altLang="en-US" dirty="0">
                <a:latin typeface="+mn-ea"/>
              </a:rPr>
              <a:t>의 부등호 방향을 반대로 하면 내림차순 정렬 프로그램이 됨</a:t>
            </a:r>
            <a:endParaRPr lang="en-US" altLang="ko-KR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60148854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179512" y="144016"/>
            <a:ext cx="8820472" cy="6525344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" name="직선 연결선 3"/>
          <p:cNvCxnSpPr/>
          <p:nvPr/>
        </p:nvCxnSpPr>
        <p:spPr>
          <a:xfrm>
            <a:off x="3015343" y="3634895"/>
            <a:ext cx="3135086" cy="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/>
          <p:cNvSpPr/>
          <p:nvPr/>
        </p:nvSpPr>
        <p:spPr>
          <a:xfrm>
            <a:off x="1" y="3076950"/>
            <a:ext cx="9144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28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 </a:t>
            </a:r>
            <a:r>
              <a:rPr lang="en-US" altLang="ko-KR" sz="28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11 </a:t>
            </a:r>
            <a:r>
              <a:rPr lang="ko-KR" altLang="en-US" sz="2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퀵</a:t>
            </a:r>
            <a:r>
              <a:rPr lang="ko-KR" altLang="en-US" sz="26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정렬</a:t>
            </a:r>
          </a:p>
        </p:txBody>
      </p:sp>
    </p:spTree>
    <p:extLst>
      <p:ext uri="{BB962C8B-B14F-4D97-AF65-F5344CB8AC3E}">
        <p14:creationId xmlns:p14="http://schemas.microsoft.com/office/powerpoint/2010/main" val="1669740608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11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퀵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정렬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0</a:t>
            </a:r>
            <a:endParaRPr lang="ko-KR" altLang="en-US" sz="24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647057" y="1821131"/>
            <a:ext cx="7920872" cy="28346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65000"/>
              </a:lnSpc>
              <a:buClr>
                <a:srgbClr val="EB666E"/>
              </a:buClr>
            </a:pPr>
            <a:r>
              <a:rPr lang="ko-KR" altLang="en-US" b="1" dirty="0">
                <a:latin typeface="+mn-ea"/>
              </a:rPr>
              <a:t>리스트 안의 자료를 작은 수부터 큰 수 순서로 배열하는 정렬 알고리즘을 만들어 보세요</a:t>
            </a:r>
            <a:r>
              <a:rPr lang="en-US" altLang="ko-KR" b="1" dirty="0">
                <a:latin typeface="+mn-ea"/>
              </a:rPr>
              <a:t>.</a:t>
            </a:r>
          </a:p>
          <a:p>
            <a:pPr>
              <a:lnSpc>
                <a:spcPct val="165000"/>
              </a:lnSpc>
              <a:buClr>
                <a:srgbClr val="EB666E"/>
              </a:buClr>
            </a:pP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 err="1"/>
              <a:t>퀵</a:t>
            </a:r>
            <a:r>
              <a:rPr lang="ko-KR" altLang="en-US" dirty="0"/>
              <a:t> 정렬은 </a:t>
            </a:r>
            <a:r>
              <a:rPr lang="en-US" altLang="ko-KR" dirty="0"/>
              <a:t>‘</a:t>
            </a:r>
            <a:r>
              <a:rPr lang="ko-KR" altLang="en-US" dirty="0"/>
              <a:t>그룹을 둘로 나눠 재귀 호출</a:t>
            </a:r>
            <a:r>
              <a:rPr lang="en-US" altLang="ko-KR" dirty="0"/>
              <a:t>’</a:t>
            </a:r>
            <a:r>
              <a:rPr lang="ko-KR" altLang="en-US" dirty="0"/>
              <a:t>하는 방식은 병합 정렬과 같음</a:t>
            </a:r>
            <a:endParaRPr lang="en-US" altLang="ko-KR" dirty="0"/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/>
              <a:t>하지만 그룹을 나눌 때 미리 기준과 비교해서 나눈다는 점이 다름</a:t>
            </a:r>
            <a:endParaRPr lang="en-US" altLang="ko-KR" dirty="0"/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먼저 기준과 비교해서 그룹을 나눈 후 각각 재귀 호출하여 합치는 방식</a:t>
            </a:r>
            <a:endParaRPr lang="en-US" altLang="ko-KR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1285535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647056" y="1821131"/>
            <a:ext cx="8129299" cy="374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65000"/>
              </a:lnSpc>
              <a:buClr>
                <a:srgbClr val="EB666E"/>
              </a:buClr>
              <a:buFont typeface="+mj-lt"/>
              <a:buAutoNum type="arabicParenR"/>
            </a:pPr>
            <a:r>
              <a:rPr lang="ko-KR" altLang="en-US" dirty="0">
                <a:latin typeface="+mn-ea"/>
              </a:rPr>
              <a:t>학생들에게 일일이 지시하는 것이 귀찮아진 선생님은 학생들이 알아서 </a:t>
            </a:r>
            <a:br>
              <a:rPr lang="en-US" altLang="ko-KR" dirty="0">
                <a:latin typeface="+mn-ea"/>
              </a:rPr>
            </a:br>
            <a:r>
              <a:rPr lang="ko-KR" altLang="en-US" dirty="0">
                <a:latin typeface="+mn-ea"/>
              </a:rPr>
              <a:t>줄을 서는 방법이 없을지 고민</a:t>
            </a:r>
            <a:r>
              <a:rPr lang="en-US" altLang="ko-KR" dirty="0">
                <a:latin typeface="+mn-ea"/>
              </a:rPr>
              <a:t>. </a:t>
            </a:r>
            <a:r>
              <a:rPr lang="ko-KR" altLang="en-US" dirty="0">
                <a:latin typeface="+mn-ea"/>
              </a:rPr>
              <a:t>그렇다고 열 명이나 되는 학생들에게 </a:t>
            </a:r>
            <a:br>
              <a:rPr lang="en-US" altLang="ko-KR" dirty="0">
                <a:latin typeface="+mn-ea"/>
              </a:rPr>
            </a:br>
            <a:r>
              <a:rPr lang="ko-KR" altLang="en-US" dirty="0">
                <a:latin typeface="+mn-ea"/>
              </a:rPr>
              <a:t>한 번에 알아서 줄을 서라고 하면 소란스러울 것 같아 조를 나누려고 함</a:t>
            </a:r>
            <a:endParaRPr lang="en-US" altLang="ko-KR" dirty="0">
              <a:latin typeface="+mn-ea"/>
            </a:endParaRPr>
          </a:p>
          <a:p>
            <a:pPr marL="342900" indent="-342900">
              <a:lnSpc>
                <a:spcPct val="165000"/>
              </a:lnSpc>
              <a:buClr>
                <a:srgbClr val="EB666E"/>
              </a:buClr>
              <a:buFont typeface="+mj-lt"/>
              <a:buAutoNum type="arabicParenR"/>
            </a:pPr>
            <a:r>
              <a:rPr lang="ko-KR" altLang="en-US" dirty="0">
                <a:latin typeface="+mn-ea"/>
              </a:rPr>
              <a:t>열 명 중에 기준이 될 사람을 한 명 뽑음</a:t>
            </a:r>
            <a:r>
              <a:rPr lang="en-US" altLang="ko-KR" dirty="0">
                <a:latin typeface="+mn-ea"/>
              </a:rPr>
              <a:t>. </a:t>
            </a:r>
            <a:r>
              <a:rPr lang="ko-KR" altLang="en-US" dirty="0">
                <a:latin typeface="+mn-ea"/>
              </a:rPr>
              <a:t>기준으로 뽑은 태호를 줄 가운데 세운 다음 태호보다 키가 작은 학생은 태호 앞에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>
                <a:latin typeface="+mn-ea"/>
              </a:rPr>
              <a:t>태호보다 큰 학생은 태호 뒤에 서게 함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학생들은 </a:t>
            </a:r>
            <a:r>
              <a:rPr lang="ko-KR" altLang="en-US" dirty="0" err="1">
                <a:latin typeface="+mn-ea"/>
              </a:rPr>
              <a:t>태호하고만</a:t>
            </a:r>
            <a:r>
              <a:rPr lang="ko-KR" altLang="en-US" dirty="0">
                <a:latin typeface="+mn-ea"/>
              </a:rPr>
              <a:t> 키를 비교하면 됨</a:t>
            </a:r>
            <a:r>
              <a:rPr lang="en-US" altLang="ko-KR" dirty="0">
                <a:latin typeface="+mn-ea"/>
              </a:rPr>
              <a:t>)</a:t>
            </a:r>
          </a:p>
          <a:p>
            <a:pPr marL="342900" indent="-342900">
              <a:lnSpc>
                <a:spcPct val="165000"/>
              </a:lnSpc>
              <a:buClr>
                <a:srgbClr val="EB666E"/>
              </a:buClr>
              <a:buFont typeface="+mj-lt"/>
              <a:buAutoNum type="arabicParenR"/>
            </a:pPr>
            <a:r>
              <a:rPr lang="ko-KR" altLang="en-US" dirty="0">
                <a:latin typeface="+mn-ea"/>
              </a:rPr>
              <a:t>기준인 태호는 가만히 있고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>
                <a:latin typeface="+mn-ea"/>
              </a:rPr>
              <a:t>태호보다 키가 작은 학생은 작은 학생들끼리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>
                <a:latin typeface="+mn-ea"/>
              </a:rPr>
              <a:t>큰 학생은 큰 학생들끼리 다시 키 순서대로 줄을 서면 줄 서기가 끝남</a:t>
            </a:r>
            <a:endParaRPr lang="en-US" altLang="ko-KR" dirty="0">
              <a:latin typeface="+mn-ea"/>
            </a:endParaRPr>
          </a:p>
        </p:txBody>
      </p:sp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11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퀵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정렬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1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 err="1">
                <a:latin typeface="+mn-ea"/>
              </a:rPr>
              <a:t>퀵</a:t>
            </a:r>
            <a:r>
              <a:rPr lang="ko-KR" altLang="en-US" sz="2800" b="1" dirty="0">
                <a:latin typeface="+mn-ea"/>
              </a:rPr>
              <a:t> 정렬로 줄 세우기</a:t>
            </a:r>
          </a:p>
        </p:txBody>
      </p:sp>
    </p:spTree>
    <p:extLst>
      <p:ext uri="{BB962C8B-B14F-4D97-AF65-F5344CB8AC3E}">
        <p14:creationId xmlns:p14="http://schemas.microsoft.com/office/powerpoint/2010/main" val="272250506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11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퀵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정렬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1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 err="1">
                <a:latin typeface="+mn-ea"/>
              </a:rPr>
              <a:t>퀵</a:t>
            </a:r>
            <a:r>
              <a:rPr lang="ko-KR" altLang="en-US" sz="2800" b="1" dirty="0">
                <a:latin typeface="+mn-ea"/>
              </a:rPr>
              <a:t> 정렬로 줄 세우기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885" y="2007879"/>
            <a:ext cx="6943725" cy="15621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0" y="3569979"/>
            <a:ext cx="9144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2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그림 </a:t>
            </a:r>
            <a:r>
              <a:rPr lang="en-US" altLang="ko-KR" sz="12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11-1</a:t>
            </a:r>
            <a:r>
              <a:rPr lang="en-US" altLang="ko-KR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</a:t>
            </a:r>
            <a:r>
              <a:rPr lang="ko-KR" altLang="en-US" sz="12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퀵</a:t>
            </a:r>
            <a:r>
              <a:rPr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정렬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45879162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11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퀵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정렬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2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쉽게 설명한 </a:t>
            </a:r>
            <a:r>
              <a:rPr lang="ko-KR" altLang="en-US" sz="2800" b="1" dirty="0" err="1">
                <a:latin typeface="+mn-ea"/>
              </a:rPr>
              <a:t>퀵</a:t>
            </a:r>
            <a:r>
              <a:rPr lang="ko-KR" altLang="en-US" sz="2800" b="1" dirty="0">
                <a:latin typeface="+mn-ea"/>
              </a:rPr>
              <a:t> 정렬 알고리즘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056" y="1821131"/>
            <a:ext cx="8020383" cy="549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solidFill>
                  <a:srgbClr val="EB666E"/>
                </a:solidFill>
              </a:rPr>
              <a:t>프로그램 </a:t>
            </a:r>
            <a:r>
              <a:rPr lang="en-US" altLang="ko-KR" dirty="0">
                <a:solidFill>
                  <a:srgbClr val="EB666E"/>
                </a:solidFill>
              </a:rPr>
              <a:t>11-1</a:t>
            </a:r>
            <a:r>
              <a:rPr lang="en-US" altLang="ko-KR" dirty="0"/>
              <a:t> </a:t>
            </a:r>
            <a:r>
              <a:rPr lang="ko-KR" altLang="en-US" dirty="0"/>
              <a:t>쉽게 설명한 </a:t>
            </a:r>
            <a:r>
              <a:rPr lang="ko-KR" altLang="en-US" dirty="0" err="1"/>
              <a:t>퀵</a:t>
            </a:r>
            <a:r>
              <a:rPr lang="ko-KR" altLang="en-US" dirty="0"/>
              <a:t> 정렬 알고리즘</a:t>
            </a:r>
            <a:endParaRPr lang="en-US" altLang="ko-KR" dirty="0">
              <a:latin typeface="+mn-ea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1045269" y="2917455"/>
            <a:ext cx="7088957" cy="2427543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쉽게 설명한 </a:t>
            </a:r>
            <a:r>
              <a:rPr lang="ko-KR" altLang="en-US" sz="1400" dirty="0" err="1">
                <a:solidFill>
                  <a:schemeClr val="accent2">
                    <a:lumMod val="50000"/>
                  </a:schemeClr>
                </a:solidFill>
                <a:latin typeface="+mn-ea"/>
              </a:rPr>
              <a:t>퀵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 정렬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입력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: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리스트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a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출력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: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정렬된 새 리스트</a:t>
            </a:r>
          </a:p>
          <a:p>
            <a:pPr>
              <a:lnSpc>
                <a:spcPct val="120000"/>
              </a:lnSpc>
            </a:pPr>
            <a:endParaRPr lang="ko-KR" altLang="en-US" sz="1400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400" dirty="0" err="1">
                <a:solidFill>
                  <a:srgbClr val="FF822D"/>
                </a:solidFill>
                <a:latin typeface="+mn-ea"/>
              </a:rPr>
              <a:t>def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 err="1">
                <a:solidFill>
                  <a:srgbClr val="0070C0"/>
                </a:solidFill>
                <a:latin typeface="+mn-ea"/>
              </a:rPr>
              <a:t>quick_sort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(a):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n = </a:t>
            </a:r>
            <a:r>
              <a:rPr lang="en-US" altLang="ko-KR" sz="1400" dirty="0" err="1">
                <a:solidFill>
                  <a:srgbClr val="0070C0"/>
                </a:solidFill>
                <a:latin typeface="+mn-ea"/>
              </a:rPr>
              <a:t>len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(a)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    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종료 조건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: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정렬할 리스트의 자료 개수가 한 개 이하이면 정렬할 필요가 없음</a:t>
            </a:r>
          </a:p>
          <a:p>
            <a:pPr>
              <a:lnSpc>
                <a:spcPct val="120000"/>
              </a:lnSpc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if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n &lt;= 1: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   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return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1001" y="2609681"/>
            <a:ext cx="31265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EB666E"/>
                </a:solidFill>
                <a:latin typeface="+mn-ea"/>
              </a:rPr>
              <a:t>▼</a:t>
            </a:r>
            <a:r>
              <a:rPr lang="ko-KR" altLang="en-US" sz="1400" dirty="0">
                <a:latin typeface="+mn-ea"/>
              </a:rPr>
              <a:t> </a:t>
            </a:r>
            <a:r>
              <a:rPr lang="ko-KR" altLang="en-US" sz="1400" dirty="0">
                <a:solidFill>
                  <a:srgbClr val="EB666E"/>
                </a:solidFill>
                <a:latin typeface="+mn-ea"/>
              </a:rPr>
              <a:t>예제 소스 </a:t>
            </a:r>
            <a:r>
              <a:rPr lang="en-US" altLang="ko-KR" sz="1400" dirty="0">
                <a:latin typeface="+mn-ea"/>
              </a:rPr>
              <a:t>p11-1-qsort.py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4" name="아래쪽 화살표 13"/>
          <p:cNvSpPr/>
          <p:nvPr/>
        </p:nvSpPr>
        <p:spPr>
          <a:xfrm>
            <a:off x="4502546" y="5553790"/>
            <a:ext cx="174402" cy="197963"/>
          </a:xfrm>
          <a:prstGeom prst="downArrow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9473014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11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퀵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정렬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2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쉽게 설명한 </a:t>
            </a:r>
            <a:r>
              <a:rPr lang="ko-KR" altLang="en-US" sz="2800" b="1" dirty="0" err="1">
                <a:latin typeface="+mn-ea"/>
              </a:rPr>
              <a:t>퀵</a:t>
            </a:r>
            <a:r>
              <a:rPr lang="ko-KR" altLang="en-US" sz="2800" b="1" dirty="0">
                <a:latin typeface="+mn-ea"/>
              </a:rPr>
              <a:t> 정렬 알고리즘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960022" y="2232442"/>
            <a:ext cx="7088957" cy="3932688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  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기준 값을 정하고 기준에 맞춰 그룹을 나누는 과정</a:t>
            </a:r>
          </a:p>
          <a:p>
            <a:pPr>
              <a:lnSpc>
                <a:spcPct val="120000"/>
              </a:lnSpc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pivot = a[-1]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편의상 리스트의 마지막 값을 기준 값으로 정함</a:t>
            </a:r>
          </a:p>
          <a:p>
            <a:pPr>
              <a:lnSpc>
                <a:spcPct val="120000"/>
              </a:lnSpc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g1 = []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그룹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1: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기준 값보다 작은 값을 담을 리스트</a:t>
            </a:r>
          </a:p>
          <a:p>
            <a:pPr>
              <a:lnSpc>
                <a:spcPct val="120000"/>
              </a:lnSpc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g2 = []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그룹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2: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기준 값보다 큰 값을 담을 리스트</a:t>
            </a:r>
          </a:p>
          <a:p>
            <a:pPr>
              <a:lnSpc>
                <a:spcPct val="120000"/>
              </a:lnSpc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for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i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in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>
                <a:solidFill>
                  <a:srgbClr val="0070C0"/>
                </a:solidFill>
                <a:latin typeface="+mn-ea"/>
              </a:rPr>
              <a:t>range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(0, n - 1):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마지막 값은 기준 값이므로 제외</a:t>
            </a:r>
          </a:p>
          <a:p>
            <a:pPr>
              <a:lnSpc>
                <a:spcPct val="120000"/>
              </a:lnSpc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      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if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a[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i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] &lt; pivot:  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기준 값과 비교</a:t>
            </a:r>
          </a:p>
          <a:p>
            <a:pPr>
              <a:lnSpc>
                <a:spcPct val="120000"/>
              </a:lnSpc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           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g1.append(a[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i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])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작으면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g1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에 추가</a:t>
            </a:r>
          </a:p>
          <a:p>
            <a:pPr>
              <a:lnSpc>
                <a:spcPct val="120000"/>
              </a:lnSpc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      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else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: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        g2.append(a[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i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])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크면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g2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에 추가</a:t>
            </a:r>
            <a:endParaRPr lang="en-US" altLang="ko-KR" sz="1400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  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각 그룹에 대해 재귀 호출로 </a:t>
            </a:r>
            <a:r>
              <a:rPr lang="ko-KR" altLang="en-US" sz="1400" dirty="0" err="1">
                <a:solidFill>
                  <a:schemeClr val="accent2">
                    <a:lumMod val="50000"/>
                  </a:schemeClr>
                </a:solidFill>
                <a:latin typeface="+mn-ea"/>
              </a:rPr>
              <a:t>퀵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 정렬을 한 후</a:t>
            </a:r>
          </a:p>
          <a:p>
            <a:pPr>
              <a:lnSpc>
                <a:spcPct val="120000"/>
              </a:lnSpc>
            </a:pP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  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기준 값과 합쳐 하나의 리스트로 </a:t>
            </a:r>
            <a:r>
              <a:rPr lang="ko-KR" altLang="en-US" sz="1400" dirty="0" err="1">
                <a:solidFill>
                  <a:schemeClr val="accent2">
                    <a:lumMod val="50000"/>
                  </a:schemeClr>
                </a:solidFill>
                <a:latin typeface="+mn-ea"/>
              </a:rPr>
              <a:t>결괏값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 반환</a:t>
            </a:r>
          </a:p>
          <a:p>
            <a:pPr>
              <a:lnSpc>
                <a:spcPct val="120000"/>
              </a:lnSpc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return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quick_sort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(g1) + [pivot] +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quick_sort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(g2)</a:t>
            </a:r>
          </a:p>
          <a:p>
            <a:pPr>
              <a:lnSpc>
                <a:spcPct val="120000"/>
              </a:lnSpc>
            </a:pPr>
            <a:endParaRPr lang="fr-FR" altLang="ko-KR" sz="14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fr-FR" altLang="ko-KR" sz="1400" dirty="0">
                <a:solidFill>
                  <a:schemeClr val="tx1"/>
                </a:solidFill>
                <a:latin typeface="+mn-ea"/>
              </a:rPr>
              <a:t>d = [6, 8, 3, 9, 10, 1, 2, 4, 7, 5]</a:t>
            </a:r>
          </a:p>
          <a:p>
            <a:pPr>
              <a:lnSpc>
                <a:spcPct val="120000"/>
              </a:lnSpc>
            </a:pPr>
            <a:r>
              <a:rPr lang="fr-FR" altLang="ko-KR" sz="1400" dirty="0">
                <a:solidFill>
                  <a:srgbClr val="0070C0"/>
                </a:solidFill>
                <a:latin typeface="+mn-ea"/>
              </a:rPr>
              <a:t>print</a:t>
            </a:r>
            <a:r>
              <a:rPr lang="fr-FR" altLang="ko-KR" sz="1400" dirty="0">
                <a:solidFill>
                  <a:schemeClr val="tx1"/>
                </a:solidFill>
                <a:latin typeface="+mn-ea"/>
              </a:rPr>
              <a:t>(quick_sort(d))</a:t>
            </a:r>
          </a:p>
        </p:txBody>
      </p:sp>
      <p:sp>
        <p:nvSpPr>
          <p:cNvPr id="9" name="아래쪽 화살표 8"/>
          <p:cNvSpPr/>
          <p:nvPr/>
        </p:nvSpPr>
        <p:spPr>
          <a:xfrm rot="10800000">
            <a:off x="4417299" y="1844955"/>
            <a:ext cx="174402" cy="197963"/>
          </a:xfrm>
          <a:prstGeom prst="downArrow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1496916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11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퀵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정렬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2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쉽게 설명한 </a:t>
            </a:r>
            <a:r>
              <a:rPr lang="ko-KR" altLang="en-US" sz="2800" b="1" dirty="0" err="1">
                <a:latin typeface="+mn-ea"/>
              </a:rPr>
              <a:t>퀵</a:t>
            </a:r>
            <a:r>
              <a:rPr lang="ko-KR" altLang="en-US" sz="2800" b="1" dirty="0">
                <a:latin typeface="+mn-ea"/>
              </a:rPr>
              <a:t> 정렬 알고리즘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056" y="1821131"/>
            <a:ext cx="8176904" cy="485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solidFill>
                  <a:srgbClr val="EB666E"/>
                </a:solidFill>
                <a:latin typeface="+mn-ea"/>
              </a:rPr>
              <a:t>실행 결과</a:t>
            </a:r>
            <a:endParaRPr lang="en-US" altLang="ko-KR" dirty="0">
              <a:latin typeface="+mn-ea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960022" y="2575866"/>
            <a:ext cx="7088957" cy="3699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</a:rPr>
              <a:t>[1, 2, 3, 4, 5, 6, 7, 8, 9, 10]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6062619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11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퀵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정렬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2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쉽게 설명한 </a:t>
            </a:r>
            <a:r>
              <a:rPr lang="ko-KR" altLang="en-US" sz="2800" b="1" dirty="0" err="1">
                <a:latin typeface="+mn-ea"/>
              </a:rPr>
              <a:t>퀵</a:t>
            </a:r>
            <a:r>
              <a:rPr lang="ko-KR" altLang="en-US" sz="2800" b="1" dirty="0">
                <a:latin typeface="+mn-ea"/>
              </a:rPr>
              <a:t> 정렬 알고리즘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057" y="1821131"/>
            <a:ext cx="8020382" cy="23775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 err="1">
                <a:latin typeface="+mn-ea"/>
              </a:rPr>
              <a:t>퀵</a:t>
            </a:r>
            <a:r>
              <a:rPr lang="ko-KR" altLang="en-US" dirty="0">
                <a:latin typeface="+mn-ea"/>
              </a:rPr>
              <a:t> 정렬 함수 </a:t>
            </a:r>
            <a:r>
              <a:rPr lang="en-US" altLang="ko-KR" dirty="0" err="1">
                <a:latin typeface="+mn-ea"/>
              </a:rPr>
              <a:t>quick_sort</a:t>
            </a:r>
            <a:r>
              <a:rPr lang="en-US" altLang="ko-KR" dirty="0">
                <a:latin typeface="+mn-ea"/>
              </a:rPr>
              <a:t>()</a:t>
            </a:r>
            <a:r>
              <a:rPr lang="ko-KR" altLang="en-US" dirty="0">
                <a:latin typeface="+mn-ea"/>
              </a:rPr>
              <a:t>는 재귀 호출 함수</a:t>
            </a:r>
            <a:br>
              <a:rPr lang="en-US" altLang="ko-KR" dirty="0">
                <a:latin typeface="+mn-ea"/>
              </a:rPr>
            </a:br>
            <a:r>
              <a:rPr lang="ko-KR" altLang="en-US" dirty="0">
                <a:latin typeface="+mn-ea"/>
              </a:rPr>
              <a:t>→ 병합 정렬과 마찬가지로 첫 부분에 종료 조건이 명시되어 있음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입력으로 주어진 리스트 </a:t>
            </a:r>
            <a:r>
              <a:rPr lang="en-US" altLang="ko-KR" dirty="0">
                <a:latin typeface="+mn-ea"/>
              </a:rPr>
              <a:t>a</a:t>
            </a:r>
            <a:r>
              <a:rPr lang="ko-KR" altLang="en-US" dirty="0">
                <a:latin typeface="+mn-ea"/>
              </a:rPr>
              <a:t>의 크기가 </a:t>
            </a:r>
            <a:r>
              <a:rPr lang="en-US" altLang="ko-KR" dirty="0">
                <a:latin typeface="+mn-ea"/>
              </a:rPr>
              <a:t>1 </a:t>
            </a:r>
            <a:r>
              <a:rPr lang="ko-KR" altLang="en-US" dirty="0">
                <a:latin typeface="+mn-ea"/>
              </a:rPr>
              <a:t>이하이면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>
                <a:latin typeface="+mn-ea"/>
              </a:rPr>
              <a:t>즉 자료가 한 </a:t>
            </a:r>
            <a:r>
              <a:rPr lang="ko-KR" altLang="en-US" dirty="0" err="1">
                <a:latin typeface="+mn-ea"/>
              </a:rPr>
              <a:t>개뿐이거나</a:t>
            </a:r>
            <a:r>
              <a:rPr lang="ko-KR" altLang="en-US" dirty="0">
                <a:latin typeface="+mn-ea"/>
              </a:rPr>
              <a:t> 아예 비어 있다면 정렬할 필요가 없으므로 입력 리스트를 그대로 돌려주면서 재귀 호출을 끝냄</a:t>
            </a:r>
            <a:endParaRPr lang="en-US" altLang="ko-KR" dirty="0">
              <a:latin typeface="+mn-ea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960022" y="4422110"/>
            <a:ext cx="7088957" cy="809765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</a:rPr>
              <a:t>n = </a:t>
            </a:r>
            <a:r>
              <a:rPr lang="en-US" altLang="ko-KR" sz="1400" dirty="0" err="1">
                <a:solidFill>
                  <a:srgbClr val="0070C0"/>
                </a:solidFill>
              </a:rPr>
              <a:t>len</a:t>
            </a:r>
            <a:r>
              <a:rPr lang="en-US" altLang="ko-KR" sz="1400" dirty="0">
                <a:solidFill>
                  <a:schemeClr val="tx1"/>
                </a:solidFill>
              </a:rPr>
              <a:t>(a)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rgbClr val="FF822D"/>
                </a:solidFill>
              </a:rPr>
              <a:t>if</a:t>
            </a:r>
            <a:r>
              <a:rPr lang="en-US" altLang="ko-KR" sz="1400" dirty="0">
                <a:solidFill>
                  <a:schemeClr val="tx1"/>
                </a:solidFill>
              </a:rPr>
              <a:t> n &lt;= 1: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</a:rPr>
              <a:t>    </a:t>
            </a:r>
            <a:r>
              <a:rPr lang="en-US" altLang="ko-KR" sz="1400" dirty="0">
                <a:solidFill>
                  <a:srgbClr val="FF822D"/>
                </a:solidFill>
              </a:rPr>
              <a:t>return</a:t>
            </a:r>
            <a:r>
              <a:rPr lang="en-US" altLang="ko-KR" sz="1400" dirty="0">
                <a:solidFill>
                  <a:schemeClr val="tx1"/>
                </a:solidFill>
              </a:rPr>
              <a:t> a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0197572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11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퀵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정렬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2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쉽게 설명한 </a:t>
            </a:r>
            <a:r>
              <a:rPr lang="ko-KR" altLang="en-US" sz="2800" b="1" dirty="0" err="1">
                <a:latin typeface="+mn-ea"/>
              </a:rPr>
              <a:t>퀵</a:t>
            </a:r>
            <a:r>
              <a:rPr lang="ko-KR" altLang="en-US" sz="2800" b="1" dirty="0">
                <a:latin typeface="+mn-ea"/>
              </a:rPr>
              <a:t> 정렬 알고리즘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057" y="1821131"/>
            <a:ext cx="8020382" cy="28346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 err="1">
                <a:latin typeface="+mn-ea"/>
              </a:rPr>
              <a:t>퀵</a:t>
            </a:r>
            <a:r>
              <a:rPr lang="ko-KR" altLang="en-US" dirty="0">
                <a:latin typeface="+mn-ea"/>
              </a:rPr>
              <a:t> 정렬에서는 그룹을 나누기 위한 기준 값</a:t>
            </a:r>
            <a:r>
              <a:rPr lang="en-US" altLang="ko-KR" dirty="0">
                <a:latin typeface="+mn-ea"/>
              </a:rPr>
              <a:t>(pivot)</a:t>
            </a:r>
            <a:r>
              <a:rPr lang="ko-KR" altLang="en-US" dirty="0">
                <a:latin typeface="+mn-ea"/>
              </a:rPr>
              <a:t>이 필요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프로그램 </a:t>
            </a:r>
            <a:r>
              <a:rPr lang="en-US" altLang="ko-KR" dirty="0">
                <a:latin typeface="+mn-ea"/>
              </a:rPr>
              <a:t>11-1</a:t>
            </a:r>
            <a:r>
              <a:rPr lang="ko-KR" altLang="en-US" dirty="0">
                <a:latin typeface="+mn-ea"/>
              </a:rPr>
              <a:t>에서는 주어진 리스트의 맨 마지막 값을 기준 값으로 사용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다음 문장은 </a:t>
            </a:r>
            <a:r>
              <a:rPr lang="en-US" altLang="ko-KR" dirty="0">
                <a:latin typeface="+mn-ea"/>
              </a:rPr>
              <a:t>g1</a:t>
            </a:r>
            <a:r>
              <a:rPr lang="ko-KR" altLang="en-US" dirty="0">
                <a:latin typeface="+mn-ea"/>
              </a:rPr>
              <a:t>을 </a:t>
            </a:r>
            <a:r>
              <a:rPr lang="ko-KR" altLang="en-US" dirty="0" err="1">
                <a:latin typeface="+mn-ea"/>
              </a:rPr>
              <a:t>퀵</a:t>
            </a:r>
            <a:r>
              <a:rPr lang="ko-KR" altLang="en-US" dirty="0">
                <a:latin typeface="+mn-ea"/>
              </a:rPr>
              <a:t> 정렬한 결과에 기준 값과 </a:t>
            </a:r>
            <a:r>
              <a:rPr lang="en-US" altLang="ko-KR" dirty="0">
                <a:latin typeface="+mn-ea"/>
              </a:rPr>
              <a:t>g2</a:t>
            </a:r>
            <a:r>
              <a:rPr lang="ko-KR" altLang="en-US" dirty="0">
                <a:latin typeface="+mn-ea"/>
              </a:rPr>
              <a:t>를 </a:t>
            </a:r>
            <a:r>
              <a:rPr lang="ko-KR" altLang="en-US" dirty="0" err="1">
                <a:latin typeface="+mn-ea"/>
              </a:rPr>
              <a:t>퀵</a:t>
            </a:r>
            <a:r>
              <a:rPr lang="ko-KR" altLang="en-US" dirty="0">
                <a:latin typeface="+mn-ea"/>
              </a:rPr>
              <a:t> 정렬한 결과를 </a:t>
            </a:r>
            <a:br>
              <a:rPr lang="en-US" altLang="ko-KR" dirty="0">
                <a:latin typeface="+mn-ea"/>
              </a:rPr>
            </a:br>
            <a:r>
              <a:rPr lang="ko-KR" altLang="en-US" dirty="0">
                <a:latin typeface="+mn-ea"/>
              </a:rPr>
              <a:t>이어 붙여 새로운 리스트를 만들어 돌려주는 문장</a:t>
            </a:r>
            <a:endParaRPr lang="en-US" altLang="ko-KR" dirty="0">
              <a:latin typeface="+mn-ea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960022" y="3002776"/>
            <a:ext cx="7088957" cy="338426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</a:rPr>
              <a:t>pivot = a[-1] 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960021" y="4805389"/>
            <a:ext cx="7088957" cy="338426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rgbClr val="FF822D"/>
                </a:solidFill>
              </a:rPr>
              <a:t>return</a:t>
            </a:r>
            <a:r>
              <a:rPr lang="en-US" altLang="ko-KR" sz="1400" dirty="0">
                <a:solidFill>
                  <a:schemeClr val="tx1"/>
                </a:solidFill>
              </a:rPr>
              <a:t> </a:t>
            </a:r>
            <a:r>
              <a:rPr lang="en-US" altLang="ko-KR" sz="1400" dirty="0" err="1">
                <a:solidFill>
                  <a:schemeClr val="tx1"/>
                </a:solidFill>
              </a:rPr>
              <a:t>quick_sort</a:t>
            </a:r>
            <a:r>
              <a:rPr lang="en-US" altLang="ko-KR" sz="1400" dirty="0">
                <a:solidFill>
                  <a:schemeClr val="tx1"/>
                </a:solidFill>
              </a:rPr>
              <a:t>(g1) + [pivot] + </a:t>
            </a:r>
            <a:r>
              <a:rPr lang="en-US" altLang="ko-KR" sz="1400" dirty="0" err="1">
                <a:solidFill>
                  <a:schemeClr val="tx1"/>
                </a:solidFill>
              </a:rPr>
              <a:t>quick_sort</a:t>
            </a:r>
            <a:r>
              <a:rPr lang="en-US" altLang="ko-KR" sz="1400" dirty="0">
                <a:solidFill>
                  <a:schemeClr val="tx1"/>
                </a:solidFill>
              </a:rPr>
              <a:t>(g2)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003663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11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퀵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정렬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2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쉽게 설명한 </a:t>
            </a:r>
            <a:r>
              <a:rPr lang="ko-KR" altLang="en-US" sz="2800" b="1" dirty="0" err="1">
                <a:latin typeface="+mn-ea"/>
              </a:rPr>
              <a:t>퀵</a:t>
            </a:r>
            <a:r>
              <a:rPr lang="ko-KR" altLang="en-US" sz="2800" b="1" dirty="0">
                <a:latin typeface="+mn-ea"/>
              </a:rPr>
              <a:t> 정렬 알고리즘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057" y="1821131"/>
            <a:ext cx="8020382" cy="100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두 개 이상의 리스트를 더하기로 연결하면 각 리스트 안의 자료를 </a:t>
            </a:r>
            <a:br>
              <a:rPr lang="en-US" altLang="ko-KR" dirty="0">
                <a:latin typeface="+mn-ea"/>
              </a:rPr>
            </a:br>
            <a:r>
              <a:rPr lang="ko-KR" altLang="en-US" dirty="0">
                <a:latin typeface="+mn-ea"/>
              </a:rPr>
              <a:t>순서대로 포함하는 새 리스트를 만들 수 있음</a:t>
            </a:r>
            <a:endParaRPr lang="en-US" altLang="ko-KR" dirty="0">
              <a:latin typeface="+mn-ea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960022" y="3002775"/>
            <a:ext cx="7088957" cy="598263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</a:rPr>
              <a:t>&gt;&gt;&gt; [1, 2] + [3] + [4, 5]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</a:rPr>
              <a:t>[1, 2, 3, 4, 5]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5869237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11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퀵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정렬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2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쉽게 설명한 </a:t>
            </a:r>
            <a:r>
              <a:rPr lang="ko-KR" altLang="en-US" sz="2800" b="1" dirty="0" err="1">
                <a:latin typeface="+mn-ea"/>
              </a:rPr>
              <a:t>퀵</a:t>
            </a:r>
            <a:r>
              <a:rPr lang="ko-KR" altLang="en-US" sz="2800" b="1" dirty="0">
                <a:latin typeface="+mn-ea"/>
              </a:rPr>
              <a:t> 정렬 알고리즘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057" y="1821131"/>
            <a:ext cx="8020382" cy="485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리스트 </a:t>
            </a:r>
            <a:r>
              <a:rPr lang="en-US" altLang="ko-KR" dirty="0">
                <a:latin typeface="+mn-ea"/>
              </a:rPr>
              <a:t>[6, 8, 3, 9, 10, 1, 2, 4, 7, 5]</a:t>
            </a:r>
            <a:r>
              <a:rPr lang="ko-KR" altLang="en-US" dirty="0">
                <a:latin typeface="+mn-ea"/>
              </a:rPr>
              <a:t>를 </a:t>
            </a:r>
            <a:r>
              <a:rPr lang="ko-KR" altLang="en-US" dirty="0" err="1">
                <a:latin typeface="+mn-ea"/>
              </a:rPr>
              <a:t>퀵</a:t>
            </a:r>
            <a:r>
              <a:rPr lang="ko-KR" altLang="en-US" dirty="0">
                <a:latin typeface="+mn-ea"/>
              </a:rPr>
              <a:t> 정렬하는 과정</a:t>
            </a:r>
            <a:endParaRPr lang="en-US" altLang="ko-KR" dirty="0">
              <a:latin typeface="+mn-ea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991" y="2544108"/>
            <a:ext cx="5858161" cy="3475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296201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11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퀵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정렬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2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쉽게 설명한 </a:t>
            </a:r>
            <a:r>
              <a:rPr lang="ko-KR" altLang="en-US" sz="2800" b="1" dirty="0" err="1">
                <a:latin typeface="+mn-ea"/>
              </a:rPr>
              <a:t>퀵</a:t>
            </a:r>
            <a:r>
              <a:rPr lang="ko-KR" altLang="en-US" sz="2800" b="1" dirty="0">
                <a:latin typeface="+mn-ea"/>
              </a:rPr>
              <a:t> 정렬 알고리즘</a:t>
            </a: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161" y="2528932"/>
            <a:ext cx="5835248" cy="3123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7160825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11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퀵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정렬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3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일반적인 </a:t>
            </a:r>
            <a:r>
              <a:rPr lang="ko-KR" altLang="en-US" sz="2800" b="1" dirty="0" err="1">
                <a:latin typeface="+mn-ea"/>
              </a:rPr>
              <a:t>퀵</a:t>
            </a:r>
            <a:r>
              <a:rPr lang="ko-KR" altLang="en-US" sz="2800" b="1" dirty="0">
                <a:latin typeface="+mn-ea"/>
              </a:rPr>
              <a:t> 정렬 알고리즘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056" y="1821131"/>
            <a:ext cx="8020383" cy="549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solidFill>
                  <a:srgbClr val="EB666E"/>
                </a:solidFill>
              </a:rPr>
              <a:t>프로그램 </a:t>
            </a:r>
            <a:r>
              <a:rPr lang="en-US" altLang="ko-KR" dirty="0">
                <a:solidFill>
                  <a:srgbClr val="EB666E"/>
                </a:solidFill>
              </a:rPr>
              <a:t>11-2</a:t>
            </a:r>
            <a:r>
              <a:rPr lang="en-US" altLang="ko-KR" dirty="0"/>
              <a:t> </a:t>
            </a:r>
            <a:r>
              <a:rPr lang="ko-KR" altLang="en-US" dirty="0"/>
              <a:t>일반적인 </a:t>
            </a:r>
            <a:r>
              <a:rPr lang="ko-KR" altLang="en-US" dirty="0" err="1"/>
              <a:t>퀵</a:t>
            </a:r>
            <a:r>
              <a:rPr lang="ko-KR" altLang="en-US" dirty="0"/>
              <a:t> 정렬 알고리즘</a:t>
            </a:r>
            <a:endParaRPr lang="en-US" altLang="ko-KR" dirty="0">
              <a:latin typeface="+mn-ea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1045269" y="2917455"/>
            <a:ext cx="7088957" cy="3341943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 err="1">
                <a:solidFill>
                  <a:schemeClr val="accent2">
                    <a:lumMod val="50000"/>
                  </a:schemeClr>
                </a:solidFill>
                <a:latin typeface="+mn-ea"/>
              </a:rPr>
              <a:t>퀵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 정렬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입력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: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리스트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a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출력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: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없음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(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입력으로 주어진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a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가 정렬됨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리스트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a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의 어디부터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(start)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어디까지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(end)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가 정렬 대상인지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범위를 지정하여 정렬하는 재귀 호출 함수</a:t>
            </a:r>
          </a:p>
          <a:p>
            <a:pPr>
              <a:lnSpc>
                <a:spcPct val="120000"/>
              </a:lnSpc>
            </a:pPr>
            <a:r>
              <a:rPr lang="en-US" altLang="ko-KR" sz="1400" dirty="0" err="1">
                <a:solidFill>
                  <a:srgbClr val="FF822D"/>
                </a:solidFill>
                <a:latin typeface="+mn-ea"/>
              </a:rPr>
              <a:t>def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 err="1">
                <a:solidFill>
                  <a:srgbClr val="0070C0"/>
                </a:solidFill>
                <a:latin typeface="+mn-ea"/>
              </a:rPr>
              <a:t>quick_sort_sub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(a, start, end):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    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종료 조건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: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정렬 대상이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1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개 이하면 정렬할 필요 없음</a:t>
            </a:r>
          </a:p>
          <a:p>
            <a:pPr>
              <a:lnSpc>
                <a:spcPct val="120000"/>
              </a:lnSpc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if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end - start &lt;= 0: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   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return</a:t>
            </a:r>
          </a:p>
          <a:p>
            <a:pPr>
              <a:lnSpc>
                <a:spcPct val="120000"/>
              </a:lnSpc>
            </a:pP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  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기준 값을 정하고 기준 값에 맞춰 리스트 안에서 각 자료의 위치를 맞춤</a:t>
            </a:r>
          </a:p>
          <a:p>
            <a:pPr>
              <a:lnSpc>
                <a:spcPct val="120000"/>
              </a:lnSpc>
            </a:pP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  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[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기준 값보다 작은 값들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,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기준 값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,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기준 값보다 큰 값들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]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pivot = a[end]  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편의상 리스트의 마지막 값을 기준 값으로 정합</a:t>
            </a:r>
          </a:p>
          <a:p>
            <a:pPr>
              <a:lnSpc>
                <a:spcPct val="120000"/>
              </a:lnSpc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i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= start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1001" y="2609681"/>
            <a:ext cx="31265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EB666E"/>
                </a:solidFill>
                <a:latin typeface="+mn-ea"/>
              </a:rPr>
              <a:t>▼</a:t>
            </a:r>
            <a:r>
              <a:rPr lang="ko-KR" altLang="en-US" sz="1400" dirty="0">
                <a:latin typeface="+mn-ea"/>
              </a:rPr>
              <a:t> </a:t>
            </a:r>
            <a:r>
              <a:rPr lang="ko-KR" altLang="en-US" sz="1400" dirty="0">
                <a:solidFill>
                  <a:srgbClr val="EB666E"/>
                </a:solidFill>
                <a:latin typeface="+mn-ea"/>
              </a:rPr>
              <a:t>예제 소스 </a:t>
            </a:r>
            <a:r>
              <a:rPr lang="en-US" altLang="ko-KR" sz="1400" dirty="0">
                <a:latin typeface="+mn-ea"/>
              </a:rPr>
              <a:t>p11-2-qsort.py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4" name="아래쪽 화살표 13"/>
          <p:cNvSpPr/>
          <p:nvPr/>
        </p:nvSpPr>
        <p:spPr>
          <a:xfrm>
            <a:off x="4502546" y="6403412"/>
            <a:ext cx="174402" cy="197963"/>
          </a:xfrm>
          <a:prstGeom prst="downArrow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2207373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11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퀵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정렬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3</a:t>
            </a:r>
            <a:endParaRPr lang="ko-KR" altLang="en-US" sz="2400" b="1" dirty="0"/>
          </a:p>
        </p:txBody>
      </p:sp>
      <p:sp>
        <p:nvSpPr>
          <p:cNvPr id="8" name="직사각형 7"/>
          <p:cNvSpPr/>
          <p:nvPr/>
        </p:nvSpPr>
        <p:spPr>
          <a:xfrm>
            <a:off x="960022" y="2232441"/>
            <a:ext cx="7088957" cy="4083517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for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j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in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>
                <a:solidFill>
                  <a:srgbClr val="0070C0"/>
                </a:solidFill>
                <a:latin typeface="+mn-ea"/>
              </a:rPr>
              <a:t>range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(start, end):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   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if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a[j] &lt;= pivot: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        a[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i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], a[j] = a[j], a[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i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]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       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i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+= 1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a[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i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], a[end] = a[end], a[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i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]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    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재귀 호출 부분</a:t>
            </a:r>
          </a:p>
          <a:p>
            <a:pPr>
              <a:lnSpc>
                <a:spcPct val="120000"/>
              </a:lnSpc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quick_sort_sub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(a, start,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i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- 1)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기준 값보다 작은 그룹을 재귀 호출로 다시 정렬</a:t>
            </a:r>
          </a:p>
          <a:p>
            <a:pPr>
              <a:lnSpc>
                <a:spcPct val="120000"/>
              </a:lnSpc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quick_sort_sub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(a,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i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+ 1, end) 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기준 값보다 큰 그룹을 재귀 호출로 다시 정렬</a:t>
            </a:r>
          </a:p>
          <a:p>
            <a:pPr>
              <a:lnSpc>
                <a:spcPct val="120000"/>
              </a:lnSpc>
            </a:pPr>
            <a:endParaRPr lang="ko-KR" altLang="en-US" sz="1400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리스트 전체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(0 ~ </a:t>
            </a:r>
            <a:r>
              <a:rPr lang="en-US" altLang="ko-KR" sz="1400" dirty="0" err="1">
                <a:solidFill>
                  <a:schemeClr val="accent2">
                    <a:lumMod val="50000"/>
                  </a:schemeClr>
                </a:solidFill>
                <a:latin typeface="+mn-ea"/>
              </a:rPr>
              <a:t>len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(a)-1)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를 대상으로 재귀 호출 함수 호출</a:t>
            </a:r>
          </a:p>
          <a:p>
            <a:pPr>
              <a:lnSpc>
                <a:spcPct val="120000"/>
              </a:lnSpc>
            </a:pPr>
            <a:r>
              <a:rPr lang="en-US" altLang="ko-KR" sz="1400" dirty="0" err="1">
                <a:solidFill>
                  <a:srgbClr val="FF822D"/>
                </a:solidFill>
                <a:latin typeface="+mn-ea"/>
              </a:rPr>
              <a:t>def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 err="1">
                <a:solidFill>
                  <a:srgbClr val="0070C0"/>
                </a:solidFill>
                <a:latin typeface="+mn-ea"/>
              </a:rPr>
              <a:t>quick_sort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(a):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quick_sort_sub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(a, 0, </a:t>
            </a:r>
            <a:r>
              <a:rPr lang="en-US" altLang="ko-KR" sz="1400" dirty="0" err="1">
                <a:solidFill>
                  <a:srgbClr val="0070C0"/>
                </a:solidFill>
                <a:latin typeface="+mn-ea"/>
              </a:rPr>
              <a:t>len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(a) - 1)</a:t>
            </a:r>
          </a:p>
          <a:p>
            <a:pPr>
              <a:lnSpc>
                <a:spcPct val="120000"/>
              </a:lnSpc>
            </a:pP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d = [6, 8, 3, 9, 10, 1, 2, 4, 7, 5]</a:t>
            </a:r>
          </a:p>
          <a:p>
            <a:pPr>
              <a:lnSpc>
                <a:spcPct val="120000"/>
              </a:lnSpc>
            </a:pP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quick_sort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(d)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rgbClr val="0070C0"/>
                </a:solidFill>
                <a:latin typeface="+mn-ea"/>
              </a:rPr>
              <a:t>print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(d)</a:t>
            </a:r>
            <a:endParaRPr lang="fr-FR" altLang="ko-KR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" name="아래쪽 화살표 8"/>
          <p:cNvSpPr/>
          <p:nvPr/>
        </p:nvSpPr>
        <p:spPr>
          <a:xfrm rot="10800000">
            <a:off x="4417299" y="1844955"/>
            <a:ext cx="174402" cy="197963"/>
          </a:xfrm>
          <a:prstGeom prst="downArrow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일반적인 </a:t>
            </a:r>
            <a:r>
              <a:rPr lang="ko-KR" altLang="en-US" sz="2800" b="1" dirty="0" err="1">
                <a:latin typeface="+mn-ea"/>
              </a:rPr>
              <a:t>퀵</a:t>
            </a:r>
            <a:r>
              <a:rPr lang="ko-KR" altLang="en-US" sz="2800" b="1" dirty="0">
                <a:latin typeface="+mn-ea"/>
              </a:rPr>
              <a:t> 정렬 알고리즘</a:t>
            </a:r>
          </a:p>
        </p:txBody>
      </p:sp>
    </p:spTree>
    <p:extLst>
      <p:ext uri="{BB962C8B-B14F-4D97-AF65-F5344CB8AC3E}">
        <p14:creationId xmlns:p14="http://schemas.microsoft.com/office/powerpoint/2010/main" val="2115631953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11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퀵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정렬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3</a:t>
            </a:r>
            <a:endParaRPr lang="ko-KR" altLang="en-US" sz="2400" b="1" dirty="0"/>
          </a:p>
        </p:txBody>
      </p:sp>
      <p:sp>
        <p:nvSpPr>
          <p:cNvPr id="10" name="직사각형 9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일반적인 </a:t>
            </a:r>
            <a:r>
              <a:rPr lang="ko-KR" altLang="en-US" sz="2800" b="1" dirty="0" err="1">
                <a:latin typeface="+mn-ea"/>
              </a:rPr>
              <a:t>퀵</a:t>
            </a:r>
            <a:r>
              <a:rPr lang="ko-KR" altLang="en-US" sz="2800" b="1" dirty="0">
                <a:latin typeface="+mn-ea"/>
              </a:rPr>
              <a:t> 정렬 알고리즘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056" y="1821131"/>
            <a:ext cx="8176904" cy="485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solidFill>
                  <a:srgbClr val="EB666E"/>
                </a:solidFill>
                <a:latin typeface="+mn-ea"/>
              </a:rPr>
              <a:t>실행 결과</a:t>
            </a:r>
            <a:endParaRPr lang="en-US" altLang="ko-KR" dirty="0">
              <a:latin typeface="+mn-ea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960022" y="2575866"/>
            <a:ext cx="7088957" cy="3699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</a:rPr>
              <a:t>[1, 2, 3, 4, 5, 6, 7, 8, 9, 10]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9619979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11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퀵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정렬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4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기준 값의 중요성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057" y="1821131"/>
            <a:ext cx="8020382" cy="32916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줄 세우기에서 선생님이 기준으로 정한 학생이 하필이면 열 명 중 키가 </a:t>
            </a:r>
            <a:br>
              <a:rPr lang="en-US" altLang="ko-KR" dirty="0">
                <a:latin typeface="+mn-ea"/>
              </a:rPr>
            </a:br>
            <a:r>
              <a:rPr lang="ko-KR" altLang="en-US" dirty="0">
                <a:latin typeface="+mn-ea"/>
              </a:rPr>
              <a:t>가장 작은 학생이었다면 어떻게 될까</a:t>
            </a:r>
            <a:r>
              <a:rPr lang="en-US" altLang="ko-KR" dirty="0">
                <a:latin typeface="+mn-ea"/>
              </a:rPr>
              <a:t>?</a:t>
            </a: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기준보다 작은 그룹</a:t>
            </a:r>
            <a:r>
              <a:rPr lang="en-US" altLang="ko-KR" dirty="0">
                <a:latin typeface="+mn-ea"/>
              </a:rPr>
              <a:t>(g1)</a:t>
            </a:r>
            <a:r>
              <a:rPr lang="ko-KR" altLang="en-US" dirty="0">
                <a:latin typeface="+mn-ea"/>
              </a:rPr>
              <a:t>에는 학생이 한 명도 없고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>
                <a:latin typeface="+mn-ea"/>
              </a:rPr>
              <a:t>기준보다 큰 그룹</a:t>
            </a:r>
            <a:r>
              <a:rPr lang="en-US" altLang="ko-KR" dirty="0">
                <a:latin typeface="+mn-ea"/>
              </a:rPr>
              <a:t>(g2)</a:t>
            </a:r>
            <a:br>
              <a:rPr lang="en-US" altLang="ko-KR" dirty="0">
                <a:latin typeface="+mn-ea"/>
              </a:rPr>
            </a:br>
            <a:r>
              <a:rPr lang="ko-KR" altLang="en-US" dirty="0">
                <a:latin typeface="+mn-ea"/>
              </a:rPr>
              <a:t>에는 나머지 학생이 모두 모인 상황이 됨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이렇게 되면 그룹을 둘로 나눈 의미가 없어져 </a:t>
            </a:r>
            <a:r>
              <a:rPr lang="ko-KR" altLang="en-US" dirty="0" err="1">
                <a:latin typeface="+mn-ea"/>
              </a:rPr>
              <a:t>퀵</a:t>
            </a:r>
            <a:r>
              <a:rPr lang="ko-KR" altLang="en-US" dirty="0">
                <a:latin typeface="+mn-ea"/>
              </a:rPr>
              <a:t> 정렬의 효율이 낮아짐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따라서 </a:t>
            </a:r>
            <a:r>
              <a:rPr lang="ko-KR" altLang="en-US" dirty="0" err="1">
                <a:latin typeface="+mn-ea"/>
              </a:rPr>
              <a:t>퀵</a:t>
            </a:r>
            <a:r>
              <a:rPr lang="ko-KR" altLang="en-US" dirty="0">
                <a:latin typeface="+mn-ea"/>
              </a:rPr>
              <a:t> 정렬에서는 </a:t>
            </a:r>
            <a:r>
              <a:rPr lang="en-US" altLang="ko-KR" dirty="0">
                <a:latin typeface="+mn-ea"/>
              </a:rPr>
              <a:t>‘</a:t>
            </a:r>
            <a:r>
              <a:rPr lang="ko-KR" altLang="en-US" dirty="0">
                <a:latin typeface="+mn-ea"/>
              </a:rPr>
              <a:t>좋은 기준</a:t>
            </a:r>
            <a:r>
              <a:rPr lang="en-US" altLang="ko-KR" dirty="0">
                <a:latin typeface="+mn-ea"/>
              </a:rPr>
              <a:t>’</a:t>
            </a:r>
            <a:r>
              <a:rPr lang="ko-KR" altLang="en-US" dirty="0">
                <a:latin typeface="+mn-ea"/>
              </a:rPr>
              <a:t>을 정하는 것이 정렬의 효율성을 가늠</a:t>
            </a:r>
            <a:br>
              <a:rPr lang="en-US" altLang="ko-KR" dirty="0">
                <a:latin typeface="+mn-ea"/>
              </a:rPr>
            </a:br>
            <a:r>
              <a:rPr lang="ko-KR" altLang="en-US" dirty="0">
                <a:latin typeface="+mn-ea"/>
              </a:rPr>
              <a:t>하므로 굉장히 중요</a:t>
            </a:r>
            <a:endParaRPr lang="en-US" altLang="ko-KR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990894223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11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퀵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정렬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4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기준 값의 중요성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5735" y="1902333"/>
            <a:ext cx="3248025" cy="1381125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2201" y="3893444"/>
            <a:ext cx="3352800" cy="14573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0" y="3223114"/>
            <a:ext cx="9144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2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그림 </a:t>
            </a:r>
            <a:r>
              <a:rPr lang="en-US" altLang="ko-KR" sz="12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11-2</a:t>
            </a:r>
            <a:r>
              <a:rPr lang="en-US" altLang="ko-KR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</a:t>
            </a:r>
            <a:r>
              <a:rPr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기준을 잘못 정한 예 ①</a:t>
            </a:r>
            <a:r>
              <a:rPr lang="en-US" altLang="ko-KR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: </a:t>
            </a:r>
            <a:r>
              <a:rPr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가장 작은 학생을 기준으로 잡은 경우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0" y="5275649"/>
            <a:ext cx="9144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2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그림 </a:t>
            </a:r>
            <a:r>
              <a:rPr lang="en-US" altLang="ko-KR" sz="12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11-3</a:t>
            </a:r>
            <a:r>
              <a:rPr lang="en-US" altLang="ko-KR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</a:t>
            </a:r>
            <a:r>
              <a:rPr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기준을 잘못 정한 예 ②</a:t>
            </a:r>
            <a:r>
              <a:rPr lang="en-US" altLang="ko-KR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: </a:t>
            </a:r>
            <a:r>
              <a:rPr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가장 큰 학생을 기준으로 잡은 경우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29870175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11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퀵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정렬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5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알고리즘 분석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057" y="1821131"/>
            <a:ext cx="8020382" cy="32916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 err="1">
                <a:latin typeface="+mn-ea"/>
              </a:rPr>
              <a:t>퀵</a:t>
            </a:r>
            <a:r>
              <a:rPr lang="ko-KR" altLang="en-US" dirty="0">
                <a:latin typeface="+mn-ea"/>
              </a:rPr>
              <a:t> 정렬의 계산 복잡도는 최악의 경우 선택 정렬이나 삽입 정렬과 같은 </a:t>
            </a:r>
            <a:r>
              <a:rPr lang="en-US" altLang="ko-KR" dirty="0">
                <a:latin typeface="+mn-ea"/>
              </a:rPr>
              <a:t>O(n</a:t>
            </a:r>
            <a:r>
              <a:rPr lang="en-US" altLang="ko-KR" baseline="30000" dirty="0">
                <a:latin typeface="+mn-ea"/>
              </a:rPr>
              <a:t>2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>
                <a:latin typeface="+mn-ea"/>
              </a:rPr>
              <a:t>이지만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 err="1">
                <a:latin typeface="+mn-ea"/>
              </a:rPr>
              <a:t>평균적일</a:t>
            </a:r>
            <a:r>
              <a:rPr lang="ko-KR" altLang="en-US" dirty="0">
                <a:latin typeface="+mn-ea"/>
              </a:rPr>
              <a:t> 때는 병합 정렬과 같은 </a:t>
            </a:r>
            <a:r>
              <a:rPr lang="en-US" altLang="ko-KR" dirty="0">
                <a:latin typeface="+mn-ea"/>
              </a:rPr>
              <a:t>O(</a:t>
            </a:r>
            <a:r>
              <a:rPr lang="en-US" altLang="ko-KR" dirty="0" err="1">
                <a:latin typeface="+mn-ea"/>
              </a:rPr>
              <a:t>n·log</a:t>
            </a:r>
            <a:r>
              <a:rPr lang="en-US" altLang="ko-KR" dirty="0">
                <a:latin typeface="+mn-ea"/>
              </a:rPr>
              <a:t> n)</a:t>
            </a: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최악의 경우란 그림 </a:t>
            </a:r>
            <a:r>
              <a:rPr lang="en-US" altLang="ko-KR" dirty="0">
                <a:latin typeface="+mn-ea"/>
              </a:rPr>
              <a:t>11-2</a:t>
            </a:r>
            <a:r>
              <a:rPr lang="ko-KR" altLang="en-US" dirty="0">
                <a:latin typeface="+mn-ea"/>
              </a:rPr>
              <a:t>나 </a:t>
            </a:r>
            <a:r>
              <a:rPr lang="en-US" altLang="ko-KR" dirty="0">
                <a:latin typeface="+mn-ea"/>
              </a:rPr>
              <a:t>11-3</a:t>
            </a:r>
            <a:r>
              <a:rPr lang="ko-KR" altLang="en-US" dirty="0">
                <a:latin typeface="+mn-ea"/>
              </a:rPr>
              <a:t>과 같이 기준을 잘못 정하여 그룹이 </a:t>
            </a:r>
            <a:br>
              <a:rPr lang="en-US" altLang="ko-KR" dirty="0">
                <a:latin typeface="+mn-ea"/>
              </a:rPr>
            </a:br>
            <a:r>
              <a:rPr lang="ko-KR" altLang="en-US" dirty="0">
                <a:latin typeface="+mn-ea"/>
              </a:rPr>
              <a:t>제대로 나뉘지 않았을 때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하지만 다행히도 좋은 기준 값을 정하는 알고리즘에 관해 서는 이미 많이 연구가 되어 있기 때문에 퀵 정렬은 대부분의 경우 </a:t>
            </a:r>
            <a:r>
              <a:rPr lang="en-US" altLang="ko-KR" dirty="0">
                <a:latin typeface="+mn-ea"/>
              </a:rPr>
              <a:t>O(</a:t>
            </a:r>
            <a:r>
              <a:rPr lang="en-US" altLang="ko-KR" dirty="0" err="1">
                <a:latin typeface="+mn-ea"/>
              </a:rPr>
              <a:t>n·log</a:t>
            </a:r>
            <a:r>
              <a:rPr lang="en-US" altLang="ko-KR" dirty="0">
                <a:latin typeface="+mn-ea"/>
              </a:rPr>
              <a:t> n)</a:t>
            </a:r>
            <a:r>
              <a:rPr lang="ko-KR" altLang="en-US" dirty="0">
                <a:latin typeface="+mn-ea"/>
              </a:rPr>
              <a:t>으로 정렬을 마칠 수 있음</a:t>
            </a:r>
            <a:endParaRPr lang="en-US" altLang="ko-KR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97342784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11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퀵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정렬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연습 문제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057" y="1821131"/>
            <a:ext cx="8020382" cy="1920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en-US" altLang="ko-KR" dirty="0">
                <a:solidFill>
                  <a:srgbClr val="EB666E"/>
                </a:solidFill>
                <a:latin typeface="+mn-ea"/>
              </a:rPr>
              <a:t>11-1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지금까지 배운 네 가지 정렬 알고리즘 말고도 훨씬 많은 정렬 알고리즘이 있습니다</a:t>
            </a:r>
            <a:r>
              <a:rPr lang="en-US" altLang="ko-KR" dirty="0">
                <a:latin typeface="+mn-ea"/>
              </a:rPr>
              <a:t>. </a:t>
            </a:r>
            <a:r>
              <a:rPr lang="ko-KR" altLang="en-US" dirty="0">
                <a:latin typeface="+mn-ea"/>
              </a:rPr>
              <a:t>그 중 하나인 거품 정렬</a:t>
            </a:r>
            <a:r>
              <a:rPr lang="en-US" altLang="ko-KR" dirty="0">
                <a:latin typeface="+mn-ea"/>
              </a:rPr>
              <a:t>(Bubble sort)</a:t>
            </a:r>
            <a:r>
              <a:rPr lang="ko-KR" altLang="en-US" dirty="0">
                <a:latin typeface="+mn-ea"/>
              </a:rPr>
              <a:t>을 줄 서기로 비유하면 다음과 같습니다</a:t>
            </a:r>
            <a:r>
              <a:rPr lang="en-US" altLang="ko-KR" dirty="0">
                <a:latin typeface="+mn-ea"/>
              </a:rPr>
              <a:t>. </a:t>
            </a:r>
            <a:r>
              <a:rPr lang="ko-KR" altLang="en-US" dirty="0">
                <a:latin typeface="+mn-ea"/>
              </a:rPr>
              <a:t>다음 과정을 읽고 리스트 </a:t>
            </a:r>
            <a:r>
              <a:rPr lang="en-US" altLang="ko-KR" dirty="0">
                <a:latin typeface="+mn-ea"/>
              </a:rPr>
              <a:t>[2, 4, 5, 1, 3]</a:t>
            </a:r>
            <a:r>
              <a:rPr lang="ko-KR" altLang="en-US" dirty="0">
                <a:latin typeface="+mn-ea"/>
              </a:rPr>
              <a:t>이 정렬되는 과정을 알고리즘으로 적어 보세요</a:t>
            </a:r>
            <a:r>
              <a:rPr lang="en-US" altLang="ko-KR" dirty="0">
                <a:latin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35832372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11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퀵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정렬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연습 문제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056" y="1821131"/>
            <a:ext cx="8020383" cy="493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/>
              <a:t>거품 정렬</a:t>
            </a:r>
            <a:r>
              <a:rPr lang="en-US" altLang="ko-KR" dirty="0"/>
              <a:t>(Bubble sort)</a:t>
            </a:r>
            <a:r>
              <a:rPr lang="ko-KR" altLang="en-US" dirty="0"/>
              <a:t>을 줄 서기로 비유한 것</a:t>
            </a:r>
            <a:endParaRPr lang="en-US" altLang="ko-KR" dirty="0">
              <a:latin typeface="+mn-e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7056" y="2631836"/>
            <a:ext cx="8020383" cy="374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65000"/>
              </a:lnSpc>
              <a:buClr>
                <a:srgbClr val="EB666E"/>
              </a:buClr>
              <a:buFont typeface="+mj-lt"/>
              <a:buAutoNum type="arabicParenR"/>
            </a:pPr>
            <a:r>
              <a:rPr lang="ko-KR" altLang="en-US" dirty="0">
                <a:latin typeface="+mn-ea"/>
              </a:rPr>
              <a:t>일단 학생들을 아무렇게나 일렬로 줄을 세움</a:t>
            </a:r>
            <a:endParaRPr lang="en-US" altLang="ko-KR" dirty="0">
              <a:latin typeface="+mn-ea"/>
            </a:endParaRPr>
          </a:p>
          <a:p>
            <a:pPr marL="342900" indent="-342900">
              <a:lnSpc>
                <a:spcPct val="165000"/>
              </a:lnSpc>
              <a:buClr>
                <a:srgbClr val="EB666E"/>
              </a:buClr>
              <a:buFont typeface="+mj-lt"/>
              <a:buAutoNum type="arabicParenR"/>
            </a:pPr>
            <a:r>
              <a:rPr lang="ko-KR" altLang="en-US" dirty="0">
                <a:latin typeface="+mn-ea"/>
              </a:rPr>
              <a:t>선생님이 맨 앞에서부터 뒤로 이동하면서 이웃한 앞뒤 학생의 키를 서로 비교</a:t>
            </a:r>
            <a:r>
              <a:rPr lang="en-US" altLang="ko-KR" dirty="0">
                <a:latin typeface="+mn-ea"/>
              </a:rPr>
              <a:t>. </a:t>
            </a:r>
            <a:r>
              <a:rPr lang="ko-KR" altLang="en-US" dirty="0">
                <a:latin typeface="+mn-ea"/>
              </a:rPr>
              <a:t>앞에 있는 학생의 키가 바로 뒤에 있는 학생보다 크면 두 학생의 </a:t>
            </a:r>
            <a:br>
              <a:rPr lang="en-US" altLang="ko-KR" dirty="0">
                <a:latin typeface="+mn-ea"/>
              </a:rPr>
            </a:br>
            <a:r>
              <a:rPr lang="ko-KR" altLang="en-US" dirty="0">
                <a:latin typeface="+mn-ea"/>
              </a:rPr>
              <a:t>자리를 서로 바꿈</a:t>
            </a:r>
            <a:endParaRPr lang="en-US" altLang="ko-KR" dirty="0">
              <a:latin typeface="+mn-ea"/>
            </a:endParaRPr>
          </a:p>
          <a:p>
            <a:pPr marL="342900" indent="-342900">
              <a:lnSpc>
                <a:spcPct val="165000"/>
              </a:lnSpc>
              <a:buClr>
                <a:srgbClr val="EB666E"/>
              </a:buClr>
              <a:buFont typeface="+mj-lt"/>
              <a:buAutoNum type="arabicParenR"/>
            </a:pPr>
            <a:r>
              <a:rPr lang="ko-KR" altLang="en-US" dirty="0">
                <a:latin typeface="+mn-ea"/>
              </a:rPr>
              <a:t>선생님은 계속 뒤로 이동하면서 이웃한 앞뒤 학생의 키를 비교해서 필요하면 앞뒤 학생의 위치를 서로 바꿈</a:t>
            </a:r>
            <a:endParaRPr lang="en-US" altLang="ko-KR" dirty="0">
              <a:latin typeface="+mn-ea"/>
            </a:endParaRPr>
          </a:p>
          <a:p>
            <a:pPr marL="342900" indent="-342900">
              <a:lnSpc>
                <a:spcPct val="165000"/>
              </a:lnSpc>
              <a:buClr>
                <a:srgbClr val="EB666E"/>
              </a:buClr>
              <a:buFont typeface="+mj-lt"/>
              <a:buAutoNum type="arabicParenR"/>
            </a:pPr>
            <a:r>
              <a:rPr lang="ko-KR" altLang="en-US" dirty="0"/>
              <a:t>모든 학생이 키 순서대로 줄 설 때까지 이 과정을 반복</a:t>
            </a:r>
            <a:r>
              <a:rPr lang="en-US" altLang="ko-KR" dirty="0"/>
              <a:t>(</a:t>
            </a:r>
            <a:r>
              <a:rPr lang="ko-KR" altLang="en-US" dirty="0"/>
              <a:t>줄의 끝까지 확인하는 동안 자리를 바꾼 적이 한 번도 없으면 모든 학생이 순서대로 줄을 선 것</a:t>
            </a:r>
            <a:r>
              <a:rPr lang="en-US" altLang="ko-KR" dirty="0"/>
              <a:t>)</a:t>
            </a:r>
            <a:endParaRPr lang="en-US" altLang="ko-KR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1743100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11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퀵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정렬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연습 문제</a:t>
            </a:r>
          </a:p>
        </p:txBody>
      </p:sp>
      <p:sp>
        <p:nvSpPr>
          <p:cNvPr id="14" name="TextBox 8"/>
          <p:cNvSpPr txBox="1"/>
          <p:nvPr/>
        </p:nvSpPr>
        <p:spPr>
          <a:xfrm>
            <a:off x="0" y="3353162"/>
            <a:ext cx="9144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2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그림 </a:t>
            </a:r>
            <a:r>
              <a:rPr lang="en-US" altLang="ko-KR" sz="12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11-4</a:t>
            </a:r>
            <a:r>
              <a:rPr lang="en-US" altLang="ko-KR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</a:t>
            </a:r>
            <a:r>
              <a:rPr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거품 정렬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275" y="2252773"/>
            <a:ext cx="7029450" cy="102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762873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11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퀵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정렬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연습 문제 풀이</a:t>
            </a:r>
          </a:p>
        </p:txBody>
      </p:sp>
      <p:sp>
        <p:nvSpPr>
          <p:cNvPr id="8" name="모서리가 둥근 직사각형 7"/>
          <p:cNvSpPr/>
          <p:nvPr/>
        </p:nvSpPr>
        <p:spPr>
          <a:xfrm>
            <a:off x="3227832" y="673656"/>
            <a:ext cx="740664" cy="380917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</a:rPr>
              <a:t>부록 </a:t>
            </a:r>
            <a:r>
              <a:rPr lang="en-US" altLang="ko-KR" sz="1400" b="1" dirty="0">
                <a:solidFill>
                  <a:schemeClr val="bg1"/>
                </a:solidFill>
              </a:rPr>
              <a:t>A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7057" y="1821131"/>
            <a:ext cx="8020382" cy="485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en-US" altLang="ko-KR" dirty="0">
                <a:solidFill>
                  <a:srgbClr val="EB666E"/>
                </a:solidFill>
                <a:latin typeface="+mn-ea"/>
              </a:rPr>
              <a:t>11-1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거품 정렬</a:t>
            </a:r>
            <a:endParaRPr lang="en-US" altLang="ko-KR" dirty="0">
              <a:latin typeface="+mn-ea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070" y="2600011"/>
            <a:ext cx="4626695" cy="3396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293159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11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퀵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정렬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연습 문제 풀이</a:t>
            </a:r>
          </a:p>
        </p:txBody>
      </p:sp>
      <p:sp>
        <p:nvSpPr>
          <p:cNvPr id="8" name="모서리가 둥근 직사각형 7"/>
          <p:cNvSpPr/>
          <p:nvPr/>
        </p:nvSpPr>
        <p:spPr>
          <a:xfrm>
            <a:off x="3227832" y="673656"/>
            <a:ext cx="740664" cy="380917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</a:rPr>
              <a:t>부록 </a:t>
            </a:r>
            <a:r>
              <a:rPr lang="en-US" altLang="ko-KR" sz="1400" b="1" dirty="0">
                <a:solidFill>
                  <a:schemeClr val="bg1"/>
                </a:solidFill>
              </a:rPr>
              <a:t>A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7056" y="1821131"/>
            <a:ext cx="8020383" cy="549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en-US" altLang="ko-KR" dirty="0">
                <a:solidFill>
                  <a:srgbClr val="EB666E"/>
                </a:solidFill>
              </a:rPr>
              <a:t>11-1</a:t>
            </a:r>
            <a:r>
              <a:rPr lang="en-US" altLang="ko-KR" dirty="0"/>
              <a:t> </a:t>
            </a:r>
            <a:r>
              <a:rPr lang="ko-KR" altLang="en-US" dirty="0"/>
              <a:t>거품 정렬</a:t>
            </a:r>
            <a:endParaRPr lang="en-US" altLang="ko-KR" dirty="0">
              <a:latin typeface="+mn-ea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1045269" y="2917455"/>
            <a:ext cx="7088957" cy="3134553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거품 정렬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입력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: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리스트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a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출력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: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없음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(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입력으로 주어진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a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가 정렬됨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)</a:t>
            </a:r>
          </a:p>
          <a:p>
            <a:pPr>
              <a:lnSpc>
                <a:spcPct val="120000"/>
              </a:lnSpc>
            </a:pPr>
            <a:endParaRPr lang="en-US" altLang="ko-KR" sz="1400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400" dirty="0" err="1">
                <a:solidFill>
                  <a:srgbClr val="FF822D"/>
                </a:solidFill>
                <a:latin typeface="+mn-ea"/>
              </a:rPr>
              <a:t>def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 err="1">
                <a:solidFill>
                  <a:srgbClr val="0070C0"/>
                </a:solidFill>
                <a:latin typeface="+mn-ea"/>
              </a:rPr>
              <a:t>bubble_sort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(a):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n = </a:t>
            </a:r>
            <a:r>
              <a:rPr lang="en-US" altLang="ko-KR" sz="1400" dirty="0" err="1">
                <a:solidFill>
                  <a:srgbClr val="0070C0"/>
                </a:solidFill>
                <a:latin typeface="+mn-ea"/>
              </a:rPr>
              <a:t>len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(a)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while True: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정렬이 완료될 때까지 계속 수행</a:t>
            </a:r>
          </a:p>
          <a:p>
            <a:pPr>
              <a:lnSpc>
                <a:spcPct val="120000"/>
              </a:lnSpc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       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changed =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False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자료를 앞뒤로 바꾸었는지 여부</a:t>
            </a:r>
          </a:p>
          <a:p>
            <a:pPr>
              <a:lnSpc>
                <a:spcPct val="120000"/>
              </a:lnSpc>
            </a:pP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      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자료를 훑어 보면서 뒤집힌 자료가 있으면 바꾸고 바뀌었다고 표시</a:t>
            </a:r>
          </a:p>
          <a:p>
            <a:pPr>
              <a:lnSpc>
                <a:spcPct val="120000"/>
              </a:lnSpc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      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for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i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in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>
                <a:solidFill>
                  <a:srgbClr val="0070C0"/>
                </a:solidFill>
                <a:latin typeface="+mn-ea"/>
              </a:rPr>
              <a:t>range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(0, n - 1):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       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if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a[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i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] &gt; a[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i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+ 1]: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앞이 뒤보다 크면</a:t>
            </a:r>
          </a:p>
          <a:p>
            <a:pPr>
              <a:lnSpc>
                <a:spcPct val="120000"/>
              </a:lnSpc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               </a:t>
            </a:r>
            <a:r>
              <a:rPr lang="en-US" altLang="ko-KR" sz="1400" dirty="0">
                <a:solidFill>
                  <a:srgbClr val="0070C0"/>
                </a:solidFill>
                <a:latin typeface="+mn-ea"/>
              </a:rPr>
              <a:t>print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(a)      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정렬 과정 출력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(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참고용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)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51001" y="2609681"/>
            <a:ext cx="31265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EB666E"/>
                </a:solidFill>
                <a:latin typeface="+mn-ea"/>
              </a:rPr>
              <a:t>▼</a:t>
            </a:r>
            <a:r>
              <a:rPr lang="ko-KR" altLang="en-US" sz="1400" dirty="0">
                <a:latin typeface="+mn-ea"/>
              </a:rPr>
              <a:t> </a:t>
            </a:r>
            <a:r>
              <a:rPr lang="ko-KR" altLang="en-US" sz="1400" dirty="0">
                <a:solidFill>
                  <a:srgbClr val="EB666E"/>
                </a:solidFill>
                <a:latin typeface="+mn-ea"/>
              </a:rPr>
              <a:t>예제 소스 </a:t>
            </a:r>
            <a:r>
              <a:rPr lang="en-US" altLang="ko-KR" sz="1400" dirty="0">
                <a:latin typeface="+mn-ea"/>
              </a:rPr>
              <a:t>e11-1-bsort.py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6" name="아래쪽 화살표 15"/>
          <p:cNvSpPr/>
          <p:nvPr/>
        </p:nvSpPr>
        <p:spPr>
          <a:xfrm>
            <a:off x="4502546" y="6196022"/>
            <a:ext cx="174402" cy="197963"/>
          </a:xfrm>
          <a:prstGeom prst="downArrow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7953351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11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퀵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정렬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연습 문제 풀이</a:t>
            </a:r>
          </a:p>
        </p:txBody>
      </p:sp>
      <p:sp>
        <p:nvSpPr>
          <p:cNvPr id="8" name="모서리가 둥근 직사각형 7"/>
          <p:cNvSpPr/>
          <p:nvPr/>
        </p:nvSpPr>
        <p:spPr>
          <a:xfrm>
            <a:off x="3227832" y="673656"/>
            <a:ext cx="740664" cy="380917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</a:rPr>
              <a:t>부록 </a:t>
            </a:r>
            <a:r>
              <a:rPr lang="en-US" altLang="ko-KR" sz="1400" b="1" dirty="0">
                <a:solidFill>
                  <a:schemeClr val="bg1"/>
                </a:solidFill>
              </a:rPr>
              <a:t>A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960022" y="2326709"/>
            <a:ext cx="7088957" cy="2641217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            a[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i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], a[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i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+ 1] = a[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i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+ 1], a[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i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]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두 자료의 위치를 맞바꿈</a:t>
            </a:r>
          </a:p>
          <a:p>
            <a:pPr>
              <a:lnSpc>
                <a:spcPct val="120000"/>
              </a:lnSpc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               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changed = True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자료가 앞뒤로 바뀌었음을 기록</a:t>
            </a:r>
          </a:p>
          <a:p>
            <a:pPr>
              <a:lnSpc>
                <a:spcPct val="120000"/>
              </a:lnSpc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     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자료를 한 번 훑어보는 동안 바뀐 적이 없다면 정렬이 완성된 것이므로 종료</a:t>
            </a:r>
          </a:p>
          <a:p>
            <a:pPr>
              <a:lnSpc>
                <a:spcPct val="120000"/>
              </a:lnSpc>
            </a:pP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      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바뀐 적이 있으면 다시 앞에서부터 비교 반복</a:t>
            </a:r>
          </a:p>
          <a:p>
            <a:pPr>
              <a:lnSpc>
                <a:spcPct val="120000"/>
              </a:lnSpc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      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if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changed ==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False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: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       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return</a:t>
            </a:r>
          </a:p>
          <a:p>
            <a:pPr>
              <a:lnSpc>
                <a:spcPct val="120000"/>
              </a:lnSpc>
            </a:pP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d = [2, 4, 5, 1, 3]</a:t>
            </a:r>
          </a:p>
          <a:p>
            <a:pPr>
              <a:lnSpc>
                <a:spcPct val="120000"/>
              </a:lnSpc>
            </a:pP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bubble_sort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(d)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rgbClr val="0070C0"/>
                </a:solidFill>
                <a:latin typeface="+mn-ea"/>
              </a:rPr>
              <a:t>print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(d)</a:t>
            </a:r>
          </a:p>
        </p:txBody>
      </p:sp>
      <p:sp>
        <p:nvSpPr>
          <p:cNvPr id="10" name="아래쪽 화살표 9"/>
          <p:cNvSpPr/>
          <p:nvPr/>
        </p:nvSpPr>
        <p:spPr>
          <a:xfrm rot="10800000">
            <a:off x="4417299" y="1939223"/>
            <a:ext cx="174402" cy="197963"/>
          </a:xfrm>
          <a:prstGeom prst="downArrow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9917572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11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퀵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정렬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연습 문제 풀이</a:t>
            </a:r>
          </a:p>
        </p:txBody>
      </p:sp>
      <p:sp>
        <p:nvSpPr>
          <p:cNvPr id="8" name="모서리가 둥근 직사각형 7"/>
          <p:cNvSpPr/>
          <p:nvPr/>
        </p:nvSpPr>
        <p:spPr>
          <a:xfrm>
            <a:off x="3227832" y="673656"/>
            <a:ext cx="740664" cy="380917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</a:rPr>
              <a:t>부록 </a:t>
            </a:r>
            <a:r>
              <a:rPr lang="en-US" altLang="ko-KR" sz="1400" b="1" dirty="0">
                <a:solidFill>
                  <a:schemeClr val="bg1"/>
                </a:solidFill>
              </a:rPr>
              <a:t>A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7056" y="1821131"/>
            <a:ext cx="8176904" cy="485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solidFill>
                  <a:srgbClr val="EB666E"/>
                </a:solidFill>
                <a:latin typeface="+mn-ea"/>
              </a:rPr>
              <a:t>실행 결과</a:t>
            </a:r>
            <a:endParaRPr lang="en-US" altLang="ko-KR" dirty="0">
              <a:latin typeface="+mn-ea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960022" y="2575865"/>
            <a:ext cx="7088957" cy="1590781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</a:rPr>
              <a:t>[2, 4, 5, 1, 3]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</a:rPr>
              <a:t>[2, 4, 1, 5, 3]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</a:rPr>
              <a:t>[2, 4, 1, 3, 5]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</a:rPr>
              <a:t>[2, 1, 4, 3, 5]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</a:rPr>
              <a:t>[2, 1, 3, 4, 5]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</a:rPr>
              <a:t>[1, 2, 3, 4, 5]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6469332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11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퀵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정렬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연습 문제 풀이</a:t>
            </a:r>
          </a:p>
        </p:txBody>
      </p:sp>
      <p:sp>
        <p:nvSpPr>
          <p:cNvPr id="8" name="모서리가 둥근 직사각형 7"/>
          <p:cNvSpPr/>
          <p:nvPr/>
        </p:nvSpPr>
        <p:spPr>
          <a:xfrm>
            <a:off x="3227832" y="673656"/>
            <a:ext cx="740664" cy="380917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</a:rPr>
              <a:t>부록 </a:t>
            </a:r>
            <a:r>
              <a:rPr lang="en-US" altLang="ko-KR" sz="1400" b="1" dirty="0">
                <a:solidFill>
                  <a:schemeClr val="bg1"/>
                </a:solidFill>
              </a:rPr>
              <a:t>A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7056" y="2296994"/>
            <a:ext cx="8020383" cy="32916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거품 정렬의 입력으로 이미 정렬된 리스트가 주어졌을 때는 리스트를 </a:t>
            </a:r>
            <a:br>
              <a:rPr lang="en-US" altLang="ko-KR" dirty="0">
                <a:latin typeface="+mn-ea"/>
              </a:rPr>
            </a:br>
            <a:r>
              <a:rPr lang="ko-KR" altLang="en-US" dirty="0">
                <a:latin typeface="+mn-ea"/>
              </a:rPr>
              <a:t>한 번 훑어보는 동안 바꿀 자료가 없으므로 바로 정렬이 종료됨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즉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>
                <a:latin typeface="+mn-ea"/>
              </a:rPr>
              <a:t>최선의 경우 계산 복잡도는 </a:t>
            </a:r>
            <a:r>
              <a:rPr lang="en-US" altLang="ko-KR" dirty="0">
                <a:latin typeface="+mn-ea"/>
              </a:rPr>
              <a:t>O(n)</a:t>
            </a: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단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>
                <a:latin typeface="+mn-ea"/>
              </a:rPr>
              <a:t>이미 정렬된 리스트가 아닌 일반적인 입력에 대한 거품 정렬의 계산 복잡도는 </a:t>
            </a:r>
            <a:r>
              <a:rPr lang="en-US" altLang="ko-KR" dirty="0">
                <a:latin typeface="+mn-ea"/>
              </a:rPr>
              <a:t>O(n</a:t>
            </a:r>
            <a:r>
              <a:rPr lang="en-US" altLang="ko-KR" baseline="30000" dirty="0">
                <a:latin typeface="+mn-ea"/>
              </a:rPr>
              <a:t>2</a:t>
            </a:r>
            <a:r>
              <a:rPr lang="en-US" altLang="ko-KR" dirty="0">
                <a:latin typeface="+mn-ea"/>
              </a:rPr>
              <a:t>)</a:t>
            </a: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하지만 거품 정렬은 자료 위치를 서로 바꾸는 횟수가 선택 정렬이나 삽입 정렬보다 더 많기 때문에 실제로 더 느리게 동작한다는 단점이 있음</a:t>
            </a:r>
            <a:endParaRPr lang="en-US" altLang="ko-KR" dirty="0">
              <a:latin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29B208-CFC5-447F-B2D3-5BB0D0CEB085}"/>
              </a:ext>
            </a:extLst>
          </p:cNvPr>
          <p:cNvSpPr txBox="1"/>
          <p:nvPr/>
        </p:nvSpPr>
        <p:spPr>
          <a:xfrm>
            <a:off x="647056" y="1821131"/>
            <a:ext cx="8176904" cy="485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65000"/>
              </a:lnSpc>
              <a:buClr>
                <a:srgbClr val="EB666E"/>
              </a:buClr>
            </a:pPr>
            <a:r>
              <a:rPr lang="ko-KR" altLang="en-US" dirty="0">
                <a:solidFill>
                  <a:srgbClr val="EB666E"/>
                </a:solidFill>
                <a:latin typeface="+mn-ea"/>
              </a:rPr>
              <a:t>거품 정렬의 특징</a:t>
            </a:r>
            <a:endParaRPr lang="en-US" altLang="ko-KR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52319218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11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퀵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정렬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정렬 알고리즘 요약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056" y="1821131"/>
            <a:ext cx="8298981" cy="374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65000"/>
              </a:lnSpc>
              <a:buClr>
                <a:srgbClr val="EB666E"/>
              </a:buClr>
            </a:pPr>
            <a:r>
              <a:rPr lang="ko-KR" altLang="en-US" dirty="0">
                <a:solidFill>
                  <a:srgbClr val="EB666E"/>
                </a:solidFill>
                <a:latin typeface="+mn-ea"/>
              </a:rPr>
              <a:t>한눈에 보는 정렬 알고리즘</a:t>
            </a:r>
            <a:endParaRPr lang="en-US" altLang="ko-KR" dirty="0">
              <a:solidFill>
                <a:srgbClr val="EB666E"/>
              </a:solidFill>
              <a:latin typeface="+mn-ea"/>
            </a:endParaRPr>
          </a:p>
          <a:p>
            <a:pPr>
              <a:lnSpc>
                <a:spcPct val="165000"/>
              </a:lnSpc>
              <a:buClr>
                <a:srgbClr val="EB666E"/>
              </a:buClr>
            </a:pPr>
            <a:r>
              <a:rPr lang="en-US" altLang="ko-KR" dirty="0">
                <a:solidFill>
                  <a:srgbClr val="EB666E"/>
                </a:solidFill>
                <a:latin typeface="+mn-ea"/>
              </a:rPr>
              <a:t>[1] </a:t>
            </a:r>
            <a:r>
              <a:rPr lang="ko-KR" altLang="en-US" dirty="0">
                <a:latin typeface="+mn-ea"/>
              </a:rPr>
              <a:t>선택 정렬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동작 원리</a:t>
            </a:r>
            <a:r>
              <a:rPr lang="en-US" altLang="ko-KR" dirty="0">
                <a:latin typeface="+mn-ea"/>
              </a:rPr>
              <a:t>: </a:t>
            </a:r>
            <a:r>
              <a:rPr lang="ko-KR" altLang="en-US" dirty="0">
                <a:latin typeface="+mn-ea"/>
              </a:rPr>
              <a:t>남은 자료 중에 최솟값을 뽑아 차례로 배치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계산 복잡도</a:t>
            </a:r>
            <a:r>
              <a:rPr lang="en-US" altLang="ko-KR" dirty="0">
                <a:latin typeface="+mn-ea"/>
              </a:rPr>
              <a:t>: O(n</a:t>
            </a:r>
            <a:r>
              <a:rPr lang="en-US" altLang="ko-KR" baseline="30000" dirty="0">
                <a:latin typeface="+mn-ea"/>
              </a:rPr>
              <a:t>2</a:t>
            </a:r>
            <a:r>
              <a:rPr lang="en-US" altLang="ko-KR" dirty="0">
                <a:latin typeface="+mn-ea"/>
              </a:rPr>
              <a:t>)</a:t>
            </a: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379" y="2905587"/>
            <a:ext cx="7137128" cy="1487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098072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647056" y="1821131"/>
            <a:ext cx="8298981" cy="374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65000"/>
              </a:lnSpc>
              <a:buClr>
                <a:srgbClr val="EB666E"/>
              </a:buClr>
            </a:pPr>
            <a:r>
              <a:rPr lang="ko-KR" altLang="en-US" dirty="0">
                <a:solidFill>
                  <a:srgbClr val="EB666E"/>
                </a:solidFill>
                <a:latin typeface="+mn-ea"/>
              </a:rPr>
              <a:t>한눈에 보는 정렬 알고리즘</a:t>
            </a:r>
            <a:endParaRPr lang="en-US" altLang="ko-KR" dirty="0">
              <a:solidFill>
                <a:srgbClr val="EB666E"/>
              </a:solidFill>
              <a:latin typeface="+mn-ea"/>
            </a:endParaRPr>
          </a:p>
          <a:p>
            <a:pPr>
              <a:lnSpc>
                <a:spcPct val="165000"/>
              </a:lnSpc>
              <a:buClr>
                <a:srgbClr val="EB666E"/>
              </a:buClr>
            </a:pPr>
            <a:r>
              <a:rPr lang="en-US" altLang="ko-KR" dirty="0">
                <a:solidFill>
                  <a:srgbClr val="EB666E"/>
                </a:solidFill>
                <a:latin typeface="+mn-ea"/>
              </a:rPr>
              <a:t>[2] </a:t>
            </a:r>
            <a:r>
              <a:rPr lang="ko-KR" altLang="en-US" dirty="0">
                <a:latin typeface="+mn-ea"/>
              </a:rPr>
              <a:t>삽입 정렬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동작 원리</a:t>
            </a:r>
            <a:r>
              <a:rPr lang="en-US" altLang="ko-KR" dirty="0">
                <a:latin typeface="+mn-ea"/>
              </a:rPr>
              <a:t>: </a:t>
            </a:r>
            <a:r>
              <a:rPr lang="ko-KR" altLang="en-US" dirty="0">
                <a:latin typeface="+mn-ea"/>
              </a:rPr>
              <a:t>자료를 하나씩 적절한 위치에 삽입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계산 복잡도</a:t>
            </a:r>
            <a:r>
              <a:rPr lang="en-US" altLang="ko-KR" dirty="0">
                <a:latin typeface="+mn-ea"/>
              </a:rPr>
              <a:t>: </a:t>
            </a:r>
            <a:r>
              <a:rPr lang="ko-KR" altLang="en-US" dirty="0">
                <a:latin typeface="+mn-ea"/>
              </a:rPr>
              <a:t>보통의 경우 </a:t>
            </a:r>
            <a:r>
              <a:rPr lang="en-US" altLang="ko-KR" dirty="0">
                <a:latin typeface="+mn-ea"/>
              </a:rPr>
              <a:t>O(n</a:t>
            </a:r>
            <a:r>
              <a:rPr lang="en-US" altLang="ko-KR" baseline="30000" dirty="0">
                <a:latin typeface="+mn-ea"/>
              </a:rPr>
              <a:t>2</a:t>
            </a:r>
            <a:r>
              <a:rPr lang="en-US" altLang="ko-KR" dirty="0">
                <a:latin typeface="+mn-ea"/>
              </a:rPr>
              <a:t>)</a:t>
            </a:r>
          </a:p>
        </p:txBody>
      </p:sp>
      <p:pic>
        <p:nvPicPr>
          <p:cNvPr id="15" name="그림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031" y="2943143"/>
            <a:ext cx="7119938" cy="1504694"/>
          </a:xfrm>
          <a:prstGeom prst="rect">
            <a:avLst/>
          </a:prstGeom>
        </p:spPr>
      </p:pic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11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퀵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정렬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정렬 알고리즘 요약</a:t>
            </a:r>
          </a:p>
          <a:p>
            <a:endParaRPr lang="ko-KR" altLang="en-US" sz="28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06496721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11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퀵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정렬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정렬 알고리즘 요약</a:t>
            </a:r>
          </a:p>
          <a:p>
            <a:endParaRPr lang="ko-KR" altLang="en-US" sz="2800" b="1" dirty="0">
              <a:latin typeface="+mn-ea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7056" y="1821131"/>
            <a:ext cx="8298981" cy="374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65000"/>
              </a:lnSpc>
              <a:buClr>
                <a:srgbClr val="EB666E"/>
              </a:buClr>
            </a:pPr>
            <a:r>
              <a:rPr lang="ko-KR" altLang="en-US" dirty="0">
                <a:solidFill>
                  <a:srgbClr val="EB666E"/>
                </a:solidFill>
                <a:latin typeface="+mn-ea"/>
              </a:rPr>
              <a:t>한눈에 보는 정렬 알고리즘</a:t>
            </a:r>
            <a:endParaRPr lang="en-US" altLang="ko-KR" dirty="0">
              <a:solidFill>
                <a:srgbClr val="EB666E"/>
              </a:solidFill>
              <a:latin typeface="+mn-ea"/>
            </a:endParaRPr>
          </a:p>
          <a:p>
            <a:pPr>
              <a:lnSpc>
                <a:spcPct val="165000"/>
              </a:lnSpc>
              <a:buClr>
                <a:srgbClr val="EB666E"/>
              </a:buClr>
            </a:pPr>
            <a:r>
              <a:rPr lang="en-US" altLang="ko-KR" dirty="0">
                <a:solidFill>
                  <a:srgbClr val="EB666E"/>
                </a:solidFill>
                <a:latin typeface="+mn-ea"/>
              </a:rPr>
              <a:t>[3] </a:t>
            </a:r>
            <a:r>
              <a:rPr lang="ko-KR" altLang="en-US" dirty="0">
                <a:latin typeface="+mn-ea"/>
              </a:rPr>
              <a:t>병합 정렬</a:t>
            </a:r>
            <a:endParaRPr lang="en-US" altLang="ko-KR" dirty="0">
              <a:latin typeface="+mn-ea"/>
            </a:endParaRPr>
          </a:p>
          <a:p>
            <a:pPr>
              <a:lnSpc>
                <a:spcPct val="165000"/>
              </a:lnSpc>
              <a:buClr>
                <a:srgbClr val="EB666E"/>
              </a:buClr>
            </a:pPr>
            <a:endParaRPr lang="en-US" altLang="ko-KR" dirty="0">
              <a:latin typeface="+mn-ea"/>
            </a:endParaRPr>
          </a:p>
          <a:p>
            <a:pPr>
              <a:lnSpc>
                <a:spcPct val="165000"/>
              </a:lnSpc>
              <a:buClr>
                <a:srgbClr val="EB666E"/>
              </a:buClr>
            </a:pPr>
            <a:endParaRPr lang="en-US" altLang="ko-KR" dirty="0">
              <a:latin typeface="+mn-ea"/>
            </a:endParaRPr>
          </a:p>
          <a:p>
            <a:pPr>
              <a:lnSpc>
                <a:spcPct val="165000"/>
              </a:lnSpc>
              <a:buClr>
                <a:srgbClr val="EB666E"/>
              </a:buClr>
            </a:pPr>
            <a:endParaRPr lang="en-US" altLang="ko-KR" dirty="0">
              <a:latin typeface="+mn-ea"/>
            </a:endParaRPr>
          </a:p>
          <a:p>
            <a:pPr>
              <a:lnSpc>
                <a:spcPct val="165000"/>
              </a:lnSpc>
              <a:buClr>
                <a:srgbClr val="EB666E"/>
              </a:buClr>
            </a:pP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동작 원리</a:t>
            </a:r>
            <a:r>
              <a:rPr lang="en-US" altLang="ko-KR" dirty="0">
                <a:latin typeface="+mn-ea"/>
              </a:rPr>
              <a:t>: </a:t>
            </a:r>
            <a:r>
              <a:rPr lang="ko-KR" altLang="en-US" dirty="0">
                <a:latin typeface="+mn-ea"/>
              </a:rPr>
              <a:t>그룹 나누기 → 그룹별로 각각 정렬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재귀 호출</a:t>
            </a:r>
            <a:r>
              <a:rPr lang="en-US" altLang="ko-KR" dirty="0">
                <a:latin typeface="+mn-ea"/>
              </a:rPr>
              <a:t>) → </a:t>
            </a:r>
            <a:r>
              <a:rPr lang="ko-KR" altLang="en-US" dirty="0">
                <a:latin typeface="+mn-ea"/>
              </a:rPr>
              <a:t>병합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계산 복잡도</a:t>
            </a:r>
            <a:r>
              <a:rPr lang="en-US" altLang="ko-KR" dirty="0">
                <a:latin typeface="+mn-ea"/>
              </a:rPr>
              <a:t>: O(</a:t>
            </a:r>
            <a:r>
              <a:rPr lang="en-US" altLang="ko-KR" dirty="0" err="1">
                <a:latin typeface="+mn-ea"/>
              </a:rPr>
              <a:t>n·logn</a:t>
            </a:r>
            <a:r>
              <a:rPr lang="en-US" altLang="ko-KR" dirty="0">
                <a:latin typeface="+mn-ea"/>
              </a:rPr>
              <a:t>)</a:t>
            </a: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3293" y="2858797"/>
            <a:ext cx="6437414" cy="1673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21201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647056" y="1821131"/>
            <a:ext cx="8298981" cy="4205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65000"/>
              </a:lnSpc>
              <a:buClr>
                <a:srgbClr val="EB666E"/>
              </a:buClr>
            </a:pPr>
            <a:r>
              <a:rPr lang="ko-KR" altLang="en-US" dirty="0">
                <a:solidFill>
                  <a:srgbClr val="EB666E"/>
                </a:solidFill>
                <a:latin typeface="+mn-ea"/>
              </a:rPr>
              <a:t>한눈에 보는 정렬 알고리즘</a:t>
            </a:r>
            <a:endParaRPr lang="en-US" altLang="ko-KR" dirty="0">
              <a:solidFill>
                <a:srgbClr val="EB666E"/>
              </a:solidFill>
              <a:latin typeface="+mn-ea"/>
            </a:endParaRPr>
          </a:p>
          <a:p>
            <a:pPr>
              <a:lnSpc>
                <a:spcPct val="165000"/>
              </a:lnSpc>
              <a:buClr>
                <a:srgbClr val="EB666E"/>
              </a:buClr>
            </a:pPr>
            <a:r>
              <a:rPr lang="en-US" altLang="ko-KR" dirty="0">
                <a:solidFill>
                  <a:srgbClr val="EB666E"/>
                </a:solidFill>
                <a:latin typeface="+mn-ea"/>
              </a:rPr>
              <a:t>[4]  </a:t>
            </a:r>
            <a:r>
              <a:rPr lang="ko-KR" altLang="en-US" dirty="0" err="1">
                <a:latin typeface="+mn-ea"/>
              </a:rPr>
              <a:t>퀵</a:t>
            </a:r>
            <a:r>
              <a:rPr lang="ko-KR" altLang="en-US" dirty="0">
                <a:latin typeface="+mn-ea"/>
              </a:rPr>
              <a:t> 정렬</a:t>
            </a:r>
            <a:endParaRPr lang="en-US" altLang="ko-KR" dirty="0">
              <a:latin typeface="+mn-ea"/>
            </a:endParaRPr>
          </a:p>
          <a:p>
            <a:pPr>
              <a:lnSpc>
                <a:spcPct val="165000"/>
              </a:lnSpc>
              <a:buClr>
                <a:srgbClr val="EB666E"/>
              </a:buClr>
            </a:pPr>
            <a:endParaRPr lang="en-US" altLang="ko-KR" dirty="0">
              <a:latin typeface="+mn-ea"/>
            </a:endParaRPr>
          </a:p>
          <a:p>
            <a:pPr>
              <a:lnSpc>
                <a:spcPct val="165000"/>
              </a:lnSpc>
              <a:buClr>
                <a:srgbClr val="EB666E"/>
              </a:buClr>
            </a:pPr>
            <a:endParaRPr lang="en-US" altLang="ko-KR" dirty="0">
              <a:latin typeface="+mn-ea"/>
            </a:endParaRPr>
          </a:p>
          <a:p>
            <a:pPr>
              <a:lnSpc>
                <a:spcPct val="165000"/>
              </a:lnSpc>
              <a:buClr>
                <a:srgbClr val="EB666E"/>
              </a:buClr>
            </a:pPr>
            <a:endParaRPr lang="en-US" altLang="ko-KR" dirty="0">
              <a:latin typeface="+mn-ea"/>
            </a:endParaRPr>
          </a:p>
          <a:p>
            <a:pPr>
              <a:lnSpc>
                <a:spcPct val="165000"/>
              </a:lnSpc>
              <a:buClr>
                <a:srgbClr val="EB666E"/>
              </a:buClr>
            </a:pP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동작 원리</a:t>
            </a:r>
            <a:r>
              <a:rPr lang="en-US" altLang="ko-KR" dirty="0">
                <a:latin typeface="+mn-ea"/>
              </a:rPr>
              <a:t>: </a:t>
            </a:r>
            <a:r>
              <a:rPr lang="ko-KR" altLang="en-US" dirty="0">
                <a:latin typeface="+mn-ea"/>
              </a:rPr>
              <a:t>기준 선택 → 기준에 맞춰 그룹 나누기 → 그룹별로 각각 정렬</a:t>
            </a:r>
            <a:br>
              <a:rPr lang="en-US" altLang="ko-KR" dirty="0">
                <a:latin typeface="+mn-ea"/>
              </a:rPr>
            </a:b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재귀 호출</a:t>
            </a:r>
            <a:r>
              <a:rPr lang="en-US" altLang="ko-KR" dirty="0">
                <a:latin typeface="+mn-ea"/>
              </a:rPr>
              <a:t>)</a:t>
            </a: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계산 복잡도</a:t>
            </a:r>
            <a:r>
              <a:rPr lang="en-US" altLang="ko-KR" dirty="0">
                <a:latin typeface="+mn-ea"/>
              </a:rPr>
              <a:t>: </a:t>
            </a:r>
            <a:r>
              <a:rPr lang="ko-KR" altLang="en-US" dirty="0">
                <a:latin typeface="+mn-ea"/>
              </a:rPr>
              <a:t>보통의 경우 </a:t>
            </a:r>
            <a:r>
              <a:rPr lang="en-US" altLang="ko-KR" dirty="0">
                <a:latin typeface="+mn-ea"/>
              </a:rPr>
              <a:t>O(</a:t>
            </a:r>
            <a:r>
              <a:rPr lang="en-US" altLang="ko-KR" dirty="0" err="1">
                <a:latin typeface="+mn-ea"/>
              </a:rPr>
              <a:t>n·logn</a:t>
            </a:r>
            <a:r>
              <a:rPr lang="en-US" altLang="ko-KR" dirty="0">
                <a:latin typeface="+mn-ea"/>
              </a:rPr>
              <a:t>)</a:t>
            </a:r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885" y="2877306"/>
            <a:ext cx="6943725" cy="1562100"/>
          </a:xfrm>
          <a:prstGeom prst="rect">
            <a:avLst/>
          </a:prstGeom>
        </p:spPr>
      </p:pic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11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퀵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정렬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정렬 알고리즘 요약</a:t>
            </a:r>
          </a:p>
          <a:p>
            <a:endParaRPr lang="ko-KR" altLang="en-US" sz="28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249126242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11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퀵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정렬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정렬 알고리즘 요약</a:t>
            </a:r>
          </a:p>
          <a:p>
            <a:endParaRPr lang="ko-KR" altLang="en-US" sz="2800" b="1" dirty="0">
              <a:latin typeface="+mn-ea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7056" y="1821131"/>
            <a:ext cx="8298981" cy="36847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65000"/>
              </a:lnSpc>
              <a:buClr>
                <a:srgbClr val="EB666E"/>
              </a:buClr>
            </a:pPr>
            <a:r>
              <a:rPr lang="ko-KR" altLang="en-US" dirty="0">
                <a:solidFill>
                  <a:srgbClr val="EB666E"/>
                </a:solidFill>
                <a:latin typeface="+mn-ea"/>
              </a:rPr>
              <a:t>한눈에 보는 정렬 알고리즘</a:t>
            </a:r>
            <a:endParaRPr lang="en-US" altLang="ko-KR" dirty="0">
              <a:solidFill>
                <a:srgbClr val="EB666E"/>
              </a:solidFill>
              <a:latin typeface="+mn-ea"/>
            </a:endParaRPr>
          </a:p>
          <a:p>
            <a:pPr>
              <a:lnSpc>
                <a:spcPct val="165000"/>
              </a:lnSpc>
              <a:buClr>
                <a:srgbClr val="EB666E"/>
              </a:buClr>
            </a:pPr>
            <a:r>
              <a:rPr lang="en-US" altLang="ko-KR" dirty="0">
                <a:solidFill>
                  <a:srgbClr val="EB666E"/>
                </a:solidFill>
                <a:latin typeface="+mn-ea"/>
              </a:rPr>
              <a:t>[5] </a:t>
            </a:r>
            <a:r>
              <a:rPr lang="ko-KR" altLang="en-US" dirty="0">
                <a:latin typeface="+mn-ea"/>
              </a:rPr>
              <a:t>거품 정렬</a:t>
            </a:r>
            <a:endParaRPr lang="en-US" altLang="ko-KR" dirty="0">
              <a:latin typeface="+mn-ea"/>
            </a:endParaRPr>
          </a:p>
          <a:p>
            <a:pPr>
              <a:lnSpc>
                <a:spcPct val="165000"/>
              </a:lnSpc>
              <a:buClr>
                <a:srgbClr val="EB666E"/>
              </a:buClr>
            </a:pPr>
            <a:endParaRPr lang="en-US" altLang="ko-KR" dirty="0">
              <a:latin typeface="+mn-ea"/>
            </a:endParaRPr>
          </a:p>
          <a:p>
            <a:pPr>
              <a:lnSpc>
                <a:spcPct val="165000"/>
              </a:lnSpc>
              <a:buClr>
                <a:srgbClr val="EB666E"/>
              </a:buClr>
            </a:pPr>
            <a:endParaRPr lang="en-US" altLang="ko-KR" dirty="0">
              <a:latin typeface="+mn-ea"/>
            </a:endParaRPr>
          </a:p>
          <a:p>
            <a:pPr>
              <a:lnSpc>
                <a:spcPct val="165000"/>
              </a:lnSpc>
              <a:buClr>
                <a:srgbClr val="EB666E"/>
              </a:buClr>
            </a:pP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동작 원리</a:t>
            </a:r>
            <a:r>
              <a:rPr lang="en-US" altLang="ko-KR" dirty="0">
                <a:latin typeface="+mn-ea"/>
              </a:rPr>
              <a:t>: </a:t>
            </a:r>
            <a:r>
              <a:rPr lang="ko-KR" altLang="en-US" dirty="0">
                <a:latin typeface="+mn-ea"/>
              </a:rPr>
              <a:t>앞뒤로 이웃한 자료를 비교 → 크기가 뒤집힌 경우 서로 위치를 바꿈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계산 복잡도</a:t>
            </a:r>
            <a:r>
              <a:rPr lang="en-US" altLang="ko-KR" dirty="0">
                <a:latin typeface="+mn-ea"/>
              </a:rPr>
              <a:t>: </a:t>
            </a:r>
            <a:r>
              <a:rPr lang="ko-KR" altLang="en-US" dirty="0">
                <a:latin typeface="+mn-ea"/>
              </a:rPr>
              <a:t>보통의 경우 </a:t>
            </a:r>
            <a:r>
              <a:rPr lang="en-US" altLang="ko-KR" dirty="0">
                <a:latin typeface="+mn-ea"/>
              </a:rPr>
              <a:t>O(n</a:t>
            </a:r>
            <a:r>
              <a:rPr lang="en-US" altLang="ko-KR" baseline="30000" dirty="0">
                <a:latin typeface="+mn-ea"/>
              </a:rPr>
              <a:t>2</a:t>
            </a:r>
            <a:r>
              <a:rPr lang="en-US" altLang="ko-KR" dirty="0">
                <a:latin typeface="+mn-ea"/>
              </a:rPr>
              <a:t>)</a:t>
            </a:r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275" y="2952616"/>
            <a:ext cx="7029450" cy="102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358991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11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퀵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정렬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파이썬의 정렬 기능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056" y="1821131"/>
            <a:ext cx="8298981" cy="1463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65000"/>
              </a:lnSpc>
              <a:buClr>
                <a:srgbClr val="EB666E"/>
              </a:buClr>
            </a:pPr>
            <a:r>
              <a:rPr lang="ko-KR" altLang="en-US" dirty="0" err="1">
                <a:solidFill>
                  <a:srgbClr val="EB666E"/>
                </a:solidFill>
              </a:rPr>
              <a:t>파이썬의</a:t>
            </a:r>
            <a:r>
              <a:rPr lang="ko-KR" altLang="en-US" dirty="0">
                <a:solidFill>
                  <a:srgbClr val="EB666E"/>
                </a:solidFill>
              </a:rPr>
              <a:t> 정렬</a:t>
            </a:r>
            <a:endParaRPr lang="en-US" altLang="ko-KR" dirty="0">
              <a:solidFill>
                <a:srgbClr val="EB666E"/>
              </a:solidFill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 err="1"/>
              <a:t>파이썬</a:t>
            </a:r>
            <a:r>
              <a:rPr lang="en-US" altLang="ko-KR" dirty="0"/>
              <a:t>, </a:t>
            </a:r>
            <a:r>
              <a:rPr lang="ko-KR" altLang="en-US" dirty="0"/>
              <a:t>자바</a:t>
            </a:r>
            <a:r>
              <a:rPr lang="en-US" altLang="ko-KR" dirty="0"/>
              <a:t>, C#</a:t>
            </a:r>
            <a:r>
              <a:rPr lang="ko-KR" altLang="en-US" dirty="0"/>
              <a:t>과 같은 최신 컴퓨터 프로그래밍 언어는 대부분 정렬 기능 내장</a:t>
            </a:r>
            <a:endParaRPr lang="en-US" altLang="ko-KR" dirty="0"/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 err="1"/>
              <a:t>파이썬에서는</a:t>
            </a:r>
            <a:r>
              <a:rPr lang="ko-KR" altLang="en-US" dirty="0"/>
              <a:t> </a:t>
            </a:r>
            <a:r>
              <a:rPr lang="en-US" altLang="ko-KR" dirty="0"/>
              <a:t>sort() </a:t>
            </a:r>
            <a:r>
              <a:rPr lang="ko-KR" altLang="en-US" dirty="0"/>
              <a:t>혹은 </a:t>
            </a:r>
            <a:r>
              <a:rPr lang="en-US" altLang="ko-KR" dirty="0"/>
              <a:t>sorted() </a:t>
            </a:r>
            <a:r>
              <a:rPr lang="ko-KR" altLang="en-US" dirty="0"/>
              <a:t>함수를 이용하면 리스트 쉽게 정렬 가능</a:t>
            </a:r>
            <a:endParaRPr lang="en-US" altLang="ko-KR" dirty="0">
              <a:latin typeface="+mn-ea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960022" y="3428623"/>
            <a:ext cx="7088957" cy="1864158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</a:rPr>
              <a:t>&gt;&gt;&gt; sorted([5, 2, 3, 1, 4])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</a:rPr>
              <a:t>[1, 2, 3, 4, 5]</a:t>
            </a:r>
          </a:p>
          <a:p>
            <a:pPr>
              <a:lnSpc>
                <a:spcPct val="120000"/>
              </a:lnSpc>
            </a:pPr>
            <a:endParaRPr lang="en-US" altLang="ko-KR" sz="1400" dirty="0">
              <a:solidFill>
                <a:schemeClr val="tx1"/>
              </a:solidFill>
            </a:endParaRP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</a:rPr>
              <a:t>&gt;&gt;&gt; a = [5, 2, 3, 1, 4]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</a:rPr>
              <a:t>&gt;&gt;&gt; </a:t>
            </a:r>
            <a:r>
              <a:rPr lang="en-US" altLang="ko-KR" sz="1400" dirty="0" err="1">
                <a:solidFill>
                  <a:schemeClr val="tx1"/>
                </a:solidFill>
              </a:rPr>
              <a:t>a.sort</a:t>
            </a:r>
            <a:r>
              <a:rPr lang="en-US" altLang="ko-KR" sz="1400" dirty="0">
                <a:solidFill>
                  <a:schemeClr val="tx1"/>
                </a:solidFill>
              </a:rPr>
              <a:t>()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</a:rPr>
              <a:t>&gt;&gt;&gt; a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</a:rPr>
              <a:t>[1, 2, 3, 4, 5]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6625659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11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퀵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정렬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파이썬의 정렬 기능</a:t>
            </a:r>
          </a:p>
          <a:p>
            <a:endParaRPr lang="ko-KR" altLang="en-US" sz="2800" b="1" dirty="0">
              <a:latin typeface="+mn-ea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7056" y="1821131"/>
            <a:ext cx="8020383" cy="374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en-US" altLang="ko-KR" dirty="0">
                <a:latin typeface="+mn-ea"/>
              </a:rPr>
              <a:t>sorted() </a:t>
            </a:r>
            <a:r>
              <a:rPr lang="ko-KR" altLang="en-US" dirty="0">
                <a:latin typeface="+mn-ea"/>
              </a:rPr>
              <a:t>함수는 인자로 리스트를 주면 그 리스트를 정렬한 리스트를 새로 만들어 돌려줌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반면에 </a:t>
            </a:r>
            <a:r>
              <a:rPr lang="en-US" altLang="ko-KR" dirty="0">
                <a:latin typeface="+mn-ea"/>
              </a:rPr>
              <a:t>sort() </a:t>
            </a:r>
            <a:r>
              <a:rPr lang="ko-KR" altLang="en-US" dirty="0">
                <a:latin typeface="+mn-ea"/>
              </a:rPr>
              <a:t>함수는 새 리스트를 따로 만들지 않고 정렬 대상이 되는 </a:t>
            </a:r>
            <a:br>
              <a:rPr lang="en-US" altLang="ko-KR" dirty="0">
                <a:latin typeface="+mn-ea"/>
              </a:rPr>
            </a:br>
            <a:r>
              <a:rPr lang="ko-KR" altLang="en-US" dirty="0">
                <a:latin typeface="+mn-ea"/>
              </a:rPr>
              <a:t>리스트 자체의 순서를 바꿔 줌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그렇다면 </a:t>
            </a:r>
            <a:r>
              <a:rPr lang="ko-KR" altLang="en-US" dirty="0" err="1">
                <a:latin typeface="+mn-ea"/>
              </a:rPr>
              <a:t>파이썬은</a:t>
            </a:r>
            <a:r>
              <a:rPr lang="ko-KR" altLang="en-US" dirty="0">
                <a:latin typeface="+mn-ea"/>
              </a:rPr>
              <a:t> 실제로 어떤 정렬 알고리즘으로 정렬을 하는 걸까</a:t>
            </a:r>
            <a:r>
              <a:rPr lang="en-US" altLang="ko-KR" dirty="0">
                <a:latin typeface="+mn-ea"/>
              </a:rPr>
              <a:t>?</a:t>
            </a:r>
            <a:br>
              <a:rPr lang="en-US" altLang="ko-KR" dirty="0">
                <a:latin typeface="+mn-ea"/>
              </a:rPr>
            </a:br>
            <a:r>
              <a:rPr lang="ko-KR" altLang="en-US" dirty="0">
                <a:latin typeface="+mn-ea"/>
              </a:rPr>
              <a:t>→ </a:t>
            </a:r>
            <a:r>
              <a:rPr lang="ko-KR" altLang="en-US" dirty="0" err="1">
                <a:latin typeface="+mn-ea"/>
              </a:rPr>
              <a:t>팀소트</a:t>
            </a:r>
            <a:r>
              <a:rPr lang="en-US" altLang="ko-KR" dirty="0">
                <a:latin typeface="+mn-ea"/>
              </a:rPr>
              <a:t>(</a:t>
            </a:r>
            <a:r>
              <a:rPr lang="en-US" altLang="ko-KR" dirty="0" err="1">
                <a:latin typeface="+mn-ea"/>
              </a:rPr>
              <a:t>Timsort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>
                <a:latin typeface="+mn-ea"/>
              </a:rPr>
              <a:t>라는 알고리즘을 이용해 정렬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 err="1">
                <a:latin typeface="+mn-ea"/>
              </a:rPr>
              <a:t>팀소트는</a:t>
            </a:r>
            <a:r>
              <a:rPr lang="ko-KR" altLang="en-US" dirty="0">
                <a:latin typeface="+mn-ea"/>
              </a:rPr>
              <a:t> 우리가 이미 배운 병합 정렬과 삽입 정렬의 아이디어를 적절하게 섞어 만든 새로운 정렬 알고리즘으로 평균 계산 복잡도는 </a:t>
            </a:r>
            <a:r>
              <a:rPr lang="en-US" altLang="ko-KR" dirty="0">
                <a:latin typeface="+mn-ea"/>
              </a:rPr>
              <a:t>O(</a:t>
            </a:r>
            <a:r>
              <a:rPr lang="en-US" altLang="ko-KR" dirty="0" err="1">
                <a:latin typeface="+mn-ea"/>
              </a:rPr>
              <a:t>n·log</a:t>
            </a:r>
            <a:r>
              <a:rPr lang="en-US" altLang="ko-KR" dirty="0">
                <a:latin typeface="+mn-ea"/>
              </a:rPr>
              <a:t> n)</a:t>
            </a:r>
          </a:p>
        </p:txBody>
      </p:sp>
    </p:spTree>
    <p:extLst>
      <p:ext uri="{BB962C8B-B14F-4D97-AF65-F5344CB8AC3E}">
        <p14:creationId xmlns:p14="http://schemas.microsoft.com/office/powerpoint/2010/main" val="3481966242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179512" y="144016"/>
            <a:ext cx="8820472" cy="6525344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" name="직선 연결선 3"/>
          <p:cNvCxnSpPr/>
          <p:nvPr/>
        </p:nvCxnSpPr>
        <p:spPr>
          <a:xfrm>
            <a:off x="2819400" y="3634895"/>
            <a:ext cx="3494314" cy="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/>
          <p:cNvSpPr/>
          <p:nvPr/>
        </p:nvSpPr>
        <p:spPr>
          <a:xfrm>
            <a:off x="1" y="3076950"/>
            <a:ext cx="9144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28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 </a:t>
            </a:r>
            <a:r>
              <a:rPr lang="en-US" altLang="ko-KR" sz="28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12 </a:t>
            </a:r>
            <a:r>
              <a:rPr lang="ko-KR" altLang="en-US" sz="26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이분 탐색</a:t>
            </a:r>
          </a:p>
        </p:txBody>
      </p:sp>
    </p:spTree>
    <p:extLst>
      <p:ext uri="{BB962C8B-B14F-4D97-AF65-F5344CB8AC3E}">
        <p14:creationId xmlns:p14="http://schemas.microsoft.com/office/powerpoint/2010/main" val="1566328508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12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이분 탐색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0</a:t>
            </a:r>
            <a:endParaRPr lang="ko-KR" altLang="en-US" sz="24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647057" y="1821131"/>
            <a:ext cx="7920872" cy="4662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65000"/>
              </a:lnSpc>
              <a:buClr>
                <a:srgbClr val="EB666E"/>
              </a:buClr>
            </a:pPr>
            <a:r>
              <a:rPr lang="ko-KR" altLang="en-US" b="1" dirty="0">
                <a:latin typeface="+mn-ea"/>
              </a:rPr>
              <a:t>자료가 크기 순서대로 정렬된 리스트에서 특정한 값이 있는지 찾아 그 </a:t>
            </a:r>
            <a:br>
              <a:rPr lang="en-US" altLang="ko-KR" b="1" dirty="0">
                <a:latin typeface="+mn-ea"/>
              </a:rPr>
            </a:br>
            <a:r>
              <a:rPr lang="ko-KR" altLang="en-US" b="1" dirty="0">
                <a:latin typeface="+mn-ea"/>
              </a:rPr>
              <a:t>위치를 돌려주는 알고리즘을 만들어 보세요</a:t>
            </a:r>
            <a:r>
              <a:rPr lang="en-US" altLang="ko-KR" b="1" dirty="0">
                <a:latin typeface="+mn-ea"/>
              </a:rPr>
              <a:t>. </a:t>
            </a:r>
            <a:r>
              <a:rPr lang="ko-KR" altLang="en-US" b="1" dirty="0">
                <a:latin typeface="+mn-ea"/>
              </a:rPr>
              <a:t>리스트에 찾는 값이 없으면 </a:t>
            </a:r>
            <a:br>
              <a:rPr lang="en-US" altLang="ko-KR" b="1" dirty="0">
                <a:latin typeface="+mn-ea"/>
              </a:rPr>
            </a:br>
            <a:r>
              <a:rPr lang="en-US" altLang="ko-KR" b="1" dirty="0">
                <a:latin typeface="+mn-ea"/>
              </a:rPr>
              <a:t>-1</a:t>
            </a:r>
            <a:r>
              <a:rPr lang="ko-KR" altLang="en-US" b="1" dirty="0">
                <a:latin typeface="+mn-ea"/>
              </a:rPr>
              <a:t>을 돌려줍니다</a:t>
            </a:r>
            <a:r>
              <a:rPr lang="en-US" altLang="ko-KR" b="1" dirty="0">
                <a:latin typeface="+mn-ea"/>
              </a:rPr>
              <a:t>.</a:t>
            </a:r>
          </a:p>
          <a:p>
            <a:pPr>
              <a:lnSpc>
                <a:spcPct val="165000"/>
              </a:lnSpc>
              <a:buClr>
                <a:srgbClr val="EB666E"/>
              </a:buClr>
            </a:pP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문제 </a:t>
            </a:r>
            <a:r>
              <a:rPr lang="en-US" altLang="ko-KR" dirty="0">
                <a:latin typeface="+mn-ea"/>
              </a:rPr>
              <a:t>7</a:t>
            </a:r>
            <a:r>
              <a:rPr lang="ko-KR" altLang="en-US" dirty="0">
                <a:latin typeface="+mn-ea"/>
              </a:rPr>
              <a:t>과 같지만 이번에는 리스트의 자료가 순서대로 정렬되어 있으므로 훨씬 더 빠르게 탐색할 수 있음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이분 탐색</a:t>
            </a:r>
            <a:r>
              <a:rPr lang="en-US" altLang="ko-KR" dirty="0">
                <a:latin typeface="+mn-ea"/>
              </a:rPr>
              <a:t>(Binary search)</a:t>
            </a:r>
            <a:r>
              <a:rPr lang="ko-KR" altLang="en-US" dirty="0">
                <a:latin typeface="+mn-ea"/>
              </a:rPr>
              <a:t>의 이분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二分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>
                <a:latin typeface="+mn-ea"/>
              </a:rPr>
              <a:t>은 </a:t>
            </a:r>
            <a:r>
              <a:rPr lang="en-US" altLang="ko-KR" dirty="0">
                <a:latin typeface="+mn-ea"/>
              </a:rPr>
              <a:t>‘</a:t>
            </a:r>
            <a:r>
              <a:rPr lang="ko-KR" altLang="en-US" dirty="0">
                <a:latin typeface="+mn-ea"/>
              </a:rPr>
              <a:t>둘로 나눈다</a:t>
            </a:r>
            <a:r>
              <a:rPr lang="en-US" altLang="ko-KR" dirty="0">
                <a:latin typeface="+mn-ea"/>
              </a:rPr>
              <a:t>’</a:t>
            </a:r>
            <a:r>
              <a:rPr lang="ko-KR" altLang="en-US" dirty="0">
                <a:latin typeface="+mn-ea"/>
              </a:rPr>
              <a:t>는 뜻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탐색할 자료를 둘로 나누어 찾는 값이 있을 법한 곳만 탐색하기 때문에 자료를 하나하나 찾아야 하는 순차 탐색보다 원하는 자료를 훨씬 빨리 </a:t>
            </a:r>
            <a:br>
              <a:rPr lang="en-US" altLang="ko-KR" dirty="0">
                <a:latin typeface="+mn-ea"/>
              </a:rPr>
            </a:br>
            <a:r>
              <a:rPr lang="ko-KR" altLang="en-US" dirty="0">
                <a:latin typeface="+mn-ea"/>
              </a:rPr>
              <a:t>찾을 수 있음</a:t>
            </a:r>
            <a:endParaRPr lang="en-US" altLang="ko-KR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544189147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12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이분 탐색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1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일상생활 속의 탐색 문제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056" y="1821131"/>
            <a:ext cx="8020383" cy="493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두꺼운 책을 한 권 앞에 두고 특정한 쪽 수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예를 들어 </a:t>
            </a:r>
            <a:r>
              <a:rPr lang="en-US" altLang="ko-KR" dirty="0">
                <a:latin typeface="+mn-ea"/>
              </a:rPr>
              <a:t>618</a:t>
            </a:r>
            <a:r>
              <a:rPr lang="ko-KR" altLang="en-US" dirty="0">
                <a:latin typeface="+mn-ea"/>
              </a:rPr>
              <a:t>쪽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>
                <a:latin typeface="+mn-ea"/>
              </a:rPr>
              <a:t>를 찾는 과정</a:t>
            </a:r>
            <a:endParaRPr lang="en-US" altLang="ko-KR" dirty="0">
              <a:latin typeface="+mn-ea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7056" y="2631836"/>
            <a:ext cx="8020383" cy="32916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65000"/>
              </a:lnSpc>
              <a:buClr>
                <a:srgbClr val="EB666E"/>
              </a:buClr>
              <a:buFont typeface="+mj-lt"/>
              <a:buAutoNum type="arabicParenR"/>
            </a:pPr>
            <a:r>
              <a:rPr lang="ko-KR" altLang="en-US" dirty="0">
                <a:latin typeface="+mn-ea"/>
              </a:rPr>
              <a:t>우선 책의 </a:t>
            </a:r>
            <a:r>
              <a:rPr lang="ko-KR" altLang="en-US" dirty="0" err="1">
                <a:latin typeface="+mn-ea"/>
              </a:rPr>
              <a:t>중간쯤을</a:t>
            </a:r>
            <a:r>
              <a:rPr lang="ko-KR" altLang="en-US" dirty="0">
                <a:latin typeface="+mn-ea"/>
              </a:rPr>
              <a:t> 펼쳐 쪽 수를 보니 </a:t>
            </a:r>
            <a:r>
              <a:rPr lang="en-US" altLang="ko-KR" dirty="0">
                <a:latin typeface="+mn-ea"/>
              </a:rPr>
              <a:t>520</a:t>
            </a:r>
            <a:r>
              <a:rPr lang="ko-KR" altLang="en-US" dirty="0">
                <a:latin typeface="+mn-ea"/>
              </a:rPr>
              <a:t>쪽</a:t>
            </a:r>
            <a:endParaRPr lang="en-US" altLang="ko-KR" dirty="0">
              <a:latin typeface="+mn-ea"/>
            </a:endParaRPr>
          </a:p>
          <a:p>
            <a:pPr marL="342900" indent="-342900">
              <a:lnSpc>
                <a:spcPct val="165000"/>
              </a:lnSpc>
              <a:buClr>
                <a:srgbClr val="EB666E"/>
              </a:buClr>
              <a:buFont typeface="+mj-lt"/>
              <a:buAutoNum type="arabicParenR"/>
            </a:pPr>
            <a:r>
              <a:rPr lang="ko-KR" altLang="en-US" dirty="0">
                <a:latin typeface="+mn-ea"/>
              </a:rPr>
              <a:t>찾고자 하는 쪽 수가 펼친 쪽 수보다 크므로</a:t>
            </a:r>
            <a:r>
              <a:rPr lang="en-US" altLang="ko-KR" dirty="0">
                <a:latin typeface="+mn-ea"/>
              </a:rPr>
              <a:t>(618 &gt; 520) </a:t>
            </a:r>
            <a:r>
              <a:rPr lang="ko-KR" altLang="en-US" dirty="0">
                <a:latin typeface="+mn-ea"/>
              </a:rPr>
              <a:t>펼친 곳의 </a:t>
            </a:r>
            <a:br>
              <a:rPr lang="en-US" altLang="ko-KR" dirty="0">
                <a:latin typeface="+mn-ea"/>
              </a:rPr>
            </a:br>
            <a:r>
              <a:rPr lang="ko-KR" altLang="en-US" dirty="0">
                <a:latin typeface="+mn-ea"/>
              </a:rPr>
              <a:t>앞쪽은 더 이상 찾을 필요가 없음</a:t>
            </a:r>
            <a:endParaRPr lang="en-US" altLang="ko-KR" dirty="0">
              <a:latin typeface="+mn-ea"/>
            </a:endParaRPr>
          </a:p>
          <a:p>
            <a:pPr marL="342900" indent="-342900">
              <a:lnSpc>
                <a:spcPct val="165000"/>
              </a:lnSpc>
              <a:buClr>
                <a:srgbClr val="EB666E"/>
              </a:buClr>
              <a:buFont typeface="+mj-lt"/>
              <a:buAutoNum type="arabicParenR"/>
            </a:pPr>
            <a:r>
              <a:rPr lang="ko-KR" altLang="en-US" dirty="0">
                <a:latin typeface="+mn-ea"/>
              </a:rPr>
              <a:t>현재 펼친 곳에서 뒤쪽으로 적당해 보이는 곳을 다시 펼치니 </a:t>
            </a:r>
            <a:r>
              <a:rPr lang="en-US" altLang="ko-KR" dirty="0">
                <a:latin typeface="+mn-ea"/>
              </a:rPr>
              <a:t>710</a:t>
            </a:r>
            <a:r>
              <a:rPr lang="ko-KR" altLang="en-US" dirty="0">
                <a:latin typeface="+mn-ea"/>
              </a:rPr>
              <a:t>쪽</a:t>
            </a:r>
            <a:endParaRPr lang="en-US" altLang="ko-KR" dirty="0">
              <a:latin typeface="+mn-ea"/>
            </a:endParaRPr>
          </a:p>
          <a:p>
            <a:pPr marL="342900" indent="-342900">
              <a:lnSpc>
                <a:spcPct val="165000"/>
              </a:lnSpc>
              <a:buClr>
                <a:srgbClr val="EB666E"/>
              </a:buClr>
              <a:buFont typeface="+mj-lt"/>
              <a:buAutoNum type="arabicParenR"/>
            </a:pPr>
            <a:r>
              <a:rPr lang="ko-KR" altLang="en-US" dirty="0">
                <a:latin typeface="+mn-ea"/>
              </a:rPr>
              <a:t>찾고자 하는 쪽 수가 펼친 쪽 수보다 작으므로</a:t>
            </a:r>
            <a:r>
              <a:rPr lang="en-US" altLang="ko-KR" dirty="0">
                <a:latin typeface="+mn-ea"/>
              </a:rPr>
              <a:t>(618 &lt; 710) </a:t>
            </a:r>
            <a:r>
              <a:rPr lang="ko-KR" altLang="en-US" dirty="0">
                <a:latin typeface="+mn-ea"/>
              </a:rPr>
              <a:t>펼친 곳의 </a:t>
            </a:r>
            <a:br>
              <a:rPr lang="en-US" altLang="ko-KR" dirty="0">
                <a:latin typeface="+mn-ea"/>
              </a:rPr>
            </a:br>
            <a:r>
              <a:rPr lang="ko-KR" altLang="en-US" dirty="0">
                <a:latin typeface="+mn-ea"/>
              </a:rPr>
              <a:t>뒤쪽은 더 이상 찾을 필요가 없음</a:t>
            </a:r>
            <a:endParaRPr lang="en-US" altLang="ko-KR" dirty="0">
              <a:latin typeface="+mn-ea"/>
            </a:endParaRPr>
          </a:p>
          <a:p>
            <a:pPr marL="342900" indent="-342900">
              <a:lnSpc>
                <a:spcPct val="165000"/>
              </a:lnSpc>
              <a:buClr>
                <a:srgbClr val="EB666E"/>
              </a:buClr>
              <a:buFont typeface="+mj-lt"/>
              <a:buAutoNum type="arabicParenR"/>
            </a:pPr>
            <a:r>
              <a:rPr lang="ko-KR" altLang="en-US" dirty="0">
                <a:latin typeface="+mn-ea"/>
              </a:rPr>
              <a:t>이번에는 다시 앞쪽으로 책을 펼쳤더니 </a:t>
            </a:r>
            <a:r>
              <a:rPr lang="en-US" altLang="ko-KR" dirty="0">
                <a:latin typeface="+mn-ea"/>
              </a:rPr>
              <a:t>613</a:t>
            </a:r>
            <a:r>
              <a:rPr lang="ko-KR" altLang="en-US" dirty="0">
                <a:latin typeface="+mn-ea"/>
              </a:rPr>
              <a:t>쪽이 나옴</a:t>
            </a:r>
            <a:endParaRPr lang="en-US" altLang="ko-KR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01399122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12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이분 탐색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1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일상생활 속의 탐색 문제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056" y="1821131"/>
            <a:ext cx="8020383" cy="9508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65000"/>
              </a:lnSpc>
              <a:buClr>
                <a:srgbClr val="EB666E"/>
              </a:buClr>
              <a:buFont typeface="+mj-lt"/>
              <a:buAutoNum type="arabicParenR" startAt="6"/>
            </a:pPr>
            <a:r>
              <a:rPr lang="ko-KR" altLang="en-US" dirty="0">
                <a:latin typeface="+mn-ea"/>
              </a:rPr>
              <a:t>찾으려는 쪽 수와 가까운 쪽까지 왔으니 이제 쪽을 한 장 한 장 뒤로 넘김</a:t>
            </a:r>
            <a:endParaRPr lang="en-US" altLang="ko-KR" dirty="0">
              <a:latin typeface="+mn-ea"/>
            </a:endParaRPr>
          </a:p>
          <a:p>
            <a:pPr marL="342900" indent="-342900">
              <a:lnSpc>
                <a:spcPct val="165000"/>
              </a:lnSpc>
              <a:buClr>
                <a:srgbClr val="EB666E"/>
              </a:buClr>
              <a:buFont typeface="+mj-lt"/>
              <a:buAutoNum type="arabicParenR" startAt="6"/>
            </a:pPr>
            <a:r>
              <a:rPr lang="ko-KR" altLang="en-US" dirty="0">
                <a:latin typeface="+mn-ea"/>
              </a:rPr>
              <a:t>원하는 </a:t>
            </a:r>
            <a:r>
              <a:rPr lang="en-US" altLang="ko-KR" dirty="0">
                <a:latin typeface="+mn-ea"/>
              </a:rPr>
              <a:t>618</a:t>
            </a:r>
            <a:r>
              <a:rPr lang="ko-KR" altLang="en-US" dirty="0">
                <a:latin typeface="+mn-ea"/>
              </a:rPr>
              <a:t>쪽이 나오면 탐색을 멈춤</a:t>
            </a:r>
            <a:endParaRPr lang="en-US" altLang="ko-KR" dirty="0">
              <a:latin typeface="+mn-ea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6100" y="2915983"/>
            <a:ext cx="2971800" cy="2143125"/>
          </a:xfrm>
          <a:prstGeom prst="rect">
            <a:avLst/>
          </a:prstGeom>
        </p:spPr>
      </p:pic>
      <p:sp>
        <p:nvSpPr>
          <p:cNvPr id="10" name="TextBox 8"/>
          <p:cNvSpPr txBox="1"/>
          <p:nvPr/>
        </p:nvSpPr>
        <p:spPr>
          <a:xfrm>
            <a:off x="0" y="4926123"/>
            <a:ext cx="9144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2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그림 </a:t>
            </a:r>
            <a:r>
              <a:rPr lang="en-US" altLang="ko-KR" sz="12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12-1</a:t>
            </a:r>
            <a:r>
              <a:rPr lang="en-US" altLang="ko-KR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</a:t>
            </a:r>
            <a:r>
              <a:rPr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책에서 원하는 쪽을 찾는 과정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76598929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12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이분 탐색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1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일상생활 속의 탐색 문제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056" y="1821131"/>
            <a:ext cx="8020383" cy="374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en-US" altLang="ko-KR" dirty="0">
                <a:latin typeface="+mn-ea"/>
              </a:rPr>
              <a:t>1~5</a:t>
            </a:r>
            <a:r>
              <a:rPr lang="ko-KR" altLang="en-US" dirty="0">
                <a:latin typeface="+mn-ea"/>
              </a:rPr>
              <a:t>번 과정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>
                <a:latin typeface="+mn-ea"/>
              </a:rPr>
              <a:t>즉 책을 적당히 펼쳐 쪽을 비교한 다음에 찾고자 하는 쪽이 있을 방향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앞인지 뒤인지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>
                <a:latin typeface="+mn-ea"/>
              </a:rPr>
              <a:t>으로만 다시 탐색하는 과정 → 이분 탐색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찾으려는 쪽이 몇 쪽 남지 않았을 때 한 장씩 넘기면서 찾는 과정은 이미 문제 </a:t>
            </a:r>
            <a:r>
              <a:rPr lang="en-US" altLang="ko-KR" dirty="0">
                <a:latin typeface="+mn-ea"/>
              </a:rPr>
              <a:t>7</a:t>
            </a:r>
            <a:r>
              <a:rPr lang="ko-KR" altLang="en-US" dirty="0">
                <a:latin typeface="+mn-ea"/>
              </a:rPr>
              <a:t>에 서 배운 적이 있는 순차 탐색과 비슷함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책에서 특정한 쪽을 찾을 때 우리가 이분 탐색을 할 수 있었던 이유는</a:t>
            </a:r>
            <a:r>
              <a:rPr lang="en-US" altLang="ko-KR" dirty="0">
                <a:latin typeface="+mn-ea"/>
              </a:rPr>
              <a:t>?</a:t>
            </a: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모든 책의 쪽 수가 </a:t>
            </a:r>
            <a:r>
              <a:rPr lang="en-US" altLang="ko-KR" dirty="0">
                <a:latin typeface="+mn-ea"/>
              </a:rPr>
              <a:t>1</a:t>
            </a:r>
            <a:r>
              <a:rPr lang="ko-KR" altLang="en-US" dirty="0">
                <a:latin typeface="+mn-ea"/>
              </a:rPr>
              <a:t>부터 빠짐없이 차례로 커지고 있었기 때문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즉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>
                <a:latin typeface="+mn-ea"/>
              </a:rPr>
              <a:t>책의 쪽 번호가 이미 정렬되어 있으므로 특정 쪽의 앞쪽을 찾아봐야 할지 뒤쪽을 찾아봐야 할지 바로 알 수 있음</a:t>
            </a:r>
            <a:endParaRPr lang="en-US" altLang="ko-KR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0058468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12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이분 탐색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1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일상생활 속의 탐색 문제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056" y="1821131"/>
            <a:ext cx="8020383" cy="493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굉장히 큰 호텔에서 원하는 방의 호수를 찾는 것 역시 탐색 문제</a:t>
            </a:r>
            <a:endParaRPr lang="en-US" altLang="ko-KR" dirty="0">
              <a:latin typeface="+mn-ea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5842" y="2491441"/>
            <a:ext cx="4292315" cy="24880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0" y="4979501"/>
            <a:ext cx="9144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2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그림 </a:t>
            </a:r>
            <a:r>
              <a:rPr lang="en-US" altLang="ko-KR" sz="12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12-2</a:t>
            </a:r>
            <a:r>
              <a:rPr lang="en-US" altLang="ko-KR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</a:t>
            </a:r>
            <a:r>
              <a:rPr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호텔 엘리베이터에서 내리면 볼 수 있는 방 번호 표지판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646049346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12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이분 탐색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1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일상생활 속의 탐색 문제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056" y="1821131"/>
            <a:ext cx="8020383" cy="23775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en-US" altLang="ko-KR" dirty="0">
                <a:latin typeface="+mn-ea"/>
              </a:rPr>
              <a:t>743</a:t>
            </a:r>
            <a:r>
              <a:rPr lang="ko-KR" altLang="en-US" dirty="0">
                <a:latin typeface="+mn-ea"/>
              </a:rPr>
              <a:t>호를 찾으려면 엘리베이터로 </a:t>
            </a:r>
            <a:r>
              <a:rPr lang="en-US" altLang="ko-KR" dirty="0">
                <a:latin typeface="+mn-ea"/>
              </a:rPr>
              <a:t>7</a:t>
            </a:r>
            <a:r>
              <a:rPr lang="ko-KR" altLang="en-US" dirty="0">
                <a:latin typeface="+mn-ea"/>
              </a:rPr>
              <a:t>층까지 올라간 다음 표지판을 보고 </a:t>
            </a:r>
            <a:br>
              <a:rPr lang="en-US" altLang="ko-KR" dirty="0">
                <a:latin typeface="+mn-ea"/>
              </a:rPr>
            </a:br>
            <a:r>
              <a:rPr lang="ko-KR" altLang="en-US" dirty="0">
                <a:latin typeface="+mn-ea"/>
              </a:rPr>
              <a:t>오른쪽에 있는 방</a:t>
            </a:r>
            <a:r>
              <a:rPr lang="en-US" altLang="ko-KR" dirty="0">
                <a:latin typeface="+mn-ea"/>
              </a:rPr>
              <a:t>(751~799</a:t>
            </a:r>
            <a:r>
              <a:rPr lang="ko-KR" altLang="en-US" dirty="0">
                <a:latin typeface="+mn-ea"/>
              </a:rPr>
              <a:t>호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>
                <a:latin typeface="+mn-ea"/>
              </a:rPr>
              <a:t>은 무시하고 왼쪽 복도로 걸어 감</a:t>
            </a:r>
            <a:br>
              <a:rPr lang="en-US" altLang="ko-KR" dirty="0">
                <a:latin typeface="+mn-ea"/>
              </a:rPr>
            </a:br>
            <a:r>
              <a:rPr lang="ko-KR" altLang="en-US" dirty="0">
                <a:latin typeface="+mn-ea"/>
              </a:rPr>
              <a:t>→ 이분 탐색의 원리를 이용하여 탐색할 범위를 절반으로 줄인 예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왼쪽 복도로 걸어가면서 방문에 붙은 방 번호를 </a:t>
            </a:r>
            <a:r>
              <a:rPr lang="en-US" altLang="ko-KR" dirty="0">
                <a:latin typeface="+mn-ea"/>
              </a:rPr>
              <a:t>743</a:t>
            </a:r>
            <a:r>
              <a:rPr lang="ko-KR" altLang="en-US" dirty="0">
                <a:latin typeface="+mn-ea"/>
              </a:rPr>
              <a:t>과 하나하나 비교</a:t>
            </a:r>
            <a:br>
              <a:rPr lang="en-US" altLang="ko-KR" dirty="0">
                <a:latin typeface="+mn-ea"/>
              </a:rPr>
            </a:br>
            <a:r>
              <a:rPr lang="ko-KR" altLang="en-US" dirty="0">
                <a:latin typeface="+mn-ea"/>
              </a:rPr>
              <a:t>→ 순차 탐색에 해당</a:t>
            </a:r>
            <a:endParaRPr lang="en-US" altLang="ko-KR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63566973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12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이분 탐색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2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이분 탐색 알고리즘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056" y="1821131"/>
            <a:ext cx="8020383" cy="17681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정렬된 리스트에서 특정 값을 찾으려면 어떻게 해야 할까</a:t>
            </a:r>
            <a:r>
              <a:rPr lang="en-US" altLang="ko-KR" dirty="0">
                <a:latin typeface="+mn-ea"/>
              </a:rPr>
              <a:t>?</a:t>
            </a: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endParaRPr lang="en-US" altLang="ko-KR" sz="1200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리스트</a:t>
            </a:r>
            <a:r>
              <a:rPr lang="en-US" altLang="ko-KR" dirty="0">
                <a:latin typeface="+mn-ea"/>
              </a:rPr>
              <a:t>: [1, 4, 9, 16, 25, 36, 49, 64, 81]</a:t>
            </a: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찾는 값</a:t>
            </a:r>
            <a:r>
              <a:rPr lang="en-US" altLang="ko-KR" dirty="0">
                <a:latin typeface="+mn-ea"/>
              </a:rPr>
              <a:t>: 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056" y="3875114"/>
            <a:ext cx="8020383" cy="23775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65000"/>
              </a:lnSpc>
              <a:buClr>
                <a:srgbClr val="EB666E"/>
              </a:buClr>
              <a:buFont typeface="+mj-lt"/>
              <a:buAutoNum type="arabicParenR"/>
            </a:pPr>
            <a:r>
              <a:rPr lang="ko-KR" altLang="en-US" dirty="0">
                <a:latin typeface="+mn-ea"/>
              </a:rPr>
              <a:t>먼저 전체 리스트의 중간 위치를 찾음</a:t>
            </a:r>
            <a:r>
              <a:rPr lang="en-US" altLang="ko-KR" dirty="0">
                <a:latin typeface="+mn-ea"/>
              </a:rPr>
              <a:t>. </a:t>
            </a:r>
            <a:r>
              <a:rPr lang="ko-KR" altLang="en-US" dirty="0">
                <a:latin typeface="+mn-ea"/>
              </a:rPr>
              <a:t>위치 번호 </a:t>
            </a:r>
            <a:r>
              <a:rPr lang="en-US" altLang="ko-KR" dirty="0">
                <a:latin typeface="+mn-ea"/>
              </a:rPr>
              <a:t>4</a:t>
            </a:r>
            <a:r>
              <a:rPr lang="ko-KR" altLang="en-US" dirty="0">
                <a:latin typeface="+mn-ea"/>
              </a:rPr>
              <a:t>가 리스트의 중간 </a:t>
            </a:r>
            <a:br>
              <a:rPr lang="en-US" altLang="ko-KR" dirty="0">
                <a:latin typeface="+mn-ea"/>
              </a:rPr>
            </a:br>
            <a:r>
              <a:rPr lang="ko-KR" altLang="en-US" dirty="0">
                <a:latin typeface="+mn-ea"/>
              </a:rPr>
              <a:t>위치이고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>
                <a:latin typeface="+mn-ea"/>
              </a:rPr>
              <a:t>중간 위치 값은 </a:t>
            </a:r>
            <a:r>
              <a:rPr lang="en-US" altLang="ko-KR" dirty="0">
                <a:latin typeface="+mn-ea"/>
              </a:rPr>
              <a:t>25</a:t>
            </a:r>
          </a:p>
          <a:p>
            <a:pPr marL="342900" indent="-342900">
              <a:lnSpc>
                <a:spcPct val="165000"/>
              </a:lnSpc>
              <a:buClr>
                <a:srgbClr val="EB666E"/>
              </a:buClr>
              <a:buFont typeface="+mj-lt"/>
              <a:buAutoNum type="arabicParenR"/>
            </a:pPr>
            <a:r>
              <a:rPr lang="ko-KR" altLang="en-US" dirty="0">
                <a:latin typeface="+mn-ea"/>
              </a:rPr>
              <a:t>찾는 값 </a:t>
            </a:r>
            <a:r>
              <a:rPr lang="en-US" altLang="ko-KR" dirty="0">
                <a:latin typeface="+mn-ea"/>
              </a:rPr>
              <a:t>36</a:t>
            </a:r>
            <a:r>
              <a:rPr lang="ko-KR" altLang="en-US" dirty="0">
                <a:latin typeface="+mn-ea"/>
              </a:rPr>
              <a:t>과 중간 위치 값을 비교</a:t>
            </a:r>
            <a:r>
              <a:rPr lang="en-US" altLang="ko-KR" dirty="0">
                <a:latin typeface="+mn-ea"/>
              </a:rPr>
              <a:t>. 36 &gt; 25</a:t>
            </a:r>
            <a:r>
              <a:rPr lang="ko-KR" altLang="en-US" dirty="0">
                <a:latin typeface="+mn-ea"/>
              </a:rPr>
              <a:t>이므로 </a:t>
            </a:r>
            <a:r>
              <a:rPr lang="en-US" altLang="ko-KR" dirty="0">
                <a:latin typeface="+mn-ea"/>
              </a:rPr>
              <a:t>36</a:t>
            </a:r>
            <a:r>
              <a:rPr lang="ko-KR" altLang="en-US" dirty="0">
                <a:latin typeface="+mn-ea"/>
              </a:rPr>
              <a:t>이 리스트 안에 </a:t>
            </a:r>
            <a:br>
              <a:rPr lang="en-US" altLang="ko-KR" dirty="0">
                <a:latin typeface="+mn-ea"/>
              </a:rPr>
            </a:br>
            <a:r>
              <a:rPr lang="ko-KR" altLang="en-US" dirty="0">
                <a:latin typeface="+mn-ea"/>
              </a:rPr>
              <a:t>있다면 반드시 </a:t>
            </a:r>
            <a:r>
              <a:rPr lang="en-US" altLang="ko-KR" dirty="0">
                <a:latin typeface="+mn-ea"/>
              </a:rPr>
              <a:t>25</a:t>
            </a:r>
            <a:r>
              <a:rPr lang="ko-KR" altLang="en-US" dirty="0">
                <a:latin typeface="+mn-ea"/>
              </a:rPr>
              <a:t>의 오른쪽에 있어야 함</a:t>
            </a:r>
            <a:r>
              <a:rPr lang="en-US" altLang="ko-KR" dirty="0">
                <a:latin typeface="+mn-ea"/>
              </a:rPr>
              <a:t>. </a:t>
            </a:r>
            <a:r>
              <a:rPr lang="ko-KR" altLang="en-US" dirty="0">
                <a:latin typeface="+mn-ea"/>
              </a:rPr>
              <a:t>즉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>
                <a:latin typeface="+mn-ea"/>
              </a:rPr>
              <a:t>리스트에서 </a:t>
            </a:r>
            <a:r>
              <a:rPr lang="en-US" altLang="ko-KR" dirty="0">
                <a:latin typeface="+mn-ea"/>
              </a:rPr>
              <a:t>25</a:t>
            </a:r>
            <a:r>
              <a:rPr lang="ko-KR" altLang="en-US" dirty="0">
                <a:latin typeface="+mn-ea"/>
              </a:rPr>
              <a:t>보다 오른쪽에 있는 값만 대상으로 생각하면 됨</a:t>
            </a:r>
            <a:endParaRPr lang="en-US" altLang="ko-KR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60700892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12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이분 탐색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2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이분 탐색 알고리즘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056" y="1821131"/>
            <a:ext cx="7846495" cy="4205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65000"/>
              </a:lnSpc>
              <a:buClr>
                <a:srgbClr val="EB666E"/>
              </a:buClr>
              <a:buFont typeface="+mj-lt"/>
              <a:buAutoNum type="arabicParenR" startAt="3"/>
            </a:pPr>
            <a:r>
              <a:rPr lang="ko-KR" altLang="en-US" dirty="0">
                <a:latin typeface="+mn-ea"/>
              </a:rPr>
              <a:t>이제 </a:t>
            </a:r>
            <a:r>
              <a:rPr lang="en-US" altLang="ko-KR" dirty="0">
                <a:latin typeface="+mn-ea"/>
              </a:rPr>
              <a:t>[36, 49, 64, 81] </a:t>
            </a:r>
            <a:r>
              <a:rPr lang="ko-KR" altLang="en-US" dirty="0">
                <a:latin typeface="+mn-ea"/>
              </a:rPr>
              <a:t>리스트에서 중간 위치를 찾음</a:t>
            </a:r>
            <a:r>
              <a:rPr lang="en-US" altLang="ko-KR" dirty="0">
                <a:latin typeface="+mn-ea"/>
              </a:rPr>
              <a:t>. </a:t>
            </a:r>
            <a:r>
              <a:rPr lang="ko-KR" altLang="en-US" dirty="0">
                <a:latin typeface="+mn-ea"/>
              </a:rPr>
              <a:t>이 경우 </a:t>
            </a:r>
            <a:r>
              <a:rPr lang="en-US" altLang="ko-KR" dirty="0">
                <a:latin typeface="+mn-ea"/>
              </a:rPr>
              <a:t>49</a:t>
            </a:r>
            <a:r>
              <a:rPr lang="ko-KR" altLang="en-US" dirty="0">
                <a:latin typeface="+mn-ea"/>
              </a:rPr>
              <a:t>와 </a:t>
            </a:r>
            <a:r>
              <a:rPr lang="en-US" altLang="ko-KR" dirty="0">
                <a:latin typeface="+mn-ea"/>
              </a:rPr>
              <a:t>64</a:t>
            </a:r>
            <a:r>
              <a:rPr lang="ko-KR" altLang="en-US" dirty="0">
                <a:latin typeface="+mn-ea"/>
              </a:rPr>
              <a:t>의 </a:t>
            </a:r>
            <a:br>
              <a:rPr lang="en-US" altLang="ko-KR" dirty="0">
                <a:latin typeface="+mn-ea"/>
              </a:rPr>
            </a:br>
            <a:r>
              <a:rPr lang="ko-KR" altLang="en-US" dirty="0">
                <a:latin typeface="+mn-ea"/>
              </a:rPr>
              <a:t>한가운데가 중간 위치가 되는데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>
                <a:latin typeface="+mn-ea"/>
              </a:rPr>
              <a:t>두 자료 중 앞에 있는 값인 </a:t>
            </a:r>
            <a:r>
              <a:rPr lang="en-US" altLang="ko-KR" dirty="0">
                <a:latin typeface="+mn-ea"/>
              </a:rPr>
              <a:t>49</a:t>
            </a:r>
            <a:r>
              <a:rPr lang="ko-KR" altLang="en-US" dirty="0">
                <a:latin typeface="+mn-ea"/>
              </a:rPr>
              <a:t>를 중간 </a:t>
            </a:r>
            <a:br>
              <a:rPr lang="en-US" altLang="ko-KR" dirty="0">
                <a:latin typeface="+mn-ea"/>
              </a:rPr>
            </a:br>
            <a:r>
              <a:rPr lang="ko-KR" altLang="en-US" dirty="0">
                <a:latin typeface="+mn-ea"/>
              </a:rPr>
              <a:t>위치 값으로 뽑음</a:t>
            </a:r>
            <a:endParaRPr lang="en-US" altLang="ko-KR" dirty="0">
              <a:latin typeface="+mn-ea"/>
            </a:endParaRPr>
          </a:p>
          <a:p>
            <a:pPr marL="342900" indent="-342900">
              <a:lnSpc>
                <a:spcPct val="165000"/>
              </a:lnSpc>
              <a:buClr>
                <a:srgbClr val="EB666E"/>
              </a:buClr>
              <a:buFont typeface="+mj-lt"/>
              <a:buAutoNum type="arabicParenR" startAt="3"/>
            </a:pPr>
            <a:r>
              <a:rPr lang="ko-KR" altLang="en-US" dirty="0">
                <a:latin typeface="+mn-ea"/>
              </a:rPr>
              <a:t>찾는 값 </a:t>
            </a:r>
            <a:r>
              <a:rPr lang="en-US" altLang="ko-KR" dirty="0">
                <a:latin typeface="+mn-ea"/>
              </a:rPr>
              <a:t>36</a:t>
            </a:r>
            <a:r>
              <a:rPr lang="ko-KR" altLang="en-US" dirty="0">
                <a:latin typeface="+mn-ea"/>
              </a:rPr>
              <a:t>과 중간 위치 값 </a:t>
            </a:r>
            <a:r>
              <a:rPr lang="en-US" altLang="ko-KR" dirty="0">
                <a:latin typeface="+mn-ea"/>
              </a:rPr>
              <a:t>49</a:t>
            </a:r>
            <a:r>
              <a:rPr lang="ko-KR" altLang="en-US" dirty="0">
                <a:latin typeface="+mn-ea"/>
              </a:rPr>
              <a:t>를 비교</a:t>
            </a:r>
            <a:r>
              <a:rPr lang="en-US" altLang="ko-KR" dirty="0">
                <a:latin typeface="+mn-ea"/>
              </a:rPr>
              <a:t>. 36 &lt; 49</a:t>
            </a:r>
            <a:r>
              <a:rPr lang="ko-KR" altLang="en-US" dirty="0">
                <a:latin typeface="+mn-ea"/>
              </a:rPr>
              <a:t>이므로 찾는 값 </a:t>
            </a:r>
            <a:r>
              <a:rPr lang="en-US" altLang="ko-KR" dirty="0">
                <a:latin typeface="+mn-ea"/>
              </a:rPr>
              <a:t>36</a:t>
            </a:r>
            <a:r>
              <a:rPr lang="ko-KR" altLang="en-US" dirty="0">
                <a:latin typeface="+mn-ea"/>
              </a:rPr>
              <a:t>은 처음에 비교한 값인 </a:t>
            </a:r>
            <a:r>
              <a:rPr lang="en-US" altLang="ko-KR" dirty="0">
                <a:latin typeface="+mn-ea"/>
              </a:rPr>
              <a:t>25</a:t>
            </a:r>
            <a:r>
              <a:rPr lang="ko-KR" altLang="en-US" dirty="0">
                <a:latin typeface="+mn-ea"/>
              </a:rPr>
              <a:t>보다는 오른쪽에 있고 </a:t>
            </a:r>
            <a:r>
              <a:rPr lang="en-US" altLang="ko-KR" dirty="0">
                <a:latin typeface="+mn-ea"/>
              </a:rPr>
              <a:t>49</a:t>
            </a:r>
            <a:r>
              <a:rPr lang="ko-KR" altLang="en-US" dirty="0">
                <a:latin typeface="+mn-ea"/>
              </a:rPr>
              <a:t>보다는 왼쪽에 있음</a:t>
            </a:r>
            <a:endParaRPr lang="en-US" altLang="ko-KR" dirty="0">
              <a:latin typeface="+mn-ea"/>
            </a:endParaRPr>
          </a:p>
          <a:p>
            <a:pPr marL="342900" indent="-342900">
              <a:lnSpc>
                <a:spcPct val="165000"/>
              </a:lnSpc>
              <a:buClr>
                <a:srgbClr val="EB666E"/>
              </a:buClr>
              <a:buFont typeface="+mj-lt"/>
              <a:buAutoNum type="arabicParenR" startAt="3"/>
            </a:pPr>
            <a:r>
              <a:rPr lang="ko-KR" altLang="en-US" dirty="0">
                <a:latin typeface="+mn-ea"/>
              </a:rPr>
              <a:t>‘</a:t>
            </a:r>
            <a:r>
              <a:rPr lang="en-US" altLang="ko-KR" dirty="0">
                <a:latin typeface="+mn-ea"/>
              </a:rPr>
              <a:t>25</a:t>
            </a:r>
            <a:r>
              <a:rPr lang="ko-KR" altLang="en-US" dirty="0">
                <a:latin typeface="+mn-ea"/>
              </a:rPr>
              <a:t>보다 오른쪽에 있고 </a:t>
            </a:r>
            <a:r>
              <a:rPr lang="en-US" altLang="ko-KR" dirty="0">
                <a:latin typeface="+mn-ea"/>
              </a:rPr>
              <a:t>49</a:t>
            </a:r>
            <a:r>
              <a:rPr lang="ko-KR" altLang="en-US" dirty="0">
                <a:latin typeface="+mn-ea"/>
              </a:rPr>
              <a:t>보다 왼쪽에 있는 </a:t>
            </a:r>
            <a:r>
              <a:rPr lang="ko-KR" altLang="en-US" dirty="0" err="1">
                <a:latin typeface="+mn-ea"/>
              </a:rPr>
              <a:t>값’은</a:t>
            </a:r>
            <a:r>
              <a:rPr lang="ko-KR" altLang="en-US" dirty="0">
                <a:latin typeface="+mn-ea"/>
              </a:rPr>
              <a:t> 한 </a:t>
            </a:r>
            <a:r>
              <a:rPr lang="ko-KR" altLang="en-US" dirty="0" err="1">
                <a:latin typeface="+mn-ea"/>
              </a:rPr>
              <a:t>개뿐이므로</a:t>
            </a:r>
            <a:r>
              <a:rPr lang="ko-KR" altLang="en-US" dirty="0">
                <a:latin typeface="+mn-ea"/>
              </a:rPr>
              <a:t> 위치 번호 </a:t>
            </a:r>
            <a:r>
              <a:rPr lang="en-US" altLang="ko-KR" dirty="0">
                <a:latin typeface="+mn-ea"/>
              </a:rPr>
              <a:t>5</a:t>
            </a:r>
            <a:r>
              <a:rPr lang="ko-KR" altLang="en-US" dirty="0">
                <a:latin typeface="+mn-ea"/>
              </a:rPr>
              <a:t>의 </a:t>
            </a:r>
            <a:r>
              <a:rPr lang="en-US" altLang="ko-KR" dirty="0">
                <a:latin typeface="+mn-ea"/>
              </a:rPr>
              <a:t>36</a:t>
            </a:r>
            <a:r>
              <a:rPr lang="ko-KR" altLang="en-US" dirty="0">
                <a:latin typeface="+mn-ea"/>
              </a:rPr>
              <a:t>이 중간 위치 값임</a:t>
            </a:r>
            <a:endParaRPr lang="en-US" altLang="ko-KR" dirty="0">
              <a:latin typeface="+mn-ea"/>
            </a:endParaRPr>
          </a:p>
          <a:p>
            <a:pPr marL="342900" indent="-342900">
              <a:lnSpc>
                <a:spcPct val="165000"/>
              </a:lnSpc>
              <a:buClr>
                <a:srgbClr val="EB666E"/>
              </a:buClr>
              <a:buFont typeface="+mj-lt"/>
              <a:buAutoNum type="arabicParenR" startAt="3"/>
            </a:pPr>
            <a:r>
              <a:rPr lang="ko-KR" altLang="en-US" dirty="0">
                <a:latin typeface="+mn-ea"/>
              </a:rPr>
              <a:t>찾는 값 </a:t>
            </a:r>
            <a:r>
              <a:rPr lang="en-US" altLang="ko-KR" dirty="0">
                <a:latin typeface="+mn-ea"/>
              </a:rPr>
              <a:t>36</a:t>
            </a:r>
            <a:r>
              <a:rPr lang="ko-KR" altLang="en-US" dirty="0">
                <a:latin typeface="+mn-ea"/>
              </a:rPr>
              <a:t>이 중간 위치 값과 같으므로 위치 번호 </a:t>
            </a:r>
            <a:r>
              <a:rPr lang="en-US" altLang="ko-KR" dirty="0">
                <a:latin typeface="+mn-ea"/>
              </a:rPr>
              <a:t>5</a:t>
            </a:r>
            <a:r>
              <a:rPr lang="ko-KR" altLang="en-US" dirty="0">
                <a:latin typeface="+mn-ea"/>
              </a:rPr>
              <a:t>를 </a:t>
            </a:r>
            <a:r>
              <a:rPr lang="ko-KR" altLang="en-US" dirty="0" err="1">
                <a:latin typeface="+mn-ea"/>
              </a:rPr>
              <a:t>결괏값으로</a:t>
            </a:r>
            <a:r>
              <a:rPr lang="ko-KR" altLang="en-US" dirty="0">
                <a:latin typeface="+mn-ea"/>
              </a:rPr>
              <a:t> 돌려주고 종료</a:t>
            </a:r>
            <a:endParaRPr lang="en-US" altLang="ko-KR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527300482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12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이분 탐색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2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이분 탐색 알고리즘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8948" y="1940659"/>
            <a:ext cx="5181600" cy="19145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0" y="3855184"/>
            <a:ext cx="9144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2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그림 </a:t>
            </a:r>
            <a:r>
              <a:rPr lang="en-US" altLang="ko-KR" sz="12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12-3</a:t>
            </a:r>
            <a:r>
              <a:rPr lang="en-US" altLang="ko-KR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</a:t>
            </a:r>
            <a:r>
              <a:rPr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이분 탐색으로 </a:t>
            </a:r>
            <a:r>
              <a:rPr lang="en-US" altLang="ko-KR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36</a:t>
            </a:r>
            <a:r>
              <a:rPr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을 찾는 과정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34977628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12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이분 탐색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2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이분 탐색 알고리즘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056" y="1821131"/>
            <a:ext cx="8020383" cy="485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이분 탐색 알고리즘 정리</a:t>
            </a:r>
            <a:endParaRPr lang="en-US" altLang="ko-KR" dirty="0">
              <a:latin typeface="+mn-ea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7056" y="2631836"/>
            <a:ext cx="8020383" cy="32916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65000"/>
              </a:lnSpc>
              <a:buClr>
                <a:srgbClr val="EB666E"/>
              </a:buClr>
              <a:buFont typeface="+mj-lt"/>
              <a:buAutoNum type="arabicParenR"/>
            </a:pPr>
            <a:r>
              <a:rPr lang="ko-KR" altLang="en-US" dirty="0">
                <a:latin typeface="+mn-ea"/>
              </a:rPr>
              <a:t>중간 위치를 찾음</a:t>
            </a:r>
            <a:endParaRPr lang="en-US" altLang="ko-KR" dirty="0">
              <a:latin typeface="+mn-ea"/>
            </a:endParaRPr>
          </a:p>
          <a:p>
            <a:pPr marL="342900" indent="-342900">
              <a:lnSpc>
                <a:spcPct val="165000"/>
              </a:lnSpc>
              <a:buClr>
                <a:srgbClr val="EB666E"/>
              </a:buClr>
              <a:buFont typeface="+mj-lt"/>
              <a:buAutoNum type="arabicParenR"/>
            </a:pPr>
            <a:r>
              <a:rPr lang="ko-KR" altLang="en-US" dirty="0">
                <a:latin typeface="+mn-ea"/>
              </a:rPr>
              <a:t>찾는 값과 중간 위치 값을 비교</a:t>
            </a:r>
            <a:endParaRPr lang="en-US" altLang="ko-KR" dirty="0">
              <a:latin typeface="+mn-ea"/>
            </a:endParaRPr>
          </a:p>
          <a:p>
            <a:pPr marL="342900" indent="-342900">
              <a:lnSpc>
                <a:spcPct val="165000"/>
              </a:lnSpc>
              <a:buClr>
                <a:srgbClr val="EB666E"/>
              </a:buClr>
              <a:buFont typeface="+mj-lt"/>
              <a:buAutoNum type="arabicParenR"/>
            </a:pPr>
            <a:r>
              <a:rPr lang="ko-KR" altLang="en-US" dirty="0">
                <a:latin typeface="+mn-ea"/>
              </a:rPr>
              <a:t>같다면 원하는 값을 찾은 것이므로 위치 번호를 </a:t>
            </a:r>
            <a:r>
              <a:rPr lang="ko-KR" altLang="en-US" dirty="0" err="1">
                <a:latin typeface="+mn-ea"/>
              </a:rPr>
              <a:t>결괏값으로</a:t>
            </a:r>
            <a:r>
              <a:rPr lang="ko-KR" altLang="en-US" dirty="0">
                <a:latin typeface="+mn-ea"/>
              </a:rPr>
              <a:t> 돌려줌</a:t>
            </a:r>
            <a:endParaRPr lang="en-US" altLang="ko-KR" dirty="0">
              <a:latin typeface="+mn-ea"/>
            </a:endParaRPr>
          </a:p>
          <a:p>
            <a:pPr marL="342900" indent="-342900">
              <a:lnSpc>
                <a:spcPct val="165000"/>
              </a:lnSpc>
              <a:buClr>
                <a:srgbClr val="EB666E"/>
              </a:buClr>
              <a:buFont typeface="+mj-lt"/>
              <a:buAutoNum type="arabicParenR"/>
            </a:pPr>
            <a:r>
              <a:rPr lang="ko-KR" altLang="en-US" dirty="0">
                <a:latin typeface="+mn-ea"/>
              </a:rPr>
              <a:t>찾는 값이 중간 위치 값보다 크다면 중간 위치의 오른쪽을 대상으로 다시 탐색</a:t>
            </a:r>
            <a:r>
              <a:rPr lang="en-US" altLang="ko-KR" dirty="0">
                <a:latin typeface="+mn-ea"/>
              </a:rPr>
              <a:t>(1</a:t>
            </a:r>
            <a:r>
              <a:rPr lang="ko-KR" altLang="en-US" dirty="0">
                <a:latin typeface="+mn-ea"/>
              </a:rPr>
              <a:t>번 과정부터 반복</a:t>
            </a:r>
            <a:r>
              <a:rPr lang="en-US" altLang="ko-KR" dirty="0">
                <a:latin typeface="+mn-ea"/>
              </a:rPr>
              <a:t>)</a:t>
            </a:r>
          </a:p>
          <a:p>
            <a:pPr marL="342900" indent="-342900">
              <a:lnSpc>
                <a:spcPct val="165000"/>
              </a:lnSpc>
              <a:buClr>
                <a:srgbClr val="EB666E"/>
              </a:buClr>
              <a:buFont typeface="+mj-lt"/>
              <a:buAutoNum type="arabicParenR"/>
            </a:pPr>
            <a:r>
              <a:rPr lang="ko-KR" altLang="en-US" dirty="0">
                <a:latin typeface="+mn-ea"/>
              </a:rPr>
              <a:t>찾는 값이 중간 위치 값보다 작다면 중간 위치의 왼쪽을 대상으로 다시 탐색</a:t>
            </a:r>
            <a:r>
              <a:rPr lang="en-US" altLang="ko-KR" dirty="0">
                <a:latin typeface="+mn-ea"/>
              </a:rPr>
              <a:t>(1</a:t>
            </a:r>
            <a:r>
              <a:rPr lang="ko-KR" altLang="en-US" dirty="0">
                <a:latin typeface="+mn-ea"/>
              </a:rPr>
              <a:t>번 과정부터 반복</a:t>
            </a:r>
            <a:r>
              <a:rPr lang="en-US" altLang="ko-KR" dirty="0">
                <a:latin typeface="+mn-ea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693506103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12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이분 탐색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2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이분 탐색 알고리즘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056" y="1821131"/>
            <a:ext cx="8020383" cy="1399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자료의 중간부터 시작해 찾을 값이 더 크면 오른쪽으로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>
                <a:latin typeface="+mn-ea"/>
              </a:rPr>
              <a:t>작으면 왼쪽으로 점프하며 자료를 찾음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점프할 때마다 점프 거리는 절반씩 줄어듦</a:t>
            </a:r>
            <a:endParaRPr lang="en-US" altLang="ko-KR" dirty="0">
              <a:latin typeface="+mn-ea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3529306"/>
            <a:ext cx="5181600" cy="15716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0" y="5132557"/>
            <a:ext cx="9144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2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그림 </a:t>
            </a:r>
            <a:r>
              <a:rPr lang="en-US" altLang="ko-KR" sz="12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12-4</a:t>
            </a:r>
            <a:r>
              <a:rPr lang="en-US" altLang="ko-KR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</a:t>
            </a:r>
            <a:r>
              <a:rPr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이분 탐색의 과정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31273539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12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이분 탐색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2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이분 탐색 알고리즘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056" y="1821131"/>
            <a:ext cx="8020383" cy="549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solidFill>
                  <a:srgbClr val="EB666E"/>
                </a:solidFill>
              </a:rPr>
              <a:t>프로그램 </a:t>
            </a:r>
            <a:r>
              <a:rPr lang="en-US" altLang="ko-KR" dirty="0">
                <a:solidFill>
                  <a:srgbClr val="EB666E"/>
                </a:solidFill>
              </a:rPr>
              <a:t>12-1</a:t>
            </a:r>
            <a:r>
              <a:rPr lang="en-US" altLang="ko-KR" dirty="0"/>
              <a:t> </a:t>
            </a:r>
            <a:r>
              <a:rPr lang="ko-KR" altLang="en-US" dirty="0"/>
              <a:t>이분 탐색 알고리즘</a:t>
            </a:r>
            <a:endParaRPr lang="en-US" altLang="ko-KR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1045269" y="2917455"/>
            <a:ext cx="7088957" cy="3134553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리스트에서 특정 숫자 위치 찾기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(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이분 탐색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입력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: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리스트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a,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찾는 값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x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출력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: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찾으면 그 값의 위치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,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찾지 못하면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-1</a:t>
            </a:r>
          </a:p>
          <a:p>
            <a:pPr>
              <a:lnSpc>
                <a:spcPct val="120000"/>
              </a:lnSpc>
            </a:pPr>
            <a:endParaRPr lang="en-US" altLang="ko-KR" sz="1400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400" dirty="0" err="1">
                <a:solidFill>
                  <a:srgbClr val="FF822D"/>
                </a:solidFill>
                <a:latin typeface="+mn-ea"/>
              </a:rPr>
              <a:t>def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 err="1">
                <a:solidFill>
                  <a:srgbClr val="0070C0"/>
                </a:solidFill>
                <a:latin typeface="+mn-ea"/>
              </a:rPr>
              <a:t>binary_search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(a, x):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    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탐색할 범위를 저장하는 변수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start, end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    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리스트 전체를 범위로 탐색 시작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(0 ~ </a:t>
            </a:r>
            <a:r>
              <a:rPr lang="en-US" altLang="ko-KR" sz="1400" dirty="0" err="1">
                <a:solidFill>
                  <a:schemeClr val="accent2">
                    <a:lumMod val="50000"/>
                  </a:schemeClr>
                </a:solidFill>
                <a:latin typeface="+mn-ea"/>
              </a:rPr>
              <a:t>len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(a)-1)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start = 0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end = </a:t>
            </a:r>
            <a:r>
              <a:rPr lang="en-US" altLang="ko-KR" sz="1400" dirty="0" err="1">
                <a:solidFill>
                  <a:srgbClr val="0070C0"/>
                </a:solidFill>
                <a:latin typeface="+mn-ea"/>
              </a:rPr>
              <a:t>len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(a) - 1</a:t>
            </a:r>
          </a:p>
          <a:p>
            <a:pPr>
              <a:lnSpc>
                <a:spcPct val="120000"/>
              </a:lnSpc>
            </a:pP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while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start &lt;= end: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탐색할 범위가 남아 있는 동안 반복</a:t>
            </a:r>
          </a:p>
          <a:p>
            <a:pPr>
              <a:lnSpc>
                <a:spcPct val="120000"/>
              </a:lnSpc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       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mid = (start + end) // 2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탐색 범위의 중간 위치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51001" y="2609681"/>
            <a:ext cx="31265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EB666E"/>
                </a:solidFill>
                <a:latin typeface="+mn-ea"/>
              </a:rPr>
              <a:t>▼</a:t>
            </a:r>
            <a:r>
              <a:rPr lang="ko-KR" altLang="en-US" sz="1400" dirty="0">
                <a:latin typeface="+mn-ea"/>
              </a:rPr>
              <a:t> </a:t>
            </a:r>
            <a:r>
              <a:rPr lang="ko-KR" altLang="en-US" sz="1400" dirty="0">
                <a:solidFill>
                  <a:srgbClr val="EB666E"/>
                </a:solidFill>
                <a:latin typeface="+mn-ea"/>
              </a:rPr>
              <a:t>예제 소스 </a:t>
            </a:r>
            <a:r>
              <a:rPr lang="en-US" altLang="ko-KR" sz="1400" dirty="0">
                <a:latin typeface="+mn-ea"/>
              </a:rPr>
              <a:t>p12-1-bsearch.py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7" name="아래쪽 화살표 16"/>
          <p:cNvSpPr/>
          <p:nvPr/>
        </p:nvSpPr>
        <p:spPr>
          <a:xfrm>
            <a:off x="4502546" y="6196022"/>
            <a:ext cx="174402" cy="197963"/>
          </a:xfrm>
          <a:prstGeom prst="downArrow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3025140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12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이분 탐색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2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이분 탐색 알고리즘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960022" y="2326709"/>
            <a:ext cx="7088957" cy="3169118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   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if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x == a[mid]: 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발견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!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       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return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mid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    </a:t>
            </a:r>
            <a:r>
              <a:rPr lang="en-US" altLang="ko-KR" sz="1400" dirty="0" err="1">
                <a:solidFill>
                  <a:srgbClr val="FF822D"/>
                </a:solidFill>
                <a:latin typeface="+mn-ea"/>
              </a:rPr>
              <a:t>elif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x &gt; a[mid]: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찾는 값이 더 크면 오른쪽으로 범위를 좁혀 계속 탐색</a:t>
            </a:r>
          </a:p>
          <a:p>
            <a:pPr>
              <a:lnSpc>
                <a:spcPct val="120000"/>
              </a:lnSpc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           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start = mid + 1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   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else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:          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 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찾는 값이 더 작으면 왼쪽으로 범위를 좁혀 계속 탐색</a:t>
            </a:r>
          </a:p>
          <a:p>
            <a:pPr>
              <a:lnSpc>
                <a:spcPct val="120000"/>
              </a:lnSpc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           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end = mid - 1</a:t>
            </a:r>
          </a:p>
          <a:p>
            <a:pPr>
              <a:lnSpc>
                <a:spcPct val="120000"/>
              </a:lnSpc>
            </a:pP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return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-1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찾지 못했을 때</a:t>
            </a:r>
          </a:p>
          <a:p>
            <a:pPr>
              <a:lnSpc>
                <a:spcPct val="120000"/>
              </a:lnSpc>
            </a:pPr>
            <a:endParaRPr lang="ko-KR" altLang="en-US" sz="14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d = [1, 4, 9, 16, 25, 36, 49, 64, 81]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rgbClr val="0070C0"/>
                </a:solidFill>
                <a:latin typeface="+mn-ea"/>
              </a:rPr>
              <a:t>print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binary_search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(d, 36))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rgbClr val="0070C0"/>
                </a:solidFill>
                <a:latin typeface="+mn-ea"/>
              </a:rPr>
              <a:t>print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binary_search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(d, 50))</a:t>
            </a:r>
          </a:p>
        </p:txBody>
      </p:sp>
      <p:sp>
        <p:nvSpPr>
          <p:cNvPr id="9" name="아래쪽 화살표 8"/>
          <p:cNvSpPr/>
          <p:nvPr/>
        </p:nvSpPr>
        <p:spPr>
          <a:xfrm rot="10800000">
            <a:off x="4417299" y="1939223"/>
            <a:ext cx="174402" cy="197963"/>
          </a:xfrm>
          <a:prstGeom prst="downArrow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618918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12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이분 탐색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2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이분 탐색 알고리즘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056" y="1821131"/>
            <a:ext cx="8176904" cy="485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solidFill>
                  <a:srgbClr val="EB666E"/>
                </a:solidFill>
                <a:latin typeface="+mn-ea"/>
              </a:rPr>
              <a:t>실행 결과</a:t>
            </a:r>
            <a:endParaRPr lang="en-US" altLang="ko-KR" dirty="0">
              <a:latin typeface="+mn-ea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960022" y="2575866"/>
            <a:ext cx="7088957" cy="629248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</a:rPr>
              <a:t>5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</a:rPr>
              <a:t>-1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3094333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12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이분 탐색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3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알고리즘 분석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056" y="1821131"/>
            <a:ext cx="8020383" cy="28346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이분 탐색은 값을 비교할 때마다 찾는 값이 있을 범위를 절반씩 좁히면서 탐색하는 효율적인 탐색 알고리즘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자료가 천 개 있을 때 원하는 자료를 찾는다고 생각해 보자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순차 탐색은 최악의 경우에 자료 천 개와 모두 비교해야 함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이분 탐색은 최악의 경우에도 자료 열 개와 비교하면 탐색을 마칠 수 있음</a:t>
            </a:r>
            <a:r>
              <a:rPr lang="en-US" altLang="ko-KR" dirty="0">
                <a:latin typeface="+mn-ea"/>
              </a:rPr>
              <a:t>(log</a:t>
            </a:r>
            <a:r>
              <a:rPr lang="en-US" altLang="ko-KR" baseline="-25000" dirty="0">
                <a:latin typeface="+mn-ea"/>
              </a:rPr>
              <a:t>2</a:t>
            </a:r>
            <a:r>
              <a:rPr lang="en-US" altLang="ko-KR" dirty="0">
                <a:latin typeface="+mn-ea"/>
              </a:rPr>
              <a:t> 1,000≅9.966)</a:t>
            </a:r>
          </a:p>
        </p:txBody>
      </p:sp>
    </p:spTree>
    <p:extLst>
      <p:ext uri="{BB962C8B-B14F-4D97-AF65-F5344CB8AC3E}">
        <p14:creationId xmlns:p14="http://schemas.microsoft.com/office/powerpoint/2010/main" val="982544030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12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이분 탐색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3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알고리즘 분석</a:t>
            </a: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5148" y="2031595"/>
            <a:ext cx="5029200" cy="27051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0" y="4742209"/>
            <a:ext cx="9144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2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그림 </a:t>
            </a:r>
            <a:r>
              <a:rPr lang="en-US" altLang="ko-KR" sz="12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12-5</a:t>
            </a:r>
            <a:r>
              <a:rPr lang="en-US" altLang="ko-KR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</a:t>
            </a:r>
            <a:r>
              <a:rPr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이분 탐색으로 탐색 범위를 </a:t>
            </a:r>
            <a:r>
              <a:rPr lang="en-US" altLang="ko-KR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1</a:t>
            </a:r>
            <a:r>
              <a:rPr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까지 좁혀 가는 과정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032599827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12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이분 탐색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3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알고리즘 분석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056" y="1821131"/>
            <a:ext cx="8020383" cy="32916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이분 탐색의 계산 복잡도는 </a:t>
            </a:r>
            <a:r>
              <a:rPr lang="en-US" altLang="ko-KR" dirty="0">
                <a:latin typeface="+mn-ea"/>
              </a:rPr>
              <a:t>O(log n)</a:t>
            </a:r>
            <a:br>
              <a:rPr lang="en-US" altLang="ko-KR" dirty="0">
                <a:latin typeface="+mn-ea"/>
              </a:rPr>
            </a:br>
            <a:r>
              <a:rPr lang="ko-KR" altLang="en-US" dirty="0">
                <a:latin typeface="+mn-ea"/>
              </a:rPr>
              <a:t>→ 순차 탐색의 계산 복잡도인 </a:t>
            </a:r>
            <a:r>
              <a:rPr lang="en-US" altLang="ko-KR" dirty="0">
                <a:latin typeface="+mn-ea"/>
              </a:rPr>
              <a:t>O(n)</a:t>
            </a:r>
            <a:r>
              <a:rPr lang="ko-KR" altLang="en-US" dirty="0">
                <a:latin typeface="+mn-ea"/>
              </a:rPr>
              <a:t>보다 훨씬 더 효율적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대한민국 전 국민 오천만 명 중에서 주민등록번호로 한 명을 찾는다면</a:t>
            </a:r>
            <a:r>
              <a:rPr lang="en-US" altLang="ko-KR" dirty="0">
                <a:latin typeface="+mn-ea"/>
              </a:rPr>
              <a:t>?</a:t>
            </a: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순차 탐색으로는 최악의 경우 주민등록번호가 같은지 오천만 번 비교해야 함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찾는 사람이 자료의 맨 마지막에 있을 때</a:t>
            </a:r>
            <a:r>
              <a:rPr lang="en-US" altLang="ko-KR" dirty="0">
                <a:latin typeface="+mn-ea"/>
              </a:rPr>
              <a:t>)</a:t>
            </a: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이분 탐색으로는 최악의 경우라도 </a:t>
            </a:r>
            <a:r>
              <a:rPr lang="en-US" altLang="ko-KR" dirty="0">
                <a:latin typeface="+mn-ea"/>
              </a:rPr>
              <a:t>26</a:t>
            </a:r>
            <a:r>
              <a:rPr lang="ko-KR" altLang="en-US" dirty="0">
                <a:latin typeface="+mn-ea"/>
              </a:rPr>
              <a:t>명의 주민등록번호와 같은지 혹은 </a:t>
            </a:r>
            <a:br>
              <a:rPr lang="en-US" altLang="ko-KR" dirty="0">
                <a:latin typeface="+mn-ea"/>
              </a:rPr>
            </a:br>
            <a:r>
              <a:rPr lang="ko-KR" altLang="en-US" dirty="0">
                <a:latin typeface="+mn-ea"/>
              </a:rPr>
              <a:t>큰지를 비교하면 원하는 사람을 찾을 수 있음</a:t>
            </a:r>
            <a:r>
              <a:rPr lang="en-US" altLang="ko-KR" dirty="0">
                <a:latin typeface="+mn-ea"/>
              </a:rPr>
              <a:t>(log</a:t>
            </a:r>
            <a:r>
              <a:rPr lang="en-US" altLang="ko-KR" baseline="-25000" dirty="0">
                <a:latin typeface="+mn-ea"/>
              </a:rPr>
              <a:t>2</a:t>
            </a:r>
            <a:r>
              <a:rPr lang="en-US" altLang="ko-KR" dirty="0">
                <a:latin typeface="+mn-ea"/>
              </a:rPr>
              <a:t> 50,000,000≅25.575)</a:t>
            </a:r>
          </a:p>
        </p:txBody>
      </p:sp>
    </p:spTree>
    <p:extLst>
      <p:ext uri="{BB962C8B-B14F-4D97-AF65-F5344CB8AC3E}">
        <p14:creationId xmlns:p14="http://schemas.microsoft.com/office/powerpoint/2010/main" val="1341598129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12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이분 탐색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연습 문제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056" y="1821131"/>
            <a:ext cx="8020383" cy="4205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en-US" altLang="ko-KR" dirty="0">
                <a:solidFill>
                  <a:srgbClr val="EB666E"/>
                </a:solidFill>
                <a:latin typeface="+mn-ea"/>
              </a:rPr>
              <a:t>12-1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다음 과정을 참고하여 재귀 호출을 사용한 이분 탐색 알고리즘을 </a:t>
            </a:r>
            <a:br>
              <a:rPr lang="en-US" altLang="ko-KR" dirty="0">
                <a:latin typeface="+mn-ea"/>
              </a:rPr>
            </a:br>
            <a:r>
              <a:rPr lang="ko-KR" altLang="en-US" dirty="0">
                <a:latin typeface="+mn-ea"/>
              </a:rPr>
              <a:t>만들어 보세요</a:t>
            </a:r>
            <a:r>
              <a:rPr lang="en-US" altLang="ko-KR" dirty="0">
                <a:latin typeface="+mn-ea"/>
              </a:rPr>
              <a:t>.</a:t>
            </a:r>
          </a:p>
          <a:p>
            <a:pPr marL="342900" indent="-342900">
              <a:lnSpc>
                <a:spcPct val="165000"/>
              </a:lnSpc>
              <a:buClr>
                <a:srgbClr val="EB666E"/>
              </a:buClr>
              <a:buFont typeface="+mj-ea"/>
              <a:buAutoNum type="circleNumDbPlain"/>
            </a:pPr>
            <a:r>
              <a:rPr lang="ko-KR" altLang="en-US" dirty="0">
                <a:latin typeface="+mn-ea"/>
              </a:rPr>
              <a:t>주어진 탐색 대상이 비어 있다면 탐색할 필요가 없습니다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종료 조건</a:t>
            </a:r>
            <a:r>
              <a:rPr lang="en-US" altLang="ko-KR" dirty="0">
                <a:latin typeface="+mn-ea"/>
              </a:rPr>
              <a:t>).</a:t>
            </a:r>
          </a:p>
          <a:p>
            <a:pPr marL="342900" indent="-342900">
              <a:lnSpc>
                <a:spcPct val="165000"/>
              </a:lnSpc>
              <a:buClr>
                <a:srgbClr val="EB666E"/>
              </a:buClr>
              <a:buFont typeface="+mj-ea"/>
              <a:buAutoNum type="circleNumDbPlain"/>
            </a:pPr>
            <a:r>
              <a:rPr lang="ko-KR" altLang="en-US" dirty="0">
                <a:latin typeface="+mn-ea"/>
              </a:rPr>
              <a:t>찾는 값과 주어진 탐색 대상의 중간 위치 값을 비교합니다</a:t>
            </a:r>
            <a:r>
              <a:rPr lang="en-US" altLang="ko-KR" dirty="0">
                <a:latin typeface="+mn-ea"/>
              </a:rPr>
              <a:t>.</a:t>
            </a:r>
          </a:p>
          <a:p>
            <a:pPr marL="342900" indent="-342900">
              <a:lnSpc>
                <a:spcPct val="165000"/>
              </a:lnSpc>
              <a:buClr>
                <a:srgbClr val="EB666E"/>
              </a:buClr>
              <a:buFont typeface="+mj-ea"/>
              <a:buAutoNum type="circleNumDbPlain"/>
            </a:pPr>
            <a:r>
              <a:rPr lang="ko-KR" altLang="en-US" dirty="0">
                <a:latin typeface="+mn-ea"/>
              </a:rPr>
              <a:t>찾는 값과 중간 위치 값이 같다면 </a:t>
            </a:r>
            <a:r>
              <a:rPr lang="ko-KR" altLang="en-US" dirty="0" err="1">
                <a:latin typeface="+mn-ea"/>
              </a:rPr>
              <a:t>결괏값으로</a:t>
            </a:r>
            <a:r>
              <a:rPr lang="ko-KR" altLang="en-US" dirty="0">
                <a:latin typeface="+mn-ea"/>
              </a:rPr>
              <a:t> 중간 위치 값을 돌려줍니다</a:t>
            </a:r>
            <a:r>
              <a:rPr lang="en-US" altLang="ko-KR" dirty="0">
                <a:latin typeface="+mn-ea"/>
              </a:rPr>
              <a:t>.</a:t>
            </a:r>
          </a:p>
          <a:p>
            <a:pPr marL="342900" indent="-342900">
              <a:lnSpc>
                <a:spcPct val="165000"/>
              </a:lnSpc>
              <a:buClr>
                <a:srgbClr val="EB666E"/>
              </a:buClr>
              <a:buFont typeface="+mj-ea"/>
              <a:buAutoNum type="circleNumDbPlain"/>
            </a:pPr>
            <a:r>
              <a:rPr lang="ko-KR" altLang="en-US" dirty="0">
                <a:latin typeface="+mn-ea"/>
              </a:rPr>
              <a:t>찾는 값이 중간 위치 값보다 크다면 중간 위치의 오른쪽을 대상으로 이분 탐색 함수를 재귀 호출합니다</a:t>
            </a:r>
            <a:r>
              <a:rPr lang="en-US" altLang="ko-KR" dirty="0">
                <a:latin typeface="+mn-ea"/>
              </a:rPr>
              <a:t>.</a:t>
            </a:r>
          </a:p>
          <a:p>
            <a:pPr marL="342900" indent="-342900">
              <a:lnSpc>
                <a:spcPct val="165000"/>
              </a:lnSpc>
              <a:buClr>
                <a:srgbClr val="EB666E"/>
              </a:buClr>
              <a:buFont typeface="+mj-ea"/>
              <a:buAutoNum type="circleNumDbPlain"/>
            </a:pPr>
            <a:r>
              <a:rPr lang="ko-KR" altLang="en-US" dirty="0">
                <a:latin typeface="+mn-ea"/>
              </a:rPr>
              <a:t>찾는 값이 중간 위치 값보다 작다면 중간 위치의 왼쪽을 대상으로 이분 탐색 함수를 재귀 호출합니다</a:t>
            </a:r>
            <a:r>
              <a:rPr lang="en-US" altLang="ko-KR" dirty="0">
                <a:latin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14717593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12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이분 탐색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연습 문제 풀이</a:t>
            </a:r>
          </a:p>
        </p:txBody>
      </p:sp>
      <p:sp>
        <p:nvSpPr>
          <p:cNvPr id="8" name="모서리가 둥근 직사각형 7"/>
          <p:cNvSpPr/>
          <p:nvPr/>
        </p:nvSpPr>
        <p:spPr>
          <a:xfrm>
            <a:off x="3227832" y="673656"/>
            <a:ext cx="740664" cy="380917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</a:rPr>
              <a:t>부록 </a:t>
            </a:r>
            <a:r>
              <a:rPr lang="en-US" altLang="ko-KR" sz="1400" b="1" dirty="0">
                <a:solidFill>
                  <a:schemeClr val="bg1"/>
                </a:solidFill>
              </a:rPr>
              <a:t>A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7056" y="1821131"/>
            <a:ext cx="8020383" cy="549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en-US" altLang="ko-KR" dirty="0">
                <a:solidFill>
                  <a:srgbClr val="EB666E"/>
                </a:solidFill>
              </a:rPr>
              <a:t>12-1</a:t>
            </a:r>
            <a:r>
              <a:rPr lang="en-US" altLang="ko-KR" dirty="0"/>
              <a:t> </a:t>
            </a:r>
            <a:r>
              <a:rPr lang="ko-KR" altLang="en-US" dirty="0"/>
              <a:t>재귀 호출을 이용한 이분 탐색</a:t>
            </a:r>
            <a:endParaRPr lang="en-US" altLang="ko-KR" dirty="0">
              <a:latin typeface="+mn-ea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045269" y="2917456"/>
            <a:ext cx="7088957" cy="2653786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리스트에서 특정 숫자 위치 찾기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(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이분 탐색과 재귀 호출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입력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: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리스트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a,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찾는 값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x 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출력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: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특정 숫자를 찾으면 그 값의 위치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,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찾지 못하면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-1</a:t>
            </a:r>
          </a:p>
          <a:p>
            <a:pPr>
              <a:lnSpc>
                <a:spcPct val="120000"/>
              </a:lnSpc>
            </a:pPr>
            <a:endParaRPr lang="en-US" altLang="ko-KR" sz="1400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리스트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a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의 어디부터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(start)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어디까지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(end)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가 탐색 범위인지 지정하여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그 범위 안에서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x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를 찾는 재귀 함수</a:t>
            </a:r>
          </a:p>
          <a:p>
            <a:pPr>
              <a:lnSpc>
                <a:spcPct val="120000"/>
              </a:lnSpc>
            </a:pPr>
            <a:r>
              <a:rPr lang="en-US" altLang="ko-KR" sz="1400" dirty="0" err="1">
                <a:solidFill>
                  <a:srgbClr val="FF822D"/>
                </a:solidFill>
                <a:latin typeface="+mn-ea"/>
              </a:rPr>
              <a:t>def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 err="1">
                <a:solidFill>
                  <a:srgbClr val="0070C0"/>
                </a:solidFill>
                <a:latin typeface="+mn-ea"/>
              </a:rPr>
              <a:t>binary_search_sub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(a, x, start, end):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    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종료 조건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: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남은 탐색 범위가 비었으면 종료</a:t>
            </a:r>
          </a:p>
          <a:p>
            <a:pPr>
              <a:lnSpc>
                <a:spcPct val="120000"/>
              </a:lnSpc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if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start &gt; end: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   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return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-1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1001" y="2609681"/>
            <a:ext cx="31265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EB666E"/>
                </a:solidFill>
                <a:latin typeface="+mn-ea"/>
              </a:rPr>
              <a:t>▼</a:t>
            </a:r>
            <a:r>
              <a:rPr lang="ko-KR" altLang="en-US" sz="1400" dirty="0">
                <a:latin typeface="+mn-ea"/>
              </a:rPr>
              <a:t> </a:t>
            </a:r>
            <a:r>
              <a:rPr lang="ko-KR" altLang="en-US" sz="1400" dirty="0">
                <a:solidFill>
                  <a:srgbClr val="EB666E"/>
                </a:solidFill>
                <a:latin typeface="+mn-ea"/>
              </a:rPr>
              <a:t>예제 소스 </a:t>
            </a:r>
            <a:r>
              <a:rPr lang="en-US" altLang="ko-KR" sz="1400" dirty="0">
                <a:latin typeface="+mn-ea"/>
              </a:rPr>
              <a:t>e12-1-bsearch.py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아래쪽 화살표 14"/>
          <p:cNvSpPr/>
          <p:nvPr/>
        </p:nvSpPr>
        <p:spPr>
          <a:xfrm>
            <a:off x="4502546" y="5715256"/>
            <a:ext cx="174402" cy="197963"/>
          </a:xfrm>
          <a:prstGeom prst="downArrow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6382358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12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이분 탐색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연습 문제 풀이</a:t>
            </a:r>
          </a:p>
        </p:txBody>
      </p:sp>
      <p:sp>
        <p:nvSpPr>
          <p:cNvPr id="8" name="모서리가 둥근 직사각형 7"/>
          <p:cNvSpPr/>
          <p:nvPr/>
        </p:nvSpPr>
        <p:spPr>
          <a:xfrm>
            <a:off x="3227832" y="673656"/>
            <a:ext cx="740664" cy="380917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</a:rPr>
              <a:t>부록 </a:t>
            </a:r>
            <a:r>
              <a:rPr lang="en-US" altLang="ko-KR" sz="1400" b="1" dirty="0">
                <a:solidFill>
                  <a:schemeClr val="bg1"/>
                </a:solidFill>
              </a:rPr>
              <a:t>A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960022" y="2232442"/>
            <a:ext cx="7354419" cy="3461348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mid = (start + end) // 2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탐색 범위의 중간 위치</a:t>
            </a:r>
          </a:p>
          <a:p>
            <a:pPr>
              <a:lnSpc>
                <a:spcPct val="120000"/>
              </a:lnSpc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if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x == a[mid]: 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발견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!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   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return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mid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en-US" altLang="ko-KR" sz="1400" dirty="0" err="1">
                <a:solidFill>
                  <a:srgbClr val="FF822D"/>
                </a:solidFill>
                <a:latin typeface="+mn-ea"/>
              </a:rPr>
              <a:t>elif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x &gt; a[mid]: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찾는 값이 더 크면 중간을 기준으로 오른쪽 값을 대상으로 재귀 호출</a:t>
            </a:r>
          </a:p>
          <a:p>
            <a:pPr>
              <a:lnSpc>
                <a:spcPct val="120000"/>
              </a:lnSpc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      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return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binary_search_sub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(a, x, mid + 1, end)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else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:           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찾는 값이 더 작으면 중간을 기준으로 왼쪽 값을 대상으로 재귀 호출</a:t>
            </a:r>
          </a:p>
          <a:p>
            <a:pPr>
              <a:lnSpc>
                <a:spcPct val="120000"/>
              </a:lnSpc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      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return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binary_search_sub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(a, x, start, mid - 1)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return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-1       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찾지 못했을 때</a:t>
            </a:r>
          </a:p>
          <a:p>
            <a:pPr>
              <a:lnSpc>
                <a:spcPct val="120000"/>
              </a:lnSpc>
            </a:pPr>
            <a:endParaRPr lang="ko-KR" altLang="en-US" sz="1400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리스트 전체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(0 ~ </a:t>
            </a:r>
            <a:r>
              <a:rPr lang="en-US" altLang="ko-KR" sz="1400" dirty="0" err="1">
                <a:solidFill>
                  <a:schemeClr val="accent2">
                    <a:lumMod val="50000"/>
                  </a:schemeClr>
                </a:solidFill>
                <a:latin typeface="+mn-ea"/>
              </a:rPr>
              <a:t>len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(a)-1)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를 대상으로 재귀 호출 함수 호출</a:t>
            </a:r>
          </a:p>
          <a:p>
            <a:pPr>
              <a:lnSpc>
                <a:spcPct val="120000"/>
              </a:lnSpc>
            </a:pPr>
            <a:r>
              <a:rPr lang="en-US" altLang="ko-KR" sz="1400" dirty="0" err="1">
                <a:solidFill>
                  <a:srgbClr val="FF822D"/>
                </a:solidFill>
                <a:latin typeface="+mn-ea"/>
              </a:rPr>
              <a:t>def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 err="1">
                <a:solidFill>
                  <a:srgbClr val="0070C0"/>
                </a:solidFill>
                <a:latin typeface="+mn-ea"/>
              </a:rPr>
              <a:t>binary_search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(a, x):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return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binary_search_sub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(a, x, 0,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len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(a) - 1)</a:t>
            </a:r>
          </a:p>
        </p:txBody>
      </p:sp>
      <p:sp>
        <p:nvSpPr>
          <p:cNvPr id="17" name="아래쪽 화살표 16"/>
          <p:cNvSpPr/>
          <p:nvPr/>
        </p:nvSpPr>
        <p:spPr>
          <a:xfrm rot="10800000">
            <a:off x="4417299" y="1844955"/>
            <a:ext cx="174402" cy="197963"/>
          </a:xfrm>
          <a:prstGeom prst="downArrow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8" name="아래쪽 화살표 17"/>
          <p:cNvSpPr/>
          <p:nvPr/>
        </p:nvSpPr>
        <p:spPr>
          <a:xfrm>
            <a:off x="4417299" y="5883314"/>
            <a:ext cx="174402" cy="197963"/>
          </a:xfrm>
          <a:prstGeom prst="downArrow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952124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12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이분 탐색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연습 문제 풀이</a:t>
            </a:r>
          </a:p>
        </p:txBody>
      </p:sp>
      <p:sp>
        <p:nvSpPr>
          <p:cNvPr id="8" name="모서리가 둥근 직사각형 7"/>
          <p:cNvSpPr/>
          <p:nvPr/>
        </p:nvSpPr>
        <p:spPr>
          <a:xfrm>
            <a:off x="3227832" y="673656"/>
            <a:ext cx="740664" cy="380917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</a:rPr>
              <a:t>부록 </a:t>
            </a:r>
            <a:r>
              <a:rPr lang="en-US" altLang="ko-KR" sz="1400" b="1" dirty="0">
                <a:solidFill>
                  <a:schemeClr val="bg1"/>
                </a:solidFill>
              </a:rPr>
              <a:t>A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960022" y="2326709"/>
            <a:ext cx="7088957" cy="868978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d = [1, 4, 9, 16, 25, 36, 49, 64, 81]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rgbClr val="0070C0"/>
                </a:solidFill>
                <a:latin typeface="+mn-ea"/>
              </a:rPr>
              <a:t>print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binary_search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(d, 36))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rgbClr val="0070C0"/>
                </a:solidFill>
                <a:latin typeface="+mn-ea"/>
              </a:rPr>
              <a:t>print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binary_search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(d, 50))</a:t>
            </a:r>
          </a:p>
        </p:txBody>
      </p:sp>
      <p:sp>
        <p:nvSpPr>
          <p:cNvPr id="10" name="아래쪽 화살표 9"/>
          <p:cNvSpPr/>
          <p:nvPr/>
        </p:nvSpPr>
        <p:spPr>
          <a:xfrm rot="10800000">
            <a:off x="4417299" y="1939223"/>
            <a:ext cx="174402" cy="197963"/>
          </a:xfrm>
          <a:prstGeom prst="downArrow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647056" y="3624167"/>
            <a:ext cx="8176904" cy="485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solidFill>
                  <a:srgbClr val="EB666E"/>
                </a:solidFill>
                <a:latin typeface="+mn-ea"/>
              </a:rPr>
              <a:t>실행 결과</a:t>
            </a:r>
            <a:endParaRPr lang="en-US" altLang="ko-KR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960022" y="4378902"/>
            <a:ext cx="7088957" cy="629248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</a:rPr>
              <a:t>5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</a:rPr>
              <a:t>-1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5758181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12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이분 탐색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계산 복잡도 비교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056" y="1821131"/>
            <a:ext cx="8020383" cy="405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65000"/>
              </a:lnSpc>
              <a:buClr>
                <a:srgbClr val="EB666E"/>
              </a:buClr>
            </a:pPr>
            <a:r>
              <a:rPr lang="ko-KR" altLang="en-US" dirty="0">
                <a:solidFill>
                  <a:srgbClr val="EB666E"/>
                </a:solidFill>
                <a:latin typeface="+mn-ea"/>
              </a:rPr>
              <a:t>계산 복잡도 비교</a:t>
            </a:r>
            <a:endParaRPr lang="en-US" altLang="ko-KR" dirty="0">
              <a:solidFill>
                <a:srgbClr val="EB666E"/>
              </a:solidFill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대문자 </a:t>
            </a:r>
            <a:r>
              <a:rPr lang="en-US" altLang="ko-KR" dirty="0">
                <a:latin typeface="+mn-ea"/>
              </a:rPr>
              <a:t>O </a:t>
            </a:r>
            <a:r>
              <a:rPr lang="ko-KR" altLang="en-US" dirty="0">
                <a:latin typeface="+mn-ea"/>
              </a:rPr>
              <a:t>표기법을 계산이 간단한 것에서 복잡한 것 순으로 정리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endParaRPr lang="en-US" altLang="ko-KR" sz="1200" dirty="0">
              <a:latin typeface="+mn-ea"/>
            </a:endParaRPr>
          </a:p>
          <a:p>
            <a:pPr marL="342900" indent="-342900">
              <a:lnSpc>
                <a:spcPct val="165000"/>
              </a:lnSpc>
              <a:buClr>
                <a:srgbClr val="EB666E"/>
              </a:buClr>
              <a:buFont typeface="+mj-ea"/>
              <a:buAutoNum type="circleNumDbPlain"/>
            </a:pPr>
            <a:r>
              <a:rPr lang="en-US" altLang="ko-KR" dirty="0">
                <a:latin typeface="+mn-ea"/>
              </a:rPr>
              <a:t>O(1): </a:t>
            </a:r>
            <a:r>
              <a:rPr lang="ko-KR" altLang="en-US" dirty="0">
                <a:latin typeface="+mn-ea"/>
              </a:rPr>
              <a:t>입력 크기 </a:t>
            </a:r>
            <a:r>
              <a:rPr lang="en-US" altLang="ko-KR" dirty="0">
                <a:latin typeface="+mn-ea"/>
              </a:rPr>
              <a:t>n</a:t>
            </a:r>
            <a:r>
              <a:rPr lang="ko-KR" altLang="en-US" dirty="0">
                <a:latin typeface="+mn-ea"/>
              </a:rPr>
              <a:t>과 계산 복잡도가 무관할 때</a:t>
            </a:r>
            <a:br>
              <a:rPr lang="en-US" altLang="ko-KR" dirty="0">
                <a:latin typeface="+mn-ea"/>
              </a:rPr>
            </a:br>
            <a:r>
              <a:rPr lang="ko-KR" altLang="en-US" dirty="0">
                <a:latin typeface="+mn-ea"/>
              </a:rPr>
              <a:t>예</a:t>
            </a:r>
            <a:r>
              <a:rPr lang="en-US" altLang="ko-KR" dirty="0">
                <a:latin typeface="+mn-ea"/>
              </a:rPr>
              <a:t>) </a:t>
            </a:r>
            <a:r>
              <a:rPr lang="ko-KR" altLang="en-US" dirty="0">
                <a:latin typeface="+mn-ea"/>
              </a:rPr>
              <a:t>계산 공식 </a:t>
            </a:r>
            <a:r>
              <a:rPr lang="en-US" altLang="ko-KR" dirty="0">
                <a:latin typeface="+mn-ea"/>
              </a:rPr>
              <a:t>n(n+1)/2</a:t>
            </a:r>
            <a:r>
              <a:rPr lang="ko-KR" altLang="en-US" dirty="0">
                <a:latin typeface="+mn-ea"/>
              </a:rPr>
              <a:t>를 이용한 </a:t>
            </a:r>
            <a:r>
              <a:rPr lang="en-US" altLang="ko-KR" dirty="0">
                <a:latin typeface="+mn-ea"/>
              </a:rPr>
              <a:t>1</a:t>
            </a:r>
            <a:r>
              <a:rPr lang="ko-KR" altLang="en-US" dirty="0">
                <a:latin typeface="+mn-ea"/>
              </a:rPr>
              <a:t>부터 </a:t>
            </a:r>
            <a:r>
              <a:rPr lang="en-US" altLang="ko-KR" dirty="0">
                <a:latin typeface="+mn-ea"/>
              </a:rPr>
              <a:t>n</a:t>
            </a:r>
            <a:r>
              <a:rPr lang="ko-KR" altLang="en-US" dirty="0">
                <a:latin typeface="+mn-ea"/>
              </a:rPr>
              <a:t>까지의 합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문제 </a:t>
            </a:r>
            <a:r>
              <a:rPr lang="en-US" altLang="ko-KR" dirty="0">
                <a:latin typeface="+mn-ea"/>
              </a:rPr>
              <a:t>1)</a:t>
            </a:r>
          </a:p>
          <a:p>
            <a:pPr marL="342900" indent="-342900">
              <a:lnSpc>
                <a:spcPct val="165000"/>
              </a:lnSpc>
              <a:buClr>
                <a:srgbClr val="EB666E"/>
              </a:buClr>
              <a:buFont typeface="+mj-ea"/>
              <a:buAutoNum type="circleNumDbPlain"/>
            </a:pPr>
            <a:r>
              <a:rPr lang="en-US" altLang="ko-KR" dirty="0">
                <a:latin typeface="+mn-ea"/>
              </a:rPr>
              <a:t>O(log n): </a:t>
            </a:r>
            <a:r>
              <a:rPr lang="ko-KR" altLang="en-US" dirty="0">
                <a:latin typeface="+mn-ea"/>
              </a:rPr>
              <a:t>입력 크기 </a:t>
            </a:r>
            <a:r>
              <a:rPr lang="en-US" altLang="ko-KR" dirty="0">
                <a:latin typeface="+mn-ea"/>
              </a:rPr>
              <a:t>n</a:t>
            </a:r>
            <a:r>
              <a:rPr lang="ko-KR" altLang="en-US" dirty="0">
                <a:latin typeface="+mn-ea"/>
              </a:rPr>
              <a:t>의 로그 값에 비례하여 계산 복잡도가 증가할 때</a:t>
            </a:r>
            <a:br>
              <a:rPr lang="en-US" altLang="ko-KR" dirty="0">
                <a:latin typeface="+mn-ea"/>
              </a:rPr>
            </a:br>
            <a:r>
              <a:rPr lang="ko-KR" altLang="en-US" dirty="0">
                <a:latin typeface="+mn-ea"/>
              </a:rPr>
              <a:t>예</a:t>
            </a:r>
            <a:r>
              <a:rPr lang="en-US" altLang="ko-KR" dirty="0">
                <a:latin typeface="+mn-ea"/>
              </a:rPr>
              <a:t>) </a:t>
            </a:r>
            <a:r>
              <a:rPr lang="ko-KR" altLang="en-US" dirty="0">
                <a:latin typeface="+mn-ea"/>
              </a:rPr>
              <a:t>이분 탐색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문제 </a:t>
            </a:r>
            <a:r>
              <a:rPr lang="en-US" altLang="ko-KR" dirty="0">
                <a:latin typeface="+mn-ea"/>
              </a:rPr>
              <a:t>12)</a:t>
            </a:r>
          </a:p>
          <a:p>
            <a:pPr marL="342900" indent="-342900">
              <a:lnSpc>
                <a:spcPct val="165000"/>
              </a:lnSpc>
              <a:buClr>
                <a:srgbClr val="EB666E"/>
              </a:buClr>
              <a:buFont typeface="+mj-ea"/>
              <a:buAutoNum type="circleNumDbPlain"/>
            </a:pPr>
            <a:r>
              <a:rPr lang="en-US" altLang="ko-KR" dirty="0">
                <a:latin typeface="+mn-ea"/>
              </a:rPr>
              <a:t>O(n): </a:t>
            </a:r>
            <a:r>
              <a:rPr lang="ko-KR" altLang="en-US" dirty="0">
                <a:latin typeface="+mn-ea"/>
              </a:rPr>
              <a:t>입력 크기 </a:t>
            </a:r>
            <a:r>
              <a:rPr lang="en-US" altLang="ko-KR" dirty="0">
                <a:latin typeface="+mn-ea"/>
              </a:rPr>
              <a:t>n</a:t>
            </a:r>
            <a:r>
              <a:rPr lang="ko-KR" altLang="en-US" dirty="0">
                <a:latin typeface="+mn-ea"/>
              </a:rPr>
              <a:t>에 비례하여 계산 복잡도가 증가할 때</a:t>
            </a:r>
            <a:br>
              <a:rPr lang="en-US" altLang="ko-KR" dirty="0">
                <a:latin typeface="+mn-ea"/>
              </a:rPr>
            </a:br>
            <a:r>
              <a:rPr lang="ko-KR" altLang="en-US" dirty="0">
                <a:latin typeface="+mn-ea"/>
              </a:rPr>
              <a:t>예</a:t>
            </a:r>
            <a:r>
              <a:rPr lang="en-US" altLang="ko-KR" dirty="0">
                <a:latin typeface="+mn-ea"/>
              </a:rPr>
              <a:t>) </a:t>
            </a:r>
            <a:r>
              <a:rPr lang="ko-KR" altLang="en-US" dirty="0">
                <a:latin typeface="+mn-ea"/>
              </a:rPr>
              <a:t>최댓값 찾기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문제 </a:t>
            </a:r>
            <a:r>
              <a:rPr lang="en-US" altLang="ko-KR" dirty="0">
                <a:latin typeface="+mn-ea"/>
              </a:rPr>
              <a:t>2), </a:t>
            </a:r>
            <a:r>
              <a:rPr lang="ko-KR" altLang="en-US" dirty="0">
                <a:latin typeface="+mn-ea"/>
              </a:rPr>
              <a:t>순차 탐색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문제 </a:t>
            </a:r>
            <a:r>
              <a:rPr lang="en-US" altLang="ko-KR" dirty="0">
                <a:latin typeface="+mn-ea"/>
              </a:rPr>
              <a:t>7)</a:t>
            </a:r>
          </a:p>
        </p:txBody>
      </p:sp>
    </p:spTree>
    <p:extLst>
      <p:ext uri="{BB962C8B-B14F-4D97-AF65-F5344CB8AC3E}">
        <p14:creationId xmlns:p14="http://schemas.microsoft.com/office/powerpoint/2010/main" val="95468418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12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이분 탐색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계산 복잡도 비교</a:t>
            </a:r>
            <a:endParaRPr lang="en-US" altLang="ko-KR" sz="2800" b="1" dirty="0">
              <a:latin typeface="+mn-e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7056" y="1821131"/>
            <a:ext cx="8020383" cy="374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65000"/>
              </a:lnSpc>
              <a:buClr>
                <a:srgbClr val="EB666E"/>
              </a:buClr>
              <a:buFont typeface="+mj-ea"/>
              <a:buAutoNum type="circleNumDbPlain" startAt="4"/>
            </a:pPr>
            <a:r>
              <a:rPr lang="en-US" altLang="ko-KR" dirty="0">
                <a:latin typeface="+mn-ea"/>
              </a:rPr>
              <a:t>O(</a:t>
            </a:r>
            <a:r>
              <a:rPr lang="en-US" altLang="ko-KR" dirty="0" err="1">
                <a:latin typeface="+mn-ea"/>
              </a:rPr>
              <a:t>n·logn</a:t>
            </a:r>
            <a:r>
              <a:rPr lang="en-US" altLang="ko-KR" dirty="0">
                <a:latin typeface="+mn-ea"/>
              </a:rPr>
              <a:t>): </a:t>
            </a:r>
            <a:r>
              <a:rPr lang="ko-KR" altLang="en-US" dirty="0">
                <a:latin typeface="+mn-ea"/>
              </a:rPr>
              <a:t>입력 크기 </a:t>
            </a:r>
            <a:r>
              <a:rPr lang="en-US" altLang="ko-KR" dirty="0">
                <a:latin typeface="+mn-ea"/>
              </a:rPr>
              <a:t>n</a:t>
            </a:r>
            <a:r>
              <a:rPr lang="ko-KR" altLang="en-US" dirty="0">
                <a:latin typeface="+mn-ea"/>
              </a:rPr>
              <a:t>과 로그 </a:t>
            </a:r>
            <a:r>
              <a:rPr lang="en-US" altLang="ko-KR" dirty="0">
                <a:latin typeface="+mn-ea"/>
              </a:rPr>
              <a:t>n </a:t>
            </a:r>
            <a:r>
              <a:rPr lang="ko-KR" altLang="en-US" dirty="0">
                <a:latin typeface="+mn-ea"/>
              </a:rPr>
              <a:t>값의 곱에 비례하여 계산 복잡도가 </a:t>
            </a:r>
            <a:br>
              <a:rPr lang="en-US" altLang="ko-KR" dirty="0">
                <a:latin typeface="+mn-ea"/>
              </a:rPr>
            </a:br>
            <a:r>
              <a:rPr lang="ko-KR" altLang="en-US" dirty="0">
                <a:latin typeface="+mn-ea"/>
              </a:rPr>
              <a:t>증가할 때</a:t>
            </a:r>
            <a:br>
              <a:rPr lang="en-US" altLang="ko-KR" dirty="0">
                <a:latin typeface="+mn-ea"/>
              </a:rPr>
            </a:br>
            <a:r>
              <a:rPr lang="ko-KR" altLang="en-US" dirty="0">
                <a:latin typeface="+mn-ea"/>
              </a:rPr>
              <a:t>예</a:t>
            </a:r>
            <a:r>
              <a:rPr lang="en-US" altLang="ko-KR" dirty="0">
                <a:latin typeface="+mn-ea"/>
              </a:rPr>
              <a:t>) </a:t>
            </a:r>
            <a:r>
              <a:rPr lang="ko-KR" altLang="en-US" dirty="0">
                <a:latin typeface="+mn-ea"/>
              </a:rPr>
              <a:t>병합 정렬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문제 </a:t>
            </a:r>
            <a:r>
              <a:rPr lang="en-US" altLang="ko-KR" dirty="0">
                <a:latin typeface="+mn-ea"/>
              </a:rPr>
              <a:t>10), </a:t>
            </a:r>
            <a:r>
              <a:rPr lang="ko-KR" altLang="en-US" dirty="0" err="1">
                <a:latin typeface="+mn-ea"/>
              </a:rPr>
              <a:t>퀵</a:t>
            </a:r>
            <a:r>
              <a:rPr lang="ko-KR" altLang="en-US" dirty="0">
                <a:latin typeface="+mn-ea"/>
              </a:rPr>
              <a:t> 정렬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문제 </a:t>
            </a:r>
            <a:r>
              <a:rPr lang="en-US" altLang="ko-KR" dirty="0">
                <a:latin typeface="+mn-ea"/>
              </a:rPr>
              <a:t>11)</a:t>
            </a:r>
          </a:p>
          <a:p>
            <a:pPr marL="342900" indent="-342900">
              <a:lnSpc>
                <a:spcPct val="165000"/>
              </a:lnSpc>
              <a:buClr>
                <a:srgbClr val="EB666E"/>
              </a:buClr>
              <a:buFont typeface="+mj-ea"/>
              <a:buAutoNum type="circleNumDbPlain" startAt="4"/>
            </a:pPr>
            <a:r>
              <a:rPr lang="en-US" altLang="ko-KR" dirty="0">
                <a:latin typeface="+mn-ea"/>
              </a:rPr>
              <a:t>O(n</a:t>
            </a:r>
            <a:r>
              <a:rPr lang="en-US" altLang="ko-KR" baseline="30000" dirty="0">
                <a:latin typeface="+mn-ea"/>
              </a:rPr>
              <a:t>2</a:t>
            </a:r>
            <a:r>
              <a:rPr lang="en-US" altLang="ko-KR" dirty="0">
                <a:latin typeface="+mn-ea"/>
              </a:rPr>
              <a:t>): </a:t>
            </a:r>
            <a:r>
              <a:rPr lang="ko-KR" altLang="en-US" dirty="0">
                <a:latin typeface="+mn-ea"/>
              </a:rPr>
              <a:t>입력 크기 </a:t>
            </a:r>
            <a:r>
              <a:rPr lang="en-US" altLang="ko-KR" dirty="0">
                <a:latin typeface="+mn-ea"/>
              </a:rPr>
              <a:t>n</a:t>
            </a:r>
            <a:r>
              <a:rPr lang="ko-KR" altLang="en-US" dirty="0">
                <a:latin typeface="+mn-ea"/>
              </a:rPr>
              <a:t>의 제곱에 비례하여 계산 복잡도가 증가할 때</a:t>
            </a:r>
            <a:br>
              <a:rPr lang="en-US" altLang="ko-KR" dirty="0">
                <a:latin typeface="+mn-ea"/>
              </a:rPr>
            </a:br>
            <a:r>
              <a:rPr lang="ko-KR" altLang="en-US" dirty="0">
                <a:latin typeface="+mn-ea"/>
              </a:rPr>
              <a:t>예</a:t>
            </a:r>
            <a:r>
              <a:rPr lang="en-US" altLang="ko-KR" dirty="0">
                <a:latin typeface="+mn-ea"/>
              </a:rPr>
              <a:t>) </a:t>
            </a:r>
            <a:r>
              <a:rPr lang="ko-KR" altLang="en-US" dirty="0">
                <a:latin typeface="+mn-ea"/>
              </a:rPr>
              <a:t>선택 정렬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문제 </a:t>
            </a:r>
            <a:r>
              <a:rPr lang="en-US" altLang="ko-KR" dirty="0">
                <a:latin typeface="+mn-ea"/>
              </a:rPr>
              <a:t>8), </a:t>
            </a:r>
            <a:r>
              <a:rPr lang="ko-KR" altLang="en-US" dirty="0">
                <a:latin typeface="+mn-ea"/>
              </a:rPr>
              <a:t>삽입 정렬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문제 </a:t>
            </a:r>
            <a:r>
              <a:rPr lang="en-US" altLang="ko-KR" dirty="0">
                <a:latin typeface="+mn-ea"/>
              </a:rPr>
              <a:t>9)</a:t>
            </a:r>
          </a:p>
          <a:p>
            <a:pPr marL="342900" indent="-342900">
              <a:lnSpc>
                <a:spcPct val="165000"/>
              </a:lnSpc>
              <a:buClr>
                <a:srgbClr val="EB666E"/>
              </a:buClr>
              <a:buFont typeface="+mj-ea"/>
              <a:buAutoNum type="circleNumDbPlain" startAt="4"/>
            </a:pPr>
            <a:r>
              <a:rPr lang="en-US" altLang="ko-KR" dirty="0">
                <a:latin typeface="+mn-ea"/>
              </a:rPr>
              <a:t>O(2</a:t>
            </a:r>
            <a:r>
              <a:rPr lang="en-US" altLang="ko-KR" baseline="30000" dirty="0">
                <a:latin typeface="+mn-ea"/>
              </a:rPr>
              <a:t>n</a:t>
            </a:r>
            <a:r>
              <a:rPr lang="en-US" altLang="ko-KR" dirty="0">
                <a:latin typeface="+mn-ea"/>
              </a:rPr>
              <a:t>): </a:t>
            </a:r>
            <a:r>
              <a:rPr lang="ko-KR" altLang="en-US" dirty="0">
                <a:latin typeface="+mn-ea"/>
              </a:rPr>
              <a:t>입력 크기가 </a:t>
            </a:r>
            <a:r>
              <a:rPr lang="en-US" altLang="ko-KR" dirty="0">
                <a:latin typeface="+mn-ea"/>
              </a:rPr>
              <a:t>n</a:t>
            </a:r>
            <a:r>
              <a:rPr lang="ko-KR" altLang="en-US" dirty="0">
                <a:latin typeface="+mn-ea"/>
              </a:rPr>
              <a:t>일 때 </a:t>
            </a:r>
            <a:r>
              <a:rPr lang="en-US" altLang="ko-KR" dirty="0">
                <a:latin typeface="+mn-ea"/>
              </a:rPr>
              <a:t>2</a:t>
            </a:r>
            <a:r>
              <a:rPr lang="ko-KR" altLang="en-US" dirty="0">
                <a:latin typeface="+mn-ea"/>
              </a:rPr>
              <a:t>의 </a:t>
            </a:r>
            <a:r>
              <a:rPr lang="en-US" altLang="ko-KR" dirty="0">
                <a:latin typeface="+mn-ea"/>
              </a:rPr>
              <a:t>n </a:t>
            </a:r>
            <a:r>
              <a:rPr lang="ko-KR" altLang="en-US" dirty="0">
                <a:latin typeface="+mn-ea"/>
              </a:rPr>
              <a:t>제곱 값에 비례하여 계산 복잡도가 </a:t>
            </a:r>
            <a:br>
              <a:rPr lang="en-US" altLang="ko-KR" dirty="0">
                <a:latin typeface="+mn-ea"/>
              </a:rPr>
            </a:br>
            <a:r>
              <a:rPr lang="ko-KR" altLang="en-US" dirty="0">
                <a:latin typeface="+mn-ea"/>
              </a:rPr>
              <a:t>증가할 때</a:t>
            </a:r>
            <a:br>
              <a:rPr lang="en-US" altLang="ko-KR" dirty="0">
                <a:latin typeface="+mn-ea"/>
              </a:rPr>
            </a:br>
            <a:r>
              <a:rPr lang="ko-KR" altLang="en-US" dirty="0">
                <a:latin typeface="+mn-ea"/>
              </a:rPr>
              <a:t>예</a:t>
            </a:r>
            <a:r>
              <a:rPr lang="en-US" altLang="ko-KR" dirty="0">
                <a:latin typeface="+mn-ea"/>
              </a:rPr>
              <a:t>) </a:t>
            </a:r>
            <a:r>
              <a:rPr lang="ko-KR" altLang="en-US" dirty="0">
                <a:latin typeface="+mn-ea"/>
              </a:rPr>
              <a:t>하노이의 탑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문제 </a:t>
            </a:r>
            <a:r>
              <a:rPr lang="en-US" altLang="ko-KR" dirty="0">
                <a:latin typeface="+mn-ea"/>
              </a:rPr>
              <a:t>6)</a:t>
            </a:r>
          </a:p>
        </p:txBody>
      </p:sp>
    </p:spTree>
    <p:extLst>
      <p:ext uri="{BB962C8B-B14F-4D97-AF65-F5344CB8AC3E}">
        <p14:creationId xmlns:p14="http://schemas.microsoft.com/office/powerpoint/2010/main" val="743016152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12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이분 탐색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계산 복잡도 비교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900" y="2102767"/>
            <a:ext cx="6934200" cy="308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5157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4639</TotalTime>
  <Words>10286</Words>
  <Application>Microsoft Office PowerPoint</Application>
  <PresentationFormat>화면 슬라이드 쇼(4:3)</PresentationFormat>
  <Paragraphs>1267</Paragraphs>
  <Slides>142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142</vt:i4>
      </vt:variant>
    </vt:vector>
  </HeadingPairs>
  <TitlesOfParts>
    <vt:vector size="148" baseType="lpstr">
      <vt:lpstr>맑은 고딕</vt:lpstr>
      <vt:lpstr>Arial</vt:lpstr>
      <vt:lpstr>Calibri</vt:lpstr>
      <vt:lpstr>Calibri Light</vt:lpstr>
      <vt:lpstr>Wingdings</vt:lpstr>
      <vt:lpstr>Office 테마</vt:lpstr>
      <vt:lpstr>모두의 알고리즘 with 파이썬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박은경</dc:creator>
  <cp:lastModifiedBy>김 상화</cp:lastModifiedBy>
  <cp:revision>930</cp:revision>
  <dcterms:created xsi:type="dcterms:W3CDTF">2017-06-26T15:41:10Z</dcterms:created>
  <dcterms:modified xsi:type="dcterms:W3CDTF">2025-03-09T06:57:57Z</dcterms:modified>
</cp:coreProperties>
</file>